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Override2.xml" ContentType="application/vnd.openxmlformats-officedocument.themeOverride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89" r:id="rId4"/>
    <p:sldId id="290" r:id="rId5"/>
    <p:sldId id="2806" r:id="rId6"/>
    <p:sldId id="2812" r:id="rId7"/>
    <p:sldId id="2815" r:id="rId8"/>
    <p:sldId id="2808" r:id="rId9"/>
    <p:sldId id="2816" r:id="rId10"/>
    <p:sldId id="2811" r:id="rId11"/>
    <p:sldId id="262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3F9"/>
    <a:srgbClr val="F9FAFD"/>
    <a:srgbClr val="EBEBEB"/>
    <a:srgbClr val="FFFFFF"/>
    <a:srgbClr val="79A7F5"/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11" autoAdjust="0"/>
    <p:restoredTop sz="94660"/>
  </p:normalViewPr>
  <p:slideViewPr>
    <p:cSldViewPr snapToGrid="0" showGuides="1">
      <p:cViewPr varScale="1">
        <p:scale>
          <a:sx n="130" d="100"/>
          <a:sy n="130" d="100"/>
        </p:scale>
        <p:origin x="2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251A0-5877-5C11-D1B6-C76E523D6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45AC57-81AE-7371-A29C-529A2756DB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EB0566-2C4A-40E5-734B-D7BFF0F2B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787ba294-3ebd-4a93-b8f5-a7d363bc69f9.source.default.zh-Hans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E29838-2A81-935E-5947-BF1B686333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872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04E0E6B-3207-61F0-505D-A8C5E1990D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7231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013915"/>
            <a:ext cx="10858500" cy="157286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/>
            </a:lvl1pPr>
          </a:lstStyle>
          <a:p>
            <a:pPr lvl="0" defTabSz="914354"/>
            <a:r>
              <a:rPr lang="en-US" altLang="zh-CN" dirty="0"/>
              <a:t>Click to edit </a:t>
            </a:r>
            <a:br>
              <a:rPr lang="en-US" altLang="zh-CN" dirty="0"/>
            </a:br>
            <a:r>
              <a:rPr lang="en-US" altLang="zh-CN" dirty="0"/>
              <a:t>Master title style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DDB65F-C302-4F35-9CCB-12FB82E259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400" y="4324998"/>
            <a:ext cx="10858500" cy="53585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0"/>
              </a:spcBef>
              <a:buNone/>
              <a:defRPr lang="zh-CN" altLang="en-US" sz="1600"/>
            </a:lvl1pPr>
          </a:lstStyle>
          <a:p>
            <a:pPr marL="228600" lvl="0" indent="-228600" defTabSz="914354"/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44C4A721-803B-47CB-B99E-1D01E8E016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9648" y="5837829"/>
            <a:ext cx="5129251" cy="296271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buNone/>
              <a:defRPr lang="en-US" altLang="zh-CN" sz="1200" b="0" smtClean="0"/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Speaker name and title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CA939A61-406D-45DC-B757-059EFAA058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37829"/>
            <a:ext cx="5129251" cy="296271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altLang="zh-CN" sz="1200" b="0" smtClean="0"/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www.islide.cc</a:t>
            </a:r>
            <a:endParaRPr lang="en-US" altLang="en-US" dirty="0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4EF3F9F2-2DBE-4016-9D2B-F5CF4BE8EB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400" y="723900"/>
            <a:ext cx="1039091" cy="296271"/>
          </a:xfrm>
        </p:spPr>
        <p:txBody>
          <a:bodyPr vert="horz" wrap="none" lIns="91440" tIns="45720" rIns="91440" bIns="45720" rtlCol="0" anchor="ctr">
            <a:normAutofit/>
          </a:bodyPr>
          <a:lstStyle>
            <a:lvl1pPr marL="0" indent="0">
              <a:buNone/>
              <a:defRPr lang="en-US" altLang="zh-CN" sz="1200" b="0" smtClean="0"/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LGOO HERE</a:t>
            </a:r>
          </a:p>
        </p:txBody>
      </p:sp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DC6DA8-D137-41D2-A934-63CB8FFB8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FE6FF3-E480-4C96-9DE0-054940E7C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5DFAA1-D4C3-4306-A3AE-0641E3581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3E0EBE-EC20-4150-A2C6-9837F3449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>
            <a:extLst>
              <a:ext uri="{FF2B5EF4-FFF2-40B4-BE49-F238E27FC236}">
                <a16:creationId xmlns:a16="http://schemas.microsoft.com/office/drawing/2014/main" id="{FDF03A82-401C-4A0E-BE21-BE588E8741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1500188"/>
            <a:ext cx="2836562" cy="594626"/>
          </a:xfrm>
        </p:spPr>
        <p:txBody>
          <a:bodyPr>
            <a:normAutofit/>
          </a:bodyPr>
          <a:lstStyle>
            <a:lvl1pPr marL="0" indent="0" algn="r">
              <a:buFont typeface="+mj-lt"/>
              <a:buNone/>
              <a:defRPr sz="2400" b="1"/>
            </a:lvl1pPr>
            <a:lvl2pPr marL="457200" indent="0">
              <a:buFont typeface="+mj-ea"/>
              <a:buNone/>
              <a:defRPr/>
            </a:lvl2pPr>
            <a:lvl3pPr marL="1257300" indent="-342900">
              <a:buFont typeface="+mj-lt"/>
              <a:buAutoNum type="alphaLcParenR"/>
              <a:defRPr/>
            </a:lvl3pPr>
          </a:lstStyle>
          <a:p>
            <a:pPr lvl="0"/>
            <a:r>
              <a:rPr lang="en-US" altLang="zh-CN" dirty="0"/>
              <a:t>CONTENTS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BEF0FD1-3ACE-43A8-AF57-CC0D436DC7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47836" y="1500187"/>
            <a:ext cx="7871045" cy="4633913"/>
          </a:xfrm>
        </p:spPr>
        <p:txBody>
          <a:bodyPr/>
          <a:lstStyle>
            <a:lvl1pPr marL="342900" indent="-342900">
              <a:buFont typeface="+mj-lt"/>
              <a:buAutoNum type="arabicPeriod"/>
              <a:defRPr/>
            </a:lvl1pPr>
            <a:lvl2pPr marL="800100" indent="-342900">
              <a:buFont typeface="+mj-ea"/>
              <a:buAutoNum type="circleNumDbPlain"/>
              <a:defRPr/>
            </a:lvl2pPr>
            <a:lvl3pPr marL="1257300" indent="-342900">
              <a:buFont typeface="+mj-lt"/>
              <a:buAutoNum type="alphaLcParenR"/>
              <a:defRPr/>
            </a:lvl3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EA95BB-0FD6-4D94-81DB-8D38069818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C2568E-3CA5-4FDE-A375-CB503A7EDE3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EAC383-637D-4997-B597-28ADC11AA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0" name="î$ļíďé">
            <a:extLst>
              <a:ext uri="{FF2B5EF4-FFF2-40B4-BE49-F238E27FC236}">
                <a16:creationId xmlns:a16="http://schemas.microsoft.com/office/drawing/2014/main" id="{5866F782-5852-4C4E-B3FE-2AD687E8AC1B}"/>
              </a:ext>
            </a:extLst>
          </p:cNvPr>
          <p:cNvCxnSpPr>
            <a:cxnSpLocks/>
          </p:cNvCxnSpPr>
          <p:nvPr userDrawn="1"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îŝ1ïḓe">
            <a:extLst>
              <a:ext uri="{FF2B5EF4-FFF2-40B4-BE49-F238E27FC236}">
                <a16:creationId xmlns:a16="http://schemas.microsoft.com/office/drawing/2014/main" id="{3CCCD118-A808-47B5-869B-310AF975DC9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29775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D72DB93-F0D5-CBD3-5D17-98D9883158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1"/>
            <a:ext cx="12192000" cy="687231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00C7662-4F6D-4B06-BB36-235FC06BF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4068" y="2992592"/>
            <a:ext cx="5731164" cy="951057"/>
          </a:xfr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zh-CN" altLang="en-US" sz="3800"/>
            </a:lvl1pPr>
          </a:lstStyle>
          <a:p>
            <a:pPr lvl="0" defTabSz="914354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F9930E-40DF-417D-8161-BD38EB172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4068" y="3986372"/>
            <a:ext cx="5731164" cy="735157"/>
          </a:xfrm>
        </p:spPr>
        <p:txBody>
          <a:bodyPr>
            <a:normAutofit/>
          </a:bodyPr>
          <a:lstStyle>
            <a:lvl1pPr marL="0" indent="0" algn="ctr">
              <a:buNone/>
              <a:defRPr lang="en-US" altLang="zh-CN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Click to edit Master text styles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279D9A-DC49-4C12-80D3-3D89C2783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EF8C95-8814-4768-850F-851B6434A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94C1D7-7C5A-49B3-9D05-119C615E1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形状&#10;&#10;低可信度描述已自动生成">
            <a:extLst>
              <a:ext uri="{FF2B5EF4-FFF2-40B4-BE49-F238E27FC236}">
                <a16:creationId xmlns:a16="http://schemas.microsoft.com/office/drawing/2014/main" id="{9DB821EF-3889-ABD1-5402-1A38AE0433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" y="202166"/>
            <a:ext cx="12190709" cy="459581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B4A1495-88D5-2D99-73F3-60C0048FB7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5948" y="379147"/>
            <a:ext cx="1902952" cy="39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624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575A5D8-81D4-BFBE-E1D7-4BCA276370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72317"/>
          </a:xfrm>
          <a:prstGeom prst="rect">
            <a:avLst/>
          </a:prstGeom>
        </p:spPr>
      </p:pic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2320649-ACD7-42E9-A261-E6ED46ACB4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458694"/>
            <a:ext cx="10858500" cy="16430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buNone/>
              <a:defRPr lang="en-US" altLang="zh-CN" sz="4800" b="1" smtClean="0"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en-US" altLang="zh-CN" smtClean="0"/>
            </a:lvl2pPr>
            <a:lvl3pPr>
              <a:defRPr lang="en-US" altLang="zh-CN" smtClean="0"/>
            </a:lvl3pPr>
            <a:lvl4pPr>
              <a:defRPr lang="en-US" altLang="zh-CN" smtClean="0"/>
            </a:lvl4pPr>
            <a:lvl5pPr>
              <a:defRPr lang="zh-CN" altLang="en-US"/>
            </a:lvl5pPr>
          </a:lstStyle>
          <a:p>
            <a:pPr marL="228600" lvl="0" indent="-228600" defTabSz="914354">
              <a:spcBef>
                <a:spcPct val="0"/>
              </a:spcBef>
            </a:pPr>
            <a:r>
              <a:rPr lang="en-US" altLang="zh-CN" dirty="0"/>
              <a:t>Click to edit Master text styles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DC428848-58C6-4501-8214-B803889F27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98578" y="5837829"/>
            <a:ext cx="4620322" cy="296271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buNone/>
              <a:defRPr lang="en-US" altLang="zh-CN" sz="1200" b="0" smtClean="0"/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Speaker name and title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A01EED25-4D2A-435D-A5F9-01DCC2F074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400" y="5837829"/>
            <a:ext cx="4201532" cy="296271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altLang="zh-CN" sz="1200" b="0" smtClean="0"/>
            </a:lvl1pPr>
            <a:lvl2pPr>
              <a:defRPr lang="en-US" altLang="zh-CN" sz="1600" smtClean="0"/>
            </a:lvl2pPr>
            <a:lvl3pPr>
              <a:defRPr lang="en-US" altLang="zh-CN" sz="1400" smtClean="0"/>
            </a:lvl3pPr>
            <a:lvl4pPr>
              <a:defRPr lang="en-US" altLang="zh-CN" sz="1200" smtClean="0"/>
            </a:lvl4pPr>
            <a:lvl5pPr>
              <a:defRPr lang="zh-CN" altLang="en-US" sz="1200"/>
            </a:lvl5pPr>
          </a:lstStyle>
          <a:p>
            <a:r>
              <a:rPr lang="en-US" altLang="zh-CN" dirty="0"/>
              <a:t>www.islide.cc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44805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内容占位符 2">
            <a:extLst>
              <a:ext uri="{FF2B5EF4-FFF2-40B4-BE49-F238E27FC236}">
                <a16:creationId xmlns:a16="http://schemas.microsoft.com/office/drawing/2014/main" id="{B1A122C2-D9E5-4D78-AC6E-D7A9936722F3}"/>
              </a:ext>
            </a:extLst>
          </p:cNvPr>
          <p:cNvSpPr>
            <a:spLocks noGrp="1"/>
          </p:cNvSpPr>
          <p:nvPr>
            <p:ph orient="vert" sz="quarter" idx="10"/>
          </p:nvPr>
        </p:nvSpPr>
        <p:spPr>
          <a:xfrm>
            <a:off x="2707798" y="843179"/>
            <a:ext cx="7705725" cy="46878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437981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301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9307103-D92B-4D3C-B386-9FD58793C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defTabSz="914354"/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8920D0-E0E5-40BB-AEDA-3D7A09092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B16C00-AE39-4635-9F10-B7233D2AC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401" y="6438900"/>
            <a:ext cx="3992171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12D871-753D-4991-B44B-EFAE9F8682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4656" y="6438900"/>
            <a:ext cx="1802924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23E9ED-4E00-42D1-BFBF-5EBD27D29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51" r:id="rId4"/>
    <p:sldLayoutId id="2147483654" r:id="rId5"/>
    <p:sldLayoutId id="2147483655" r:id="rId6"/>
    <p:sldLayoutId id="2147483656" r:id="rId7"/>
    <p:sldLayoutId id="2147483658" r:id="rId8"/>
    <p:sldLayoutId id="214748365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microsoft.com/office/2007/relationships/hdphoto" Target="../media/hdphoto1.wdp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íšľïḓê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íśļidè">
            <a:extLst>
              <a:ext uri="{FF2B5EF4-FFF2-40B4-BE49-F238E27FC236}">
                <a16:creationId xmlns:a16="http://schemas.microsoft.com/office/drawing/2014/main" id="{6C2532AA-A647-48FF-8A25-36777AF5B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2932731"/>
            <a:ext cx="7116764" cy="87832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altLang="zh-CN" sz="6000" dirty="0">
                <a:solidFill>
                  <a:schemeClr val="accent1"/>
                </a:solidFill>
              </a:rPr>
              <a:t>A</a:t>
            </a:r>
            <a:r>
              <a:rPr lang="en-US" altLang="zh-CN" sz="6000" dirty="0" err="1">
                <a:solidFill>
                  <a:schemeClr val="accent1"/>
                </a:solidFill>
              </a:rPr>
              <a:t>gentic</a:t>
            </a:r>
            <a:r>
              <a:rPr lang="en-US" altLang="zh-CN" sz="6000" dirty="0"/>
              <a:t> Pay</a:t>
            </a:r>
            <a:r>
              <a:rPr lang="en-GB" altLang="zh-CN" sz="6000" dirty="0">
                <a:solidFill>
                  <a:srgbClr val="080808"/>
                </a:solidFill>
              </a:rPr>
              <a:t> </a:t>
            </a:r>
            <a:endParaRPr lang="zh-CN" altLang="en-US" sz="6000" dirty="0">
              <a:solidFill>
                <a:srgbClr val="080808"/>
              </a:solidFill>
            </a:endParaRPr>
          </a:p>
        </p:txBody>
      </p:sp>
      <p:sp>
        <p:nvSpPr>
          <p:cNvPr id="10" name="îṩ1iḋé">
            <a:extLst>
              <a:ext uri="{FF2B5EF4-FFF2-40B4-BE49-F238E27FC236}">
                <a16:creationId xmlns:a16="http://schemas.microsoft.com/office/drawing/2014/main" id="{0102F8CF-8DD3-43E5-B521-501A3CF12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400" y="3811059"/>
            <a:ext cx="6223000" cy="73554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altLang="zh-CN" sz="2000" dirty="0">
                <a:solidFill>
                  <a:srgbClr val="080808"/>
                </a:solidFill>
              </a:rPr>
              <a:t>The Payment Layer</a:t>
            </a:r>
            <a:r>
              <a:rPr lang="zh-CN" altLang="en-US" sz="2000" dirty="0">
                <a:solidFill>
                  <a:srgbClr val="080808"/>
                </a:solidFill>
              </a:rPr>
              <a:t> </a:t>
            </a:r>
            <a:r>
              <a:rPr lang="en-GB" altLang="zh-CN" sz="2000" dirty="0">
                <a:solidFill>
                  <a:srgbClr val="080808"/>
                </a:solidFill>
              </a:rPr>
              <a:t>for the AI Agent Economy</a:t>
            </a:r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CF5DACAA-5B73-94C4-5BE3-4F34CB364E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14936" y="2028983"/>
            <a:ext cx="7116764" cy="3306076"/>
          </a:xfrm>
          <a:prstGeom prst="rect">
            <a:avLst/>
          </a:prstGeom>
        </p:spPr>
      </p:pic>
      <p:sp>
        <p:nvSpPr>
          <p:cNvPr id="18" name="îṩ1iḋé">
            <a:extLst>
              <a:ext uri="{FF2B5EF4-FFF2-40B4-BE49-F238E27FC236}">
                <a16:creationId xmlns:a16="http://schemas.microsoft.com/office/drawing/2014/main" id="{B72D9E66-6997-3EEF-3D43-7A46684C2132}"/>
              </a:ext>
            </a:extLst>
          </p:cNvPr>
          <p:cNvSpPr txBox="1">
            <a:spLocks/>
          </p:cNvSpPr>
          <p:nvPr/>
        </p:nvSpPr>
        <p:spPr>
          <a:xfrm>
            <a:off x="660400" y="5729288"/>
            <a:ext cx="6223000" cy="7355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alt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80808"/>
                </a:solidFill>
              </a:rPr>
              <a:t>2026-01</a:t>
            </a:r>
            <a:endParaRPr lang="en-GB" altLang="zh-CN" sz="2000" dirty="0">
              <a:solidFill>
                <a:srgbClr val="080808"/>
              </a:solidFill>
            </a:endParaRPr>
          </a:p>
        </p:txBody>
      </p:sp>
      <p:pic>
        <p:nvPicPr>
          <p:cNvPr id="3" name="图片 2" descr="屏幕上有字&#10;&#10;AI 生成的内容可能不正确。">
            <a:extLst>
              <a:ext uri="{FF2B5EF4-FFF2-40B4-BE49-F238E27FC236}">
                <a16:creationId xmlns:a16="http://schemas.microsoft.com/office/drawing/2014/main" id="{25D6A0F7-E08A-F0E3-8C36-1B1F21C023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442791"/>
            <a:ext cx="2830052" cy="585909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421421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24000" y="857251"/>
            <a:ext cx="9144000" cy="5143500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4" name="Shape 1"/>
          <p:cNvSpPr/>
          <p:nvPr/>
        </p:nvSpPr>
        <p:spPr>
          <a:xfrm>
            <a:off x="5619751" y="2952751"/>
            <a:ext cx="952500" cy="952500"/>
          </a:xfrm>
          <a:prstGeom prst="ellipse">
            <a:avLst/>
          </a:prstGeom>
          <a:solidFill>
            <a:srgbClr val="FFFFFF">
              <a:alpha val="10000"/>
            </a:srgbClr>
          </a:solidFill>
          <a:ln w="18288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17861" y="7058025"/>
            <a:ext cx="1156278" cy="1437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969" kern="0" spc="3" dirty="0">
                <a:solidFill>
                  <a:srgbClr val="888888"/>
                </a:solidFill>
              </a:rPr>
              <a:t>Product Demo Video</a:t>
            </a:r>
            <a:endParaRPr lang="en-US" sz="969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44FA7B-AF52-BCF1-2385-E75302E10E20}"/>
              </a:ext>
            </a:extLst>
          </p:cNvPr>
          <p:cNvSpPr txBox="1"/>
          <p:nvPr/>
        </p:nvSpPr>
        <p:spPr>
          <a:xfrm>
            <a:off x="2571750" y="395584"/>
            <a:ext cx="7124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b="1" i="1" dirty="0">
                <a:solidFill>
                  <a:schemeClr val="bg1"/>
                </a:solidFill>
              </a:rPr>
              <a:t>One</a:t>
            </a:r>
            <a:r>
              <a:rPr kumimoji="1" lang="zh-CN" altLang="en-US" sz="3200" b="1" i="1" dirty="0">
                <a:solidFill>
                  <a:schemeClr val="bg1"/>
                </a:solidFill>
              </a:rPr>
              <a:t> </a:t>
            </a:r>
            <a:r>
              <a:rPr kumimoji="1" lang="en-US" altLang="zh-CN" sz="3200" b="1" i="1" dirty="0">
                <a:solidFill>
                  <a:schemeClr val="bg1"/>
                </a:solidFill>
              </a:rPr>
              <a:t>day</a:t>
            </a:r>
            <a:r>
              <a:rPr kumimoji="1" lang="zh-CN" altLang="en-US" sz="3200" b="1" i="1" dirty="0">
                <a:solidFill>
                  <a:schemeClr val="bg1"/>
                </a:solidFill>
              </a:rPr>
              <a:t> </a:t>
            </a:r>
            <a:r>
              <a:rPr kumimoji="1" lang="en-US" altLang="zh-CN" sz="3200" b="1" i="1" dirty="0">
                <a:solidFill>
                  <a:schemeClr val="bg1"/>
                </a:solidFill>
              </a:rPr>
              <a:t>in</a:t>
            </a:r>
            <a:r>
              <a:rPr kumimoji="1" lang="zh-CN" altLang="en-US" sz="3200" b="1" i="1" dirty="0">
                <a:solidFill>
                  <a:schemeClr val="bg1"/>
                </a:solidFill>
              </a:rPr>
              <a:t> </a:t>
            </a:r>
            <a:r>
              <a:rPr kumimoji="1" lang="en-US" altLang="zh-CN" sz="3200" b="1" i="1" dirty="0">
                <a:solidFill>
                  <a:schemeClr val="bg1"/>
                </a:solidFill>
              </a:rPr>
              <a:t>20XX</a:t>
            </a:r>
            <a:r>
              <a:rPr kumimoji="1" lang="zh-CN" altLang="en-US" sz="3200" b="1" i="1" dirty="0">
                <a:solidFill>
                  <a:schemeClr val="bg1"/>
                </a:solidFill>
              </a:rPr>
              <a:t> </a:t>
            </a:r>
            <a:r>
              <a:rPr kumimoji="1" lang="en-US" altLang="zh-CN" sz="3200" b="1" i="1" dirty="0">
                <a:solidFill>
                  <a:schemeClr val="bg1"/>
                </a:solidFill>
              </a:rPr>
              <a:t>year…</a:t>
            </a:r>
            <a:endParaRPr kumimoji="1" lang="zh-CN" altLang="en-US" sz="3200" b="1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śḷîḑè">
          <a:extLst>
            <a:ext uri="{FF2B5EF4-FFF2-40B4-BE49-F238E27FC236}">
              <a16:creationId xmlns:a16="http://schemas.microsoft.com/office/drawing/2014/main" id="{E947D672-E85D-B4F4-100F-EB3734DE8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îṡľiḍe">
            <a:extLst>
              <a:ext uri="{FF2B5EF4-FFF2-40B4-BE49-F238E27FC236}">
                <a16:creationId xmlns:a16="http://schemas.microsoft.com/office/drawing/2014/main" id="{F3A55761-425B-A32C-AD06-6832FF171F7F}"/>
              </a:ext>
            </a:extLst>
          </p:cNvPr>
          <p:cNvSpPr/>
          <p:nvPr/>
        </p:nvSpPr>
        <p:spPr>
          <a:xfrm rot="10800000" flipH="1">
            <a:off x="9765999" y="0"/>
            <a:ext cx="2438879" cy="2124932"/>
          </a:xfrm>
          <a:custGeom>
            <a:avLst/>
            <a:gdLst>
              <a:gd name="connsiteX0" fmla="*/ 2463597 w 3862696"/>
              <a:gd name="connsiteY0" fmla="*/ 852 h 4142426"/>
              <a:gd name="connsiteX1" fmla="*/ 3855788 w 3862696"/>
              <a:gd name="connsiteY1" fmla="*/ 373889 h 4142426"/>
              <a:gd name="connsiteX2" fmla="*/ 3862696 w 3862696"/>
              <a:gd name="connsiteY2" fmla="*/ 378597 h 4142426"/>
              <a:gd name="connsiteX3" fmla="*/ 3862696 w 3862696"/>
              <a:gd name="connsiteY3" fmla="*/ 4142426 h 4142426"/>
              <a:gd name="connsiteX4" fmla="*/ 582470 w 3862696"/>
              <a:gd name="connsiteY4" fmla="*/ 4142426 h 4142426"/>
              <a:gd name="connsiteX5" fmla="*/ 480247 w 3862696"/>
              <a:gd name="connsiteY5" fmla="*/ 4014728 h 4142426"/>
              <a:gd name="connsiteX6" fmla="*/ 339532 w 3862696"/>
              <a:gd name="connsiteY6" fmla="*/ 3797139 h 4142426"/>
              <a:gd name="connsiteX7" fmla="*/ 1265995 w 3862696"/>
              <a:gd name="connsiteY7" fmla="*/ 339532 h 4142426"/>
              <a:gd name="connsiteX8" fmla="*/ 2463597 w 3862696"/>
              <a:gd name="connsiteY8" fmla="*/ 852 h 414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62696" h="4142426">
                <a:moveTo>
                  <a:pt x="2463597" y="852"/>
                </a:moveTo>
                <a:cubicBezTo>
                  <a:pt x="2953209" y="-11864"/>
                  <a:pt x="3438129" y="118070"/>
                  <a:pt x="3855788" y="373889"/>
                </a:cubicBezTo>
                <a:lnTo>
                  <a:pt x="3862696" y="378597"/>
                </a:lnTo>
                <a:lnTo>
                  <a:pt x="3862696" y="4142426"/>
                </a:lnTo>
                <a:lnTo>
                  <a:pt x="582470" y="4142426"/>
                </a:lnTo>
                <a:lnTo>
                  <a:pt x="480247" y="4014728"/>
                </a:lnTo>
                <a:cubicBezTo>
                  <a:pt x="430218" y="3945359"/>
                  <a:pt x="383217" y="3872803"/>
                  <a:pt x="339532" y="3797139"/>
                </a:cubicBezTo>
                <a:cubicBezTo>
                  <a:pt x="-359424" y="2586512"/>
                  <a:pt x="55368" y="1038488"/>
                  <a:pt x="1265995" y="339532"/>
                </a:cubicBezTo>
                <a:cubicBezTo>
                  <a:pt x="1644316" y="121108"/>
                  <a:pt x="2055586" y="11449"/>
                  <a:pt x="2463597" y="852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4DF8BD2-422D-6958-D393-CDDB9122DA21}"/>
              </a:ext>
            </a:extLst>
          </p:cNvPr>
          <p:cNvSpPr/>
          <p:nvPr/>
        </p:nvSpPr>
        <p:spPr>
          <a:xfrm>
            <a:off x="-90152" y="4855335"/>
            <a:ext cx="12428113" cy="21765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iṣľïḑê">
            <a:extLst>
              <a:ext uri="{FF2B5EF4-FFF2-40B4-BE49-F238E27FC236}">
                <a16:creationId xmlns:a16="http://schemas.microsoft.com/office/drawing/2014/main" id="{7B023371-B1AD-23BC-C69A-4060A3B6491E}"/>
              </a:ext>
            </a:extLst>
          </p:cNvPr>
          <p:cNvSpPr/>
          <p:nvPr/>
        </p:nvSpPr>
        <p:spPr>
          <a:xfrm>
            <a:off x="528009" y="2366331"/>
            <a:ext cx="1902297" cy="934231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</a:rPr>
              <a:t>User</a:t>
            </a:r>
            <a:r>
              <a:rPr lang="zh-CN" altLang="en-US" b="1" dirty="0">
                <a:solidFill>
                  <a:srgbClr val="FFFFFF"/>
                </a:solidFill>
              </a:rPr>
              <a:t> </a:t>
            </a:r>
            <a:r>
              <a:rPr lang="en-US" altLang="zh-CN" b="1" dirty="0">
                <a:solidFill>
                  <a:srgbClr val="FFFFFF"/>
                </a:solidFill>
              </a:rPr>
              <a:t>input</a:t>
            </a:r>
            <a:endParaRPr lang="zh-CN" altLang="en-US" b="1" dirty="0">
              <a:solidFill>
                <a:srgbClr val="FFFFFF"/>
              </a:solidFill>
            </a:endParaRPr>
          </a:p>
        </p:txBody>
      </p:sp>
      <p:sp>
        <p:nvSpPr>
          <p:cNvPr id="50" name="ïṧļiḋê">
            <a:extLst>
              <a:ext uri="{FF2B5EF4-FFF2-40B4-BE49-F238E27FC236}">
                <a16:creationId xmlns:a16="http://schemas.microsoft.com/office/drawing/2014/main" id="{D941B02C-D290-B02F-ADDA-1485E2E27E75}"/>
              </a:ext>
            </a:extLst>
          </p:cNvPr>
          <p:cNvSpPr/>
          <p:nvPr/>
        </p:nvSpPr>
        <p:spPr>
          <a:xfrm>
            <a:off x="5582474" y="2363394"/>
            <a:ext cx="1715480" cy="934231"/>
          </a:xfrm>
          <a:prstGeom prst="roundRect">
            <a:avLst>
              <a:gd name="adj" fmla="val 15000"/>
            </a:avLst>
          </a:pr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Task execution</a:t>
            </a:r>
          </a:p>
        </p:txBody>
      </p:sp>
      <p:sp>
        <p:nvSpPr>
          <p:cNvPr id="56" name="ïṥlïḋé">
            <a:extLst>
              <a:ext uri="{FF2B5EF4-FFF2-40B4-BE49-F238E27FC236}">
                <a16:creationId xmlns:a16="http://schemas.microsoft.com/office/drawing/2014/main" id="{E3271CBF-BA1D-3614-74BB-16780FA30221}"/>
              </a:ext>
            </a:extLst>
          </p:cNvPr>
          <p:cNvSpPr/>
          <p:nvPr/>
        </p:nvSpPr>
        <p:spPr>
          <a:xfrm>
            <a:off x="7922890" y="2363394"/>
            <a:ext cx="1538626" cy="934231"/>
          </a:xfrm>
          <a:prstGeom prst="roundRect">
            <a:avLst>
              <a:gd name="adj" fmla="val 15000"/>
            </a:avLst>
          </a:pr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AI</a:t>
            </a:r>
            <a:r>
              <a:rPr lang="zh-CN" altLang="en-US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payment</a:t>
            </a:r>
          </a:p>
        </p:txBody>
      </p:sp>
      <p:grpSp>
        <p:nvGrpSpPr>
          <p:cNvPr id="7" name="îSľïḑè">
            <a:extLst>
              <a:ext uri="{FF2B5EF4-FFF2-40B4-BE49-F238E27FC236}">
                <a16:creationId xmlns:a16="http://schemas.microsoft.com/office/drawing/2014/main" id="{3CD7F1E8-4822-B2F6-75D1-2DF263933B86}"/>
              </a:ext>
            </a:extLst>
          </p:cNvPr>
          <p:cNvGrpSpPr/>
          <p:nvPr/>
        </p:nvGrpSpPr>
        <p:grpSpPr>
          <a:xfrm>
            <a:off x="2514174" y="2604846"/>
            <a:ext cx="457200" cy="457200"/>
            <a:chOff x="5898244" y="3870410"/>
            <a:chExt cx="457200" cy="457200"/>
          </a:xfrm>
        </p:grpSpPr>
        <p:sp>
          <p:nvSpPr>
            <p:cNvPr id="34" name="íş1íḋe">
              <a:extLst>
                <a:ext uri="{FF2B5EF4-FFF2-40B4-BE49-F238E27FC236}">
                  <a16:creationId xmlns:a16="http://schemas.microsoft.com/office/drawing/2014/main" id="{5AB97A36-FB8D-19F8-198E-A4716D21ED5D}"/>
                </a:ext>
              </a:extLst>
            </p:cNvPr>
            <p:cNvSpPr/>
            <p:nvPr/>
          </p:nvSpPr>
          <p:spPr>
            <a:xfrm>
              <a:off x="5898244" y="387041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5" name="iŝlíďe">
              <a:extLst>
                <a:ext uri="{FF2B5EF4-FFF2-40B4-BE49-F238E27FC236}">
                  <a16:creationId xmlns:a16="http://schemas.microsoft.com/office/drawing/2014/main" id="{F44C276E-2027-CA2B-9419-797085789BAC}"/>
                </a:ext>
              </a:extLst>
            </p:cNvPr>
            <p:cNvSpPr/>
            <p:nvPr/>
          </p:nvSpPr>
          <p:spPr>
            <a:xfrm>
              <a:off x="6105981" y="4057255"/>
              <a:ext cx="56012" cy="83510"/>
            </a:xfrm>
            <a:custGeom>
              <a:avLst/>
              <a:gdLst>
                <a:gd name="connsiteX0" fmla="*/ 1632776 w 1725215"/>
                <a:gd name="connsiteY0" fmla="*/ 834031 h 1994673"/>
                <a:gd name="connsiteX1" fmla="*/ 288512 w 1725215"/>
                <a:gd name="connsiteY1" fmla="*/ 27454 h 1994673"/>
                <a:gd name="connsiteX2" fmla="*/ 0 w 1725215"/>
                <a:gd name="connsiteY2" fmla="*/ 190808 h 1994673"/>
                <a:gd name="connsiteX3" fmla="*/ 0 w 1725215"/>
                <a:gd name="connsiteY3" fmla="*/ 1803866 h 1994673"/>
                <a:gd name="connsiteX4" fmla="*/ 288512 w 1725215"/>
                <a:gd name="connsiteY4" fmla="*/ 1967220 h 1994673"/>
                <a:gd name="connsiteX5" fmla="*/ 1632776 w 1725215"/>
                <a:gd name="connsiteY5" fmla="*/ 1160643 h 1994673"/>
                <a:gd name="connsiteX6" fmla="*/ 1632776 w 1725215"/>
                <a:gd name="connsiteY6" fmla="*/ 834031 h 1994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25215" h="1994673">
                  <a:moveTo>
                    <a:pt x="1632776" y="834031"/>
                  </a:moveTo>
                  <a:lnTo>
                    <a:pt x="288512" y="27454"/>
                  </a:lnTo>
                  <a:cubicBezTo>
                    <a:pt x="161544" y="-48746"/>
                    <a:pt x="0" y="42694"/>
                    <a:pt x="0" y="190808"/>
                  </a:cubicBezTo>
                  <a:lnTo>
                    <a:pt x="0" y="1803866"/>
                  </a:lnTo>
                  <a:cubicBezTo>
                    <a:pt x="0" y="1951980"/>
                    <a:pt x="161544" y="2043420"/>
                    <a:pt x="288512" y="1967220"/>
                  </a:cubicBezTo>
                  <a:lnTo>
                    <a:pt x="1632776" y="1160643"/>
                  </a:lnTo>
                  <a:cubicBezTo>
                    <a:pt x="1756029" y="1086729"/>
                    <a:pt x="1756029" y="908040"/>
                    <a:pt x="1632776" y="8340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rgbClr val="ECECEC"/>
                </a:solidFill>
              </a:endParaRPr>
            </a:p>
          </p:txBody>
        </p:sp>
      </p:grpSp>
      <p:sp>
        <p:nvSpPr>
          <p:cNvPr id="42" name="iṧḻïďè">
            <a:extLst>
              <a:ext uri="{FF2B5EF4-FFF2-40B4-BE49-F238E27FC236}">
                <a16:creationId xmlns:a16="http://schemas.microsoft.com/office/drawing/2014/main" id="{4BBAF513-EA1F-E6A9-1CA4-EB395E5C93A6}"/>
              </a:ext>
            </a:extLst>
          </p:cNvPr>
          <p:cNvSpPr/>
          <p:nvPr/>
        </p:nvSpPr>
        <p:spPr>
          <a:xfrm>
            <a:off x="3055242" y="2366331"/>
            <a:ext cx="1902296" cy="934231"/>
          </a:xfrm>
          <a:prstGeom prst="roundRect">
            <a:avLst>
              <a:gd name="adj" fmla="val 15000"/>
            </a:avLst>
          </a:pr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Smart dispatch</a:t>
            </a:r>
          </a:p>
        </p:txBody>
      </p:sp>
      <p:grpSp>
        <p:nvGrpSpPr>
          <p:cNvPr id="66" name="íšḷíḑé">
            <a:extLst>
              <a:ext uri="{FF2B5EF4-FFF2-40B4-BE49-F238E27FC236}">
                <a16:creationId xmlns:a16="http://schemas.microsoft.com/office/drawing/2014/main" id="{B15E790B-6FBE-2B07-9065-E4976DAC4EF6}"/>
              </a:ext>
            </a:extLst>
          </p:cNvPr>
          <p:cNvGrpSpPr/>
          <p:nvPr/>
        </p:nvGrpSpPr>
        <p:grpSpPr>
          <a:xfrm>
            <a:off x="5041406" y="2601910"/>
            <a:ext cx="457200" cy="457200"/>
            <a:chOff x="5898244" y="3870410"/>
            <a:chExt cx="457200" cy="457200"/>
          </a:xfrm>
        </p:grpSpPr>
        <p:sp>
          <p:nvSpPr>
            <p:cNvPr id="67" name="íṧľïdè">
              <a:extLst>
                <a:ext uri="{FF2B5EF4-FFF2-40B4-BE49-F238E27FC236}">
                  <a16:creationId xmlns:a16="http://schemas.microsoft.com/office/drawing/2014/main" id="{4D35E77F-F659-C1B2-D188-7D8A5943D41F}"/>
                </a:ext>
              </a:extLst>
            </p:cNvPr>
            <p:cNvSpPr/>
            <p:nvPr/>
          </p:nvSpPr>
          <p:spPr>
            <a:xfrm>
              <a:off x="5898244" y="3870410"/>
              <a:ext cx="457200" cy="457200"/>
            </a:xfrm>
            <a:prstGeom prst="ellipse">
              <a:avLst/>
            </a:prstGeom>
            <a:solidFill>
              <a:schemeClr val="tx1">
                <a:lumMod val="50000"/>
                <a:lumOff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68" name="îsḷîḑé">
              <a:extLst>
                <a:ext uri="{FF2B5EF4-FFF2-40B4-BE49-F238E27FC236}">
                  <a16:creationId xmlns:a16="http://schemas.microsoft.com/office/drawing/2014/main" id="{130669D5-8EF9-7C09-F788-1E0DEDAB2913}"/>
                </a:ext>
              </a:extLst>
            </p:cNvPr>
            <p:cNvSpPr/>
            <p:nvPr/>
          </p:nvSpPr>
          <p:spPr>
            <a:xfrm>
              <a:off x="6105981" y="4057255"/>
              <a:ext cx="56012" cy="83510"/>
            </a:xfrm>
            <a:custGeom>
              <a:avLst/>
              <a:gdLst>
                <a:gd name="connsiteX0" fmla="*/ 1632776 w 1725215"/>
                <a:gd name="connsiteY0" fmla="*/ 834031 h 1994673"/>
                <a:gd name="connsiteX1" fmla="*/ 288512 w 1725215"/>
                <a:gd name="connsiteY1" fmla="*/ 27454 h 1994673"/>
                <a:gd name="connsiteX2" fmla="*/ 0 w 1725215"/>
                <a:gd name="connsiteY2" fmla="*/ 190808 h 1994673"/>
                <a:gd name="connsiteX3" fmla="*/ 0 w 1725215"/>
                <a:gd name="connsiteY3" fmla="*/ 1803866 h 1994673"/>
                <a:gd name="connsiteX4" fmla="*/ 288512 w 1725215"/>
                <a:gd name="connsiteY4" fmla="*/ 1967220 h 1994673"/>
                <a:gd name="connsiteX5" fmla="*/ 1632776 w 1725215"/>
                <a:gd name="connsiteY5" fmla="*/ 1160643 h 1994673"/>
                <a:gd name="connsiteX6" fmla="*/ 1632776 w 1725215"/>
                <a:gd name="connsiteY6" fmla="*/ 834031 h 1994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25215" h="1994673">
                  <a:moveTo>
                    <a:pt x="1632776" y="834031"/>
                  </a:moveTo>
                  <a:lnTo>
                    <a:pt x="288512" y="27454"/>
                  </a:lnTo>
                  <a:cubicBezTo>
                    <a:pt x="161544" y="-48746"/>
                    <a:pt x="0" y="42694"/>
                    <a:pt x="0" y="190808"/>
                  </a:cubicBezTo>
                  <a:lnTo>
                    <a:pt x="0" y="1803866"/>
                  </a:lnTo>
                  <a:cubicBezTo>
                    <a:pt x="0" y="1951980"/>
                    <a:pt x="161544" y="2043420"/>
                    <a:pt x="288512" y="1967220"/>
                  </a:cubicBezTo>
                  <a:lnTo>
                    <a:pt x="1632776" y="1160643"/>
                  </a:lnTo>
                  <a:cubicBezTo>
                    <a:pt x="1756029" y="1086729"/>
                    <a:pt x="1756029" y="908040"/>
                    <a:pt x="1632776" y="8340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rgbClr val="ECECEC"/>
                </a:solidFill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522B414A-5D6B-2BFF-F0B9-70A81FD8505F}"/>
              </a:ext>
            </a:extLst>
          </p:cNvPr>
          <p:cNvSpPr txBox="1"/>
          <p:nvPr/>
        </p:nvSpPr>
        <p:spPr>
          <a:xfrm>
            <a:off x="660400" y="251188"/>
            <a:ext cx="59439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kern="0" spc="-1" dirty="0">
                <a:solidFill>
                  <a:srgbClr val="0A0A0A"/>
                </a:solidFill>
              </a:rPr>
              <a:t>What</a:t>
            </a:r>
            <a:r>
              <a:rPr lang="zh-CN" altLang="en-US" sz="3200" b="1" kern="0" spc="-1" dirty="0">
                <a:solidFill>
                  <a:srgbClr val="0A0A0A"/>
                </a:solidFill>
              </a:rPr>
              <a:t> </a:t>
            </a:r>
            <a:r>
              <a:rPr lang="en-US" altLang="zh-CN" sz="3200" b="1" kern="0" spc="-1" dirty="0">
                <a:solidFill>
                  <a:srgbClr val="0A0A0A"/>
                </a:solidFill>
              </a:rPr>
              <a:t>is</a:t>
            </a:r>
            <a:r>
              <a:rPr lang="zh-CN" altLang="en-US" sz="3200" b="1" kern="0" spc="-1" dirty="0">
                <a:solidFill>
                  <a:srgbClr val="0A0A0A"/>
                </a:solidFill>
              </a:rPr>
              <a:t> </a:t>
            </a:r>
            <a:r>
              <a:rPr lang="en-US" altLang="zh-CN" sz="3200" b="1" kern="0" spc="-1" dirty="0">
                <a:solidFill>
                  <a:srgbClr val="0A0A0A"/>
                </a:solidFill>
              </a:rPr>
              <a:t>AI</a:t>
            </a:r>
            <a:r>
              <a:rPr lang="zh-CN" altLang="en-US" sz="3200" b="1" kern="0" spc="-1" dirty="0">
                <a:solidFill>
                  <a:srgbClr val="0A0A0A"/>
                </a:solidFill>
              </a:rPr>
              <a:t> </a:t>
            </a:r>
            <a:r>
              <a:rPr lang="en-US" altLang="zh-CN" sz="3200" b="1" kern="0" spc="-1" dirty="0">
                <a:solidFill>
                  <a:srgbClr val="0A0A0A"/>
                </a:solidFill>
              </a:rPr>
              <a:t>Payment Workflow</a:t>
            </a:r>
            <a:endParaRPr lang="en-US" altLang="zh-CN" sz="3200" dirty="0"/>
          </a:p>
        </p:txBody>
      </p:sp>
      <p:sp>
        <p:nvSpPr>
          <p:cNvPr id="11" name="íş1idè">
            <a:extLst>
              <a:ext uri="{FF2B5EF4-FFF2-40B4-BE49-F238E27FC236}">
                <a16:creationId xmlns:a16="http://schemas.microsoft.com/office/drawing/2014/main" id="{6F50AE96-F499-F117-3882-24484C4817AB}"/>
              </a:ext>
            </a:extLst>
          </p:cNvPr>
          <p:cNvSpPr/>
          <p:nvPr/>
        </p:nvSpPr>
        <p:spPr>
          <a:xfrm>
            <a:off x="1704280" y="994086"/>
            <a:ext cx="8863854" cy="899797"/>
          </a:xfrm>
          <a:prstGeom prst="rect">
            <a:avLst/>
          </a:prstGeom>
        </p:spPr>
        <p:txBody>
          <a:bodyPr anchor="b" anchorCtr="0">
            <a:noAutofit/>
          </a:bodyPr>
          <a:lstStyle/>
          <a:p>
            <a:pPr algn="ctr">
              <a:buSzPct val="25000"/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it, and AI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payment happens </a:t>
            </a:r>
            <a:r>
              <a:rPr lang="en-US" altLang="zh-CN" sz="2800" b="1" dirty="0">
                <a:solidFill>
                  <a:srgbClr val="0053F9"/>
                </a:solidFill>
              </a:rPr>
              <a:t>automatically</a:t>
            </a:r>
            <a:endParaRPr lang="en-US" altLang="zh-CN" sz="2800" b="1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17A4A19-5719-70A3-A025-91DCAF6DA6E0}"/>
              </a:ext>
            </a:extLst>
          </p:cNvPr>
          <p:cNvSpPr txBox="1"/>
          <p:nvPr/>
        </p:nvSpPr>
        <p:spPr>
          <a:xfrm>
            <a:off x="357263" y="3424251"/>
            <a:ext cx="22437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user describes the need in chat, or submits programmatic batch jobs.</a:t>
            </a:r>
          </a:p>
          <a:p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7765640-241D-447B-0FC4-D64B850AD95E}"/>
              </a:ext>
            </a:extLst>
          </p:cNvPr>
          <p:cNvSpPr txBox="1"/>
          <p:nvPr/>
        </p:nvSpPr>
        <p:spPr>
          <a:xfrm>
            <a:off x="2884496" y="3424251"/>
            <a:ext cx="22437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system automatically selects the most suitable agent.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4493C27-9068-6802-D398-C047C5D6959F}"/>
              </a:ext>
            </a:extLst>
          </p:cNvPr>
          <p:cNvSpPr txBox="1"/>
          <p:nvPr/>
        </p:nvSpPr>
        <p:spPr>
          <a:xfrm>
            <a:off x="5411729" y="3424251"/>
            <a:ext cx="21653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agent completes the work with transparent costs.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06B6937-E189-838D-BF62-4A60B6530C67}"/>
              </a:ext>
            </a:extLst>
          </p:cNvPr>
          <p:cNvSpPr txBox="1"/>
          <p:nvPr/>
        </p:nvSpPr>
        <p:spPr>
          <a:xfrm>
            <a:off x="7707561" y="3424251"/>
            <a:ext cx="21653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When the task finishes, the system calculates the total and pays automatically.</a:t>
            </a:r>
          </a:p>
        </p:txBody>
      </p:sp>
      <p:grpSp>
        <p:nvGrpSpPr>
          <p:cNvPr id="19" name="íšḷíḑé">
            <a:extLst>
              <a:ext uri="{FF2B5EF4-FFF2-40B4-BE49-F238E27FC236}">
                <a16:creationId xmlns:a16="http://schemas.microsoft.com/office/drawing/2014/main" id="{72C649A4-52E6-E64D-23FB-F10505C205E6}"/>
              </a:ext>
            </a:extLst>
          </p:cNvPr>
          <p:cNvGrpSpPr/>
          <p:nvPr/>
        </p:nvGrpSpPr>
        <p:grpSpPr>
          <a:xfrm>
            <a:off x="7381822" y="2601910"/>
            <a:ext cx="457200" cy="457200"/>
            <a:chOff x="5898244" y="3870410"/>
            <a:chExt cx="457200" cy="457200"/>
          </a:xfrm>
        </p:grpSpPr>
        <p:sp>
          <p:nvSpPr>
            <p:cNvPr id="20" name="íṧľïdè">
              <a:extLst>
                <a:ext uri="{FF2B5EF4-FFF2-40B4-BE49-F238E27FC236}">
                  <a16:creationId xmlns:a16="http://schemas.microsoft.com/office/drawing/2014/main" id="{DF5A1C20-4E22-A981-9727-23DB8BF956EA}"/>
                </a:ext>
              </a:extLst>
            </p:cNvPr>
            <p:cNvSpPr/>
            <p:nvPr/>
          </p:nvSpPr>
          <p:spPr>
            <a:xfrm>
              <a:off x="5898244" y="3870410"/>
              <a:ext cx="457200" cy="457200"/>
            </a:xfrm>
            <a:prstGeom prst="ellipse">
              <a:avLst/>
            </a:prstGeom>
            <a:solidFill>
              <a:schemeClr val="tx1">
                <a:lumMod val="50000"/>
                <a:lumOff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1" name="îsḷîḑé">
              <a:extLst>
                <a:ext uri="{FF2B5EF4-FFF2-40B4-BE49-F238E27FC236}">
                  <a16:creationId xmlns:a16="http://schemas.microsoft.com/office/drawing/2014/main" id="{546DB3E3-059C-5CC1-3844-0B2689255EBE}"/>
                </a:ext>
              </a:extLst>
            </p:cNvPr>
            <p:cNvSpPr/>
            <p:nvPr/>
          </p:nvSpPr>
          <p:spPr>
            <a:xfrm>
              <a:off x="6105981" y="4057255"/>
              <a:ext cx="56012" cy="83510"/>
            </a:xfrm>
            <a:custGeom>
              <a:avLst/>
              <a:gdLst>
                <a:gd name="connsiteX0" fmla="*/ 1632776 w 1725215"/>
                <a:gd name="connsiteY0" fmla="*/ 834031 h 1994673"/>
                <a:gd name="connsiteX1" fmla="*/ 288512 w 1725215"/>
                <a:gd name="connsiteY1" fmla="*/ 27454 h 1994673"/>
                <a:gd name="connsiteX2" fmla="*/ 0 w 1725215"/>
                <a:gd name="connsiteY2" fmla="*/ 190808 h 1994673"/>
                <a:gd name="connsiteX3" fmla="*/ 0 w 1725215"/>
                <a:gd name="connsiteY3" fmla="*/ 1803866 h 1994673"/>
                <a:gd name="connsiteX4" fmla="*/ 288512 w 1725215"/>
                <a:gd name="connsiteY4" fmla="*/ 1967220 h 1994673"/>
                <a:gd name="connsiteX5" fmla="*/ 1632776 w 1725215"/>
                <a:gd name="connsiteY5" fmla="*/ 1160643 h 1994673"/>
                <a:gd name="connsiteX6" fmla="*/ 1632776 w 1725215"/>
                <a:gd name="connsiteY6" fmla="*/ 834031 h 1994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25215" h="1994673">
                  <a:moveTo>
                    <a:pt x="1632776" y="834031"/>
                  </a:moveTo>
                  <a:lnTo>
                    <a:pt x="288512" y="27454"/>
                  </a:lnTo>
                  <a:cubicBezTo>
                    <a:pt x="161544" y="-48746"/>
                    <a:pt x="0" y="42694"/>
                    <a:pt x="0" y="190808"/>
                  </a:cubicBezTo>
                  <a:lnTo>
                    <a:pt x="0" y="1803866"/>
                  </a:lnTo>
                  <a:cubicBezTo>
                    <a:pt x="0" y="1951980"/>
                    <a:pt x="161544" y="2043420"/>
                    <a:pt x="288512" y="1967220"/>
                  </a:cubicBezTo>
                  <a:lnTo>
                    <a:pt x="1632776" y="1160643"/>
                  </a:lnTo>
                  <a:cubicBezTo>
                    <a:pt x="1756029" y="1086729"/>
                    <a:pt x="1756029" y="908040"/>
                    <a:pt x="1632776" y="8340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rgbClr val="ECECEC"/>
                </a:solidFill>
              </a:endParaRPr>
            </a:p>
          </p:txBody>
        </p:sp>
      </p:grpSp>
      <p:sp>
        <p:nvSpPr>
          <p:cNvPr id="24" name="ïṥlïḋé">
            <a:extLst>
              <a:ext uri="{FF2B5EF4-FFF2-40B4-BE49-F238E27FC236}">
                <a16:creationId xmlns:a16="http://schemas.microsoft.com/office/drawing/2014/main" id="{B2B5CA05-9CCD-2F4D-0D61-9904B7B44D20}"/>
              </a:ext>
            </a:extLst>
          </p:cNvPr>
          <p:cNvSpPr/>
          <p:nvPr/>
        </p:nvSpPr>
        <p:spPr>
          <a:xfrm>
            <a:off x="10086452" y="2363394"/>
            <a:ext cx="1710596" cy="934231"/>
          </a:xfrm>
          <a:prstGeom prst="roundRect">
            <a:avLst>
              <a:gd name="adj" fmla="val 15000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Results delivered</a:t>
            </a:r>
          </a:p>
        </p:txBody>
      </p:sp>
      <p:grpSp>
        <p:nvGrpSpPr>
          <p:cNvPr id="25" name="íšḷíḑé">
            <a:extLst>
              <a:ext uri="{FF2B5EF4-FFF2-40B4-BE49-F238E27FC236}">
                <a16:creationId xmlns:a16="http://schemas.microsoft.com/office/drawing/2014/main" id="{7B12E774-E954-C941-83C9-6819F4DC9F8A}"/>
              </a:ext>
            </a:extLst>
          </p:cNvPr>
          <p:cNvGrpSpPr/>
          <p:nvPr/>
        </p:nvGrpSpPr>
        <p:grpSpPr>
          <a:xfrm>
            <a:off x="9545384" y="2601910"/>
            <a:ext cx="457200" cy="457200"/>
            <a:chOff x="5898244" y="3870410"/>
            <a:chExt cx="457200" cy="457200"/>
          </a:xfrm>
        </p:grpSpPr>
        <p:sp>
          <p:nvSpPr>
            <p:cNvPr id="26" name="íṧľïdè">
              <a:extLst>
                <a:ext uri="{FF2B5EF4-FFF2-40B4-BE49-F238E27FC236}">
                  <a16:creationId xmlns:a16="http://schemas.microsoft.com/office/drawing/2014/main" id="{F3C04389-3889-E267-E945-84E65D9BA7C6}"/>
                </a:ext>
              </a:extLst>
            </p:cNvPr>
            <p:cNvSpPr/>
            <p:nvPr/>
          </p:nvSpPr>
          <p:spPr>
            <a:xfrm>
              <a:off x="5898244" y="3870410"/>
              <a:ext cx="457200" cy="457200"/>
            </a:xfrm>
            <a:prstGeom prst="ellipse">
              <a:avLst/>
            </a:prstGeom>
            <a:solidFill>
              <a:schemeClr val="tx1">
                <a:lumMod val="50000"/>
                <a:lumOff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7" name="îsḷîḑé">
              <a:extLst>
                <a:ext uri="{FF2B5EF4-FFF2-40B4-BE49-F238E27FC236}">
                  <a16:creationId xmlns:a16="http://schemas.microsoft.com/office/drawing/2014/main" id="{3F0DADD2-6223-9B3A-67A5-4D3A70C70B06}"/>
                </a:ext>
              </a:extLst>
            </p:cNvPr>
            <p:cNvSpPr/>
            <p:nvPr/>
          </p:nvSpPr>
          <p:spPr>
            <a:xfrm>
              <a:off x="6105981" y="4057255"/>
              <a:ext cx="56012" cy="83510"/>
            </a:xfrm>
            <a:custGeom>
              <a:avLst/>
              <a:gdLst>
                <a:gd name="connsiteX0" fmla="*/ 1632776 w 1725215"/>
                <a:gd name="connsiteY0" fmla="*/ 834031 h 1994673"/>
                <a:gd name="connsiteX1" fmla="*/ 288512 w 1725215"/>
                <a:gd name="connsiteY1" fmla="*/ 27454 h 1994673"/>
                <a:gd name="connsiteX2" fmla="*/ 0 w 1725215"/>
                <a:gd name="connsiteY2" fmla="*/ 190808 h 1994673"/>
                <a:gd name="connsiteX3" fmla="*/ 0 w 1725215"/>
                <a:gd name="connsiteY3" fmla="*/ 1803866 h 1994673"/>
                <a:gd name="connsiteX4" fmla="*/ 288512 w 1725215"/>
                <a:gd name="connsiteY4" fmla="*/ 1967220 h 1994673"/>
                <a:gd name="connsiteX5" fmla="*/ 1632776 w 1725215"/>
                <a:gd name="connsiteY5" fmla="*/ 1160643 h 1994673"/>
                <a:gd name="connsiteX6" fmla="*/ 1632776 w 1725215"/>
                <a:gd name="connsiteY6" fmla="*/ 834031 h 1994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25215" h="1994673">
                  <a:moveTo>
                    <a:pt x="1632776" y="834031"/>
                  </a:moveTo>
                  <a:lnTo>
                    <a:pt x="288512" y="27454"/>
                  </a:lnTo>
                  <a:cubicBezTo>
                    <a:pt x="161544" y="-48746"/>
                    <a:pt x="0" y="42694"/>
                    <a:pt x="0" y="190808"/>
                  </a:cubicBezTo>
                  <a:lnTo>
                    <a:pt x="0" y="1803866"/>
                  </a:lnTo>
                  <a:cubicBezTo>
                    <a:pt x="0" y="1951980"/>
                    <a:pt x="161544" y="2043420"/>
                    <a:pt x="288512" y="1967220"/>
                  </a:cubicBezTo>
                  <a:lnTo>
                    <a:pt x="1632776" y="1160643"/>
                  </a:lnTo>
                  <a:cubicBezTo>
                    <a:pt x="1756029" y="1086729"/>
                    <a:pt x="1756029" y="908040"/>
                    <a:pt x="1632776" y="8340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rgbClr val="ECECEC"/>
                </a:solidFill>
              </a:endParaRP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62D365CF-EF6D-B9D0-C636-C519B6A9012C}"/>
              </a:ext>
            </a:extLst>
          </p:cNvPr>
          <p:cNvSpPr txBox="1"/>
          <p:nvPr/>
        </p:nvSpPr>
        <p:spPr>
          <a:xfrm>
            <a:off x="10002584" y="3424250"/>
            <a:ext cx="18321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user receives the final results, a cost breakdown, and a receipt/audit log.</a:t>
            </a: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F241908C-BAEF-EE71-9A04-A2A63CCEE77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3356" y="5412204"/>
            <a:ext cx="493806" cy="395045"/>
          </a:xfrm>
          <a:prstGeom prst="rect">
            <a:avLst/>
          </a:prstGeom>
          <a:noFill/>
        </p:spPr>
      </p:pic>
      <p:sp>
        <p:nvSpPr>
          <p:cNvPr id="30" name="Text 15">
            <a:extLst>
              <a:ext uri="{FF2B5EF4-FFF2-40B4-BE49-F238E27FC236}">
                <a16:creationId xmlns:a16="http://schemas.microsoft.com/office/drawing/2014/main" id="{4B98F745-B2CB-D0B8-E4E3-1FD87F4A9D62}"/>
              </a:ext>
            </a:extLst>
          </p:cNvPr>
          <p:cNvSpPr/>
          <p:nvPr/>
        </p:nvSpPr>
        <p:spPr>
          <a:xfrm>
            <a:off x="1229238" y="5478623"/>
            <a:ext cx="2743626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b="1" dirty="0">
                <a:solidFill>
                  <a:srgbClr val="0053F9"/>
                </a:solidFill>
              </a:rPr>
              <a:t>Intelligent Dispatch</a:t>
            </a:r>
            <a:endParaRPr lang="en-US" sz="2000" dirty="0">
              <a:solidFill>
                <a:srgbClr val="0053F9"/>
              </a:solidFill>
            </a:endParaRPr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4398673E-460F-3BC2-E00E-9B6ACE25286E}"/>
              </a:ext>
            </a:extLst>
          </p:cNvPr>
          <p:cNvSpPr/>
          <p:nvPr/>
        </p:nvSpPr>
        <p:spPr>
          <a:xfrm>
            <a:off x="1229238" y="5953701"/>
            <a:ext cx="2743626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dirty="0">
                <a:solidFill>
                  <a:srgbClr val="4A4A4A"/>
                </a:solidFill>
              </a:rPr>
              <a:t>No more</a:t>
            </a:r>
            <a:r>
              <a:rPr lang="zh-CN" altLang="en-US" sz="1600" dirty="0">
                <a:solidFill>
                  <a:srgbClr val="4A4A4A"/>
                </a:solidFill>
              </a:rPr>
              <a:t> </a:t>
            </a:r>
            <a:r>
              <a:rPr lang="en-US" sz="1600" dirty="0">
                <a:solidFill>
                  <a:srgbClr val="4A4A4A"/>
                </a:solidFill>
              </a:rPr>
              <a:t>manual Agent marketplace search required.</a:t>
            </a:r>
            <a:endParaRPr lang="en-US" sz="1600" dirty="0"/>
          </a:p>
        </p:txBody>
      </p:sp>
      <p:pic>
        <p:nvPicPr>
          <p:cNvPr id="32" name="Image 3" descr="preencoded.png">
            <a:extLst>
              <a:ext uri="{FF2B5EF4-FFF2-40B4-BE49-F238E27FC236}">
                <a16:creationId xmlns:a16="http://schemas.microsoft.com/office/drawing/2014/main" id="{4E0AD1D6-1E62-48A5-D654-5129F43F8B1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alphaModFix/>
          </a:blip>
          <a:stretch>
            <a:fillRect/>
          </a:stretch>
        </p:blipFill>
        <p:spPr>
          <a:xfrm>
            <a:off x="4580068" y="5428917"/>
            <a:ext cx="301607" cy="402143"/>
          </a:xfrm>
          <a:prstGeom prst="rect">
            <a:avLst/>
          </a:prstGeom>
          <a:noFill/>
        </p:spPr>
      </p:pic>
      <p:sp>
        <p:nvSpPr>
          <p:cNvPr id="33" name="Text 17">
            <a:extLst>
              <a:ext uri="{FF2B5EF4-FFF2-40B4-BE49-F238E27FC236}">
                <a16:creationId xmlns:a16="http://schemas.microsoft.com/office/drawing/2014/main" id="{7626D9BA-6C49-1B15-19F5-6AF75B08148C}"/>
              </a:ext>
            </a:extLst>
          </p:cNvPr>
          <p:cNvSpPr/>
          <p:nvPr/>
        </p:nvSpPr>
        <p:spPr>
          <a:xfrm>
            <a:off x="5091344" y="5476101"/>
            <a:ext cx="2871132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b="1" dirty="0">
                <a:solidFill>
                  <a:srgbClr val="0053F9"/>
                </a:solidFill>
              </a:rPr>
              <a:t>Transparent Billing</a:t>
            </a:r>
            <a:endParaRPr lang="en-US" sz="2000" dirty="0">
              <a:solidFill>
                <a:srgbClr val="0053F9"/>
              </a:solidFill>
            </a:endParaRPr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CA3B16F4-A392-C9C3-E66F-DE0202A7EFC3}"/>
              </a:ext>
            </a:extLst>
          </p:cNvPr>
          <p:cNvSpPr/>
          <p:nvPr/>
        </p:nvSpPr>
        <p:spPr>
          <a:xfrm>
            <a:off x="5091344" y="5959918"/>
            <a:ext cx="2356578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dirty="0">
                <a:solidFill>
                  <a:srgbClr val="4A4A4A"/>
                </a:solidFill>
              </a:rPr>
              <a:t>Every micro-cost tracked and auditable.</a:t>
            </a:r>
            <a:endParaRPr lang="en-US" sz="1600" dirty="0"/>
          </a:p>
        </p:txBody>
      </p:sp>
      <p:pic>
        <p:nvPicPr>
          <p:cNvPr id="37" name="Image 4" descr="preencoded.png">
            <a:extLst>
              <a:ext uri="{FF2B5EF4-FFF2-40B4-BE49-F238E27FC236}">
                <a16:creationId xmlns:a16="http://schemas.microsoft.com/office/drawing/2014/main" id="{FC281419-A123-6E76-7D1A-B31F72708B7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48917" y="5470133"/>
            <a:ext cx="307970" cy="410627"/>
          </a:xfrm>
          <a:prstGeom prst="rect">
            <a:avLst/>
          </a:prstGeom>
          <a:noFill/>
        </p:spPr>
      </p:pic>
      <p:sp>
        <p:nvSpPr>
          <p:cNvPr id="38" name="Text 19">
            <a:extLst>
              <a:ext uri="{FF2B5EF4-FFF2-40B4-BE49-F238E27FC236}">
                <a16:creationId xmlns:a16="http://schemas.microsoft.com/office/drawing/2014/main" id="{A64E27B1-E193-2F89-52D9-8FBD1F0587F5}"/>
              </a:ext>
            </a:extLst>
          </p:cNvPr>
          <p:cNvSpPr/>
          <p:nvPr/>
        </p:nvSpPr>
        <p:spPr>
          <a:xfrm>
            <a:off x="8955582" y="5493504"/>
            <a:ext cx="2669496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b="1" dirty="0">
                <a:solidFill>
                  <a:srgbClr val="0053F9"/>
                </a:solidFill>
              </a:rPr>
              <a:t>Instant Settlement</a:t>
            </a:r>
            <a:endParaRPr lang="en-US" sz="2000" dirty="0">
              <a:solidFill>
                <a:srgbClr val="0053F9"/>
              </a:solidFill>
            </a:endParaRPr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80B996BC-2735-8E3D-747D-B21D5960E02D}"/>
              </a:ext>
            </a:extLst>
          </p:cNvPr>
          <p:cNvSpPr/>
          <p:nvPr/>
        </p:nvSpPr>
        <p:spPr>
          <a:xfrm>
            <a:off x="8955582" y="5947732"/>
            <a:ext cx="2472112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dirty="0">
                <a:solidFill>
                  <a:srgbClr val="4A4A4A"/>
                </a:solidFill>
              </a:rPr>
              <a:t>Payouts completed the moment a task is done.</a:t>
            </a:r>
            <a:endParaRPr lang="en-US" sz="1600" dirty="0"/>
          </a:p>
        </p:txBody>
      </p:sp>
      <p:sp>
        <p:nvSpPr>
          <p:cNvPr id="43" name="íš1ídé">
            <a:extLst>
              <a:ext uri="{FF2B5EF4-FFF2-40B4-BE49-F238E27FC236}">
                <a16:creationId xmlns:a16="http://schemas.microsoft.com/office/drawing/2014/main" id="{440D2A9B-0C12-3F5A-7900-09EA43D3F1DC}"/>
              </a:ext>
            </a:extLst>
          </p:cNvPr>
          <p:cNvSpPr/>
          <p:nvPr/>
        </p:nvSpPr>
        <p:spPr>
          <a:xfrm flipV="1">
            <a:off x="7321285" y="-1360"/>
            <a:ext cx="3138606" cy="764397"/>
          </a:xfrm>
          <a:custGeom>
            <a:avLst/>
            <a:gdLst>
              <a:gd name="connsiteX0" fmla="*/ 1677294 w 3570005"/>
              <a:gd name="connsiteY0" fmla="*/ 2674 h 1025639"/>
              <a:gd name="connsiteX1" fmla="*/ 1888969 w 3570005"/>
              <a:gd name="connsiteY1" fmla="*/ 2685 h 1025639"/>
              <a:gd name="connsiteX2" fmla="*/ 2860682 w 3570005"/>
              <a:gd name="connsiteY2" fmla="*/ 301674 h 1025639"/>
              <a:gd name="connsiteX3" fmla="*/ 3501815 w 3570005"/>
              <a:gd name="connsiteY3" fmla="*/ 915810 h 1025639"/>
              <a:gd name="connsiteX4" fmla="*/ 3570005 w 3570005"/>
              <a:gd name="connsiteY4" fmla="*/ 1025639 h 1025639"/>
              <a:gd name="connsiteX5" fmla="*/ 0 w 3570005"/>
              <a:gd name="connsiteY5" fmla="*/ 1025639 h 1025639"/>
              <a:gd name="connsiteX6" fmla="*/ 18563 w 3570005"/>
              <a:gd name="connsiteY6" fmla="*/ 991614 h 1025639"/>
              <a:gd name="connsiteX7" fmla="*/ 1677294 w 3570005"/>
              <a:gd name="connsiteY7" fmla="*/ 2674 h 1025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70005" h="1025639">
                <a:moveTo>
                  <a:pt x="1677294" y="2674"/>
                </a:moveTo>
                <a:cubicBezTo>
                  <a:pt x="1747070" y="-867"/>
                  <a:pt x="1817689" y="-918"/>
                  <a:pt x="1888969" y="2685"/>
                </a:cubicBezTo>
                <a:cubicBezTo>
                  <a:pt x="2245368" y="20699"/>
                  <a:pt x="2576117" y="127935"/>
                  <a:pt x="2860682" y="301674"/>
                </a:cubicBezTo>
                <a:cubicBezTo>
                  <a:pt x="3116790" y="458038"/>
                  <a:pt x="3335490" y="668271"/>
                  <a:pt x="3501815" y="915810"/>
                </a:cubicBezTo>
                <a:lnTo>
                  <a:pt x="3570005" y="1025639"/>
                </a:lnTo>
                <a:lnTo>
                  <a:pt x="0" y="1025639"/>
                </a:lnTo>
                <a:lnTo>
                  <a:pt x="18563" y="991614"/>
                </a:lnTo>
                <a:cubicBezTo>
                  <a:pt x="366041" y="422483"/>
                  <a:pt x="979532" y="38085"/>
                  <a:pt x="1677294" y="2674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7331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š1iḍê">
          <a:extLst>
            <a:ext uri="{FF2B5EF4-FFF2-40B4-BE49-F238E27FC236}">
              <a16:creationId xmlns:a16="http://schemas.microsoft.com/office/drawing/2014/main" id="{C5E4ABB4-F946-9DC3-1C32-0957928A4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îṡľiḍe">
            <a:extLst>
              <a:ext uri="{FF2B5EF4-FFF2-40B4-BE49-F238E27FC236}">
                <a16:creationId xmlns:a16="http://schemas.microsoft.com/office/drawing/2014/main" id="{D4CB8F1F-6F7E-0D5B-2F2F-E35DD8881A99}"/>
              </a:ext>
            </a:extLst>
          </p:cNvPr>
          <p:cNvSpPr/>
          <p:nvPr/>
        </p:nvSpPr>
        <p:spPr>
          <a:xfrm>
            <a:off x="9345139" y="3791164"/>
            <a:ext cx="2859739" cy="3066836"/>
          </a:xfrm>
          <a:custGeom>
            <a:avLst/>
            <a:gdLst>
              <a:gd name="connsiteX0" fmla="*/ 2463597 w 3862696"/>
              <a:gd name="connsiteY0" fmla="*/ 852 h 4142426"/>
              <a:gd name="connsiteX1" fmla="*/ 3855788 w 3862696"/>
              <a:gd name="connsiteY1" fmla="*/ 373889 h 4142426"/>
              <a:gd name="connsiteX2" fmla="*/ 3862696 w 3862696"/>
              <a:gd name="connsiteY2" fmla="*/ 378597 h 4142426"/>
              <a:gd name="connsiteX3" fmla="*/ 3862696 w 3862696"/>
              <a:gd name="connsiteY3" fmla="*/ 4142426 h 4142426"/>
              <a:gd name="connsiteX4" fmla="*/ 582470 w 3862696"/>
              <a:gd name="connsiteY4" fmla="*/ 4142426 h 4142426"/>
              <a:gd name="connsiteX5" fmla="*/ 480247 w 3862696"/>
              <a:gd name="connsiteY5" fmla="*/ 4014728 h 4142426"/>
              <a:gd name="connsiteX6" fmla="*/ 339532 w 3862696"/>
              <a:gd name="connsiteY6" fmla="*/ 3797139 h 4142426"/>
              <a:gd name="connsiteX7" fmla="*/ 1265995 w 3862696"/>
              <a:gd name="connsiteY7" fmla="*/ 339532 h 4142426"/>
              <a:gd name="connsiteX8" fmla="*/ 2463597 w 3862696"/>
              <a:gd name="connsiteY8" fmla="*/ 852 h 414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62696" h="4142426">
                <a:moveTo>
                  <a:pt x="2463597" y="852"/>
                </a:moveTo>
                <a:cubicBezTo>
                  <a:pt x="2953209" y="-11864"/>
                  <a:pt x="3438129" y="118070"/>
                  <a:pt x="3855788" y="373889"/>
                </a:cubicBezTo>
                <a:lnTo>
                  <a:pt x="3862696" y="378597"/>
                </a:lnTo>
                <a:lnTo>
                  <a:pt x="3862696" y="4142426"/>
                </a:lnTo>
                <a:lnTo>
                  <a:pt x="582470" y="4142426"/>
                </a:lnTo>
                <a:lnTo>
                  <a:pt x="480247" y="4014728"/>
                </a:lnTo>
                <a:cubicBezTo>
                  <a:pt x="430218" y="3945359"/>
                  <a:pt x="383217" y="3872803"/>
                  <a:pt x="339532" y="3797139"/>
                </a:cubicBezTo>
                <a:cubicBezTo>
                  <a:pt x="-359424" y="2586512"/>
                  <a:pt x="55368" y="1038488"/>
                  <a:pt x="1265995" y="339532"/>
                </a:cubicBezTo>
                <a:cubicBezTo>
                  <a:pt x="1644316" y="121108"/>
                  <a:pt x="2055586" y="11449"/>
                  <a:pt x="2463597" y="852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9" name="íš1ídé">
            <a:extLst>
              <a:ext uri="{FF2B5EF4-FFF2-40B4-BE49-F238E27FC236}">
                <a16:creationId xmlns:a16="http://schemas.microsoft.com/office/drawing/2014/main" id="{B739B15F-3C72-A69F-1333-30D120C63313}"/>
              </a:ext>
            </a:extLst>
          </p:cNvPr>
          <p:cNvSpPr/>
          <p:nvPr/>
        </p:nvSpPr>
        <p:spPr>
          <a:xfrm>
            <a:off x="8041239" y="5984511"/>
            <a:ext cx="3138606" cy="901701"/>
          </a:xfrm>
          <a:custGeom>
            <a:avLst/>
            <a:gdLst>
              <a:gd name="connsiteX0" fmla="*/ 1677294 w 3570005"/>
              <a:gd name="connsiteY0" fmla="*/ 2674 h 1025639"/>
              <a:gd name="connsiteX1" fmla="*/ 1888969 w 3570005"/>
              <a:gd name="connsiteY1" fmla="*/ 2685 h 1025639"/>
              <a:gd name="connsiteX2" fmla="*/ 2860682 w 3570005"/>
              <a:gd name="connsiteY2" fmla="*/ 301674 h 1025639"/>
              <a:gd name="connsiteX3" fmla="*/ 3501815 w 3570005"/>
              <a:gd name="connsiteY3" fmla="*/ 915810 h 1025639"/>
              <a:gd name="connsiteX4" fmla="*/ 3570005 w 3570005"/>
              <a:gd name="connsiteY4" fmla="*/ 1025639 h 1025639"/>
              <a:gd name="connsiteX5" fmla="*/ 0 w 3570005"/>
              <a:gd name="connsiteY5" fmla="*/ 1025639 h 1025639"/>
              <a:gd name="connsiteX6" fmla="*/ 18563 w 3570005"/>
              <a:gd name="connsiteY6" fmla="*/ 991614 h 1025639"/>
              <a:gd name="connsiteX7" fmla="*/ 1677294 w 3570005"/>
              <a:gd name="connsiteY7" fmla="*/ 2674 h 1025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70005" h="1025639">
                <a:moveTo>
                  <a:pt x="1677294" y="2674"/>
                </a:moveTo>
                <a:cubicBezTo>
                  <a:pt x="1747070" y="-867"/>
                  <a:pt x="1817689" y="-918"/>
                  <a:pt x="1888969" y="2685"/>
                </a:cubicBezTo>
                <a:cubicBezTo>
                  <a:pt x="2245368" y="20699"/>
                  <a:pt x="2576117" y="127935"/>
                  <a:pt x="2860682" y="301674"/>
                </a:cubicBezTo>
                <a:cubicBezTo>
                  <a:pt x="3116790" y="458038"/>
                  <a:pt x="3335490" y="668271"/>
                  <a:pt x="3501815" y="915810"/>
                </a:cubicBezTo>
                <a:lnTo>
                  <a:pt x="3570005" y="1025639"/>
                </a:lnTo>
                <a:lnTo>
                  <a:pt x="0" y="1025639"/>
                </a:lnTo>
                <a:lnTo>
                  <a:pt x="18563" y="991614"/>
                </a:lnTo>
                <a:cubicBezTo>
                  <a:pt x="366041" y="422483"/>
                  <a:pt x="979532" y="38085"/>
                  <a:pt x="1677294" y="2674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îsļiḋé">
            <a:extLst>
              <a:ext uri="{FF2B5EF4-FFF2-40B4-BE49-F238E27FC236}">
                <a16:creationId xmlns:a16="http://schemas.microsoft.com/office/drawing/2014/main" id="{EE0C60D9-6E82-C1CC-F0C4-E8757A8399A1}"/>
              </a:ext>
            </a:extLst>
          </p:cNvPr>
          <p:cNvSpPr/>
          <p:nvPr/>
        </p:nvSpPr>
        <p:spPr>
          <a:xfrm>
            <a:off x="1325460" y="1504167"/>
            <a:ext cx="2963120" cy="2142084"/>
          </a:xfrm>
          <a:prstGeom prst="roundRect">
            <a:avLst>
              <a:gd name="adj" fmla="val 815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îṩ1îdê">
            <a:extLst>
              <a:ext uri="{FF2B5EF4-FFF2-40B4-BE49-F238E27FC236}">
                <a16:creationId xmlns:a16="http://schemas.microsoft.com/office/drawing/2014/main" id="{BA7060C1-561F-FB93-CF0D-938AEC4F9F1E}"/>
              </a:ext>
            </a:extLst>
          </p:cNvPr>
          <p:cNvSpPr/>
          <p:nvPr/>
        </p:nvSpPr>
        <p:spPr>
          <a:xfrm>
            <a:off x="4518145" y="3878107"/>
            <a:ext cx="2963120" cy="2106404"/>
          </a:xfrm>
          <a:prstGeom prst="roundRect">
            <a:avLst>
              <a:gd name="adj" fmla="val 8158"/>
            </a:avLst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>
              <a:solidFill>
                <a:schemeClr val="accent1"/>
              </a:solidFill>
            </a:endParaRPr>
          </a:p>
        </p:txBody>
      </p:sp>
      <p:sp>
        <p:nvSpPr>
          <p:cNvPr id="7" name="işḻíḓé">
            <a:extLst>
              <a:ext uri="{FF2B5EF4-FFF2-40B4-BE49-F238E27FC236}">
                <a16:creationId xmlns:a16="http://schemas.microsoft.com/office/drawing/2014/main" id="{A4FAD55F-FE49-ED74-482B-9B324F19469D}"/>
              </a:ext>
            </a:extLst>
          </p:cNvPr>
          <p:cNvSpPr/>
          <p:nvPr/>
        </p:nvSpPr>
        <p:spPr>
          <a:xfrm>
            <a:off x="7735907" y="3878107"/>
            <a:ext cx="2963120" cy="2106404"/>
          </a:xfrm>
          <a:prstGeom prst="roundRect">
            <a:avLst>
              <a:gd name="adj" fmla="val 8158"/>
            </a:avLst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>
              <a:solidFill>
                <a:schemeClr val="accent1"/>
              </a:solidFill>
            </a:endParaRPr>
          </a:p>
        </p:txBody>
      </p:sp>
      <p:sp>
        <p:nvSpPr>
          <p:cNvPr id="8" name="ïṣļïḍé">
            <a:extLst>
              <a:ext uri="{FF2B5EF4-FFF2-40B4-BE49-F238E27FC236}">
                <a16:creationId xmlns:a16="http://schemas.microsoft.com/office/drawing/2014/main" id="{B12AD40F-1DCF-F0E7-ECBB-27DD9019E78D}"/>
              </a:ext>
            </a:extLst>
          </p:cNvPr>
          <p:cNvSpPr/>
          <p:nvPr/>
        </p:nvSpPr>
        <p:spPr>
          <a:xfrm>
            <a:off x="1325460" y="3878107"/>
            <a:ext cx="2963120" cy="2106404"/>
          </a:xfrm>
          <a:prstGeom prst="roundRect">
            <a:avLst>
              <a:gd name="adj" fmla="val 8158"/>
            </a:avLst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>
              <a:solidFill>
                <a:schemeClr val="accent1"/>
              </a:solidFill>
            </a:endParaRPr>
          </a:p>
        </p:txBody>
      </p:sp>
      <p:sp>
        <p:nvSpPr>
          <p:cNvPr id="9" name="ïŝḻïďê">
            <a:extLst>
              <a:ext uri="{FF2B5EF4-FFF2-40B4-BE49-F238E27FC236}">
                <a16:creationId xmlns:a16="http://schemas.microsoft.com/office/drawing/2014/main" id="{63C5F135-BBF7-F5AF-B0FF-94223948B093}"/>
              </a:ext>
            </a:extLst>
          </p:cNvPr>
          <p:cNvSpPr txBox="1"/>
          <p:nvPr/>
        </p:nvSpPr>
        <p:spPr>
          <a:xfrm>
            <a:off x="4726492" y="4182645"/>
            <a:ext cx="18421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</a:rPr>
              <a:t>I:</a:t>
            </a:r>
            <a:r>
              <a:rPr lang="zh-CN" altLang="en-US" sz="2800" b="1" dirty="0">
                <a:solidFill>
                  <a:schemeClr val="accent1"/>
                </a:solidFill>
              </a:rPr>
              <a:t> </a:t>
            </a:r>
            <a:r>
              <a:rPr lang="en-US" altLang="zh-CN" sz="2800" dirty="0">
                <a:solidFill>
                  <a:schemeClr val="accent1"/>
                </a:solidFill>
              </a:rPr>
              <a:t>Insights</a:t>
            </a:r>
            <a:r>
              <a:rPr lang="zh-CN" altLang="en-US" sz="2800" dirty="0">
                <a:solidFill>
                  <a:schemeClr val="accent1"/>
                </a:solidFill>
              </a:rPr>
              <a:t> </a:t>
            </a:r>
            <a:endParaRPr lang="en-US" altLang="zh-CN" sz="2800" dirty="0">
              <a:solidFill>
                <a:schemeClr val="accent1"/>
              </a:solidFill>
            </a:endParaRPr>
          </a:p>
        </p:txBody>
      </p:sp>
      <p:sp>
        <p:nvSpPr>
          <p:cNvPr id="10" name="îṩľïḑè">
            <a:extLst>
              <a:ext uri="{FF2B5EF4-FFF2-40B4-BE49-F238E27FC236}">
                <a16:creationId xmlns:a16="http://schemas.microsoft.com/office/drawing/2014/main" id="{7D80D0B9-5A37-D768-5E30-A826C37B95B7}"/>
              </a:ext>
            </a:extLst>
          </p:cNvPr>
          <p:cNvSpPr txBox="1"/>
          <p:nvPr/>
        </p:nvSpPr>
        <p:spPr>
          <a:xfrm>
            <a:off x="4726491" y="4710352"/>
            <a:ext cx="2657865" cy="1041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67"/>
              </a:lnSpc>
            </a:pPr>
            <a:r>
              <a:rPr lang="en-US" altLang="zh-CN" sz="1200" dirty="0">
                <a:solidFill>
                  <a:srgbClr val="4A4A4A"/>
                </a:solidFill>
              </a:rPr>
              <a:t>Leverage payment data to provide intelligent pricing recommendations, cost optimization insights, and Agent performance analytics.</a:t>
            </a:r>
            <a:endParaRPr lang="en-US" altLang="zh-CN" sz="1200" dirty="0"/>
          </a:p>
        </p:txBody>
      </p:sp>
      <p:sp>
        <p:nvSpPr>
          <p:cNvPr id="11" name="îśļíḓé">
            <a:extLst>
              <a:ext uri="{FF2B5EF4-FFF2-40B4-BE49-F238E27FC236}">
                <a16:creationId xmlns:a16="http://schemas.microsoft.com/office/drawing/2014/main" id="{B32B2F0E-DD9E-F2E9-296A-8D1A735FFA4E}"/>
              </a:ext>
            </a:extLst>
          </p:cNvPr>
          <p:cNvSpPr txBox="1"/>
          <p:nvPr/>
        </p:nvSpPr>
        <p:spPr>
          <a:xfrm>
            <a:off x="7934149" y="4182645"/>
            <a:ext cx="21451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</a:rPr>
              <a:t>D:</a:t>
            </a:r>
            <a:r>
              <a:rPr lang="zh-CN" altLang="en-US" sz="2800" b="1" dirty="0">
                <a:solidFill>
                  <a:schemeClr val="accent1"/>
                </a:solidFill>
              </a:rPr>
              <a:t> </a:t>
            </a:r>
            <a:r>
              <a:rPr lang="en-US" altLang="zh-CN" sz="2800" dirty="0">
                <a:solidFill>
                  <a:schemeClr val="accent1"/>
                </a:solidFill>
              </a:rPr>
              <a:t>Diligence</a:t>
            </a:r>
            <a:endParaRPr lang="en-US" altLang="zh-CN" sz="2800" b="1" dirty="0">
              <a:solidFill>
                <a:schemeClr val="accent1"/>
              </a:solidFill>
            </a:endParaRPr>
          </a:p>
        </p:txBody>
      </p:sp>
      <p:sp>
        <p:nvSpPr>
          <p:cNvPr id="12" name="îSļíďê">
            <a:extLst>
              <a:ext uri="{FF2B5EF4-FFF2-40B4-BE49-F238E27FC236}">
                <a16:creationId xmlns:a16="http://schemas.microsoft.com/office/drawing/2014/main" id="{8D95E2A5-A05F-80B7-CEFB-DD4C43487CA5}"/>
              </a:ext>
            </a:extLst>
          </p:cNvPr>
          <p:cNvSpPr txBox="1"/>
          <p:nvPr/>
        </p:nvSpPr>
        <p:spPr>
          <a:xfrm>
            <a:off x="7934148" y="4710352"/>
            <a:ext cx="2525209" cy="797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67"/>
              </a:lnSpc>
            </a:pPr>
            <a:r>
              <a:rPr lang="en-US" altLang="zh-CN" sz="1200" dirty="0">
                <a:solidFill>
                  <a:srgbClr val="4A4A4A"/>
                </a:solidFill>
              </a:rPr>
              <a:t>A multi-layered evaluation system (KYA</a:t>
            </a:r>
            <a:r>
              <a:rPr lang="zh-CN" altLang="en-US" sz="1200" dirty="0">
                <a:solidFill>
                  <a:srgbClr val="4A4A4A"/>
                </a:solidFill>
              </a:rPr>
              <a:t> </a:t>
            </a:r>
            <a:r>
              <a:rPr lang="en-US" altLang="zh-CN" sz="1200" dirty="0">
                <a:solidFill>
                  <a:srgbClr val="4A4A4A"/>
                </a:solidFill>
              </a:rPr>
              <a:t>–</a:t>
            </a:r>
            <a:r>
              <a:rPr lang="zh-CN" altLang="en-US" sz="1200" dirty="0">
                <a:solidFill>
                  <a:srgbClr val="4A4A4A"/>
                </a:solidFill>
              </a:rPr>
              <a:t> </a:t>
            </a:r>
            <a:r>
              <a:rPr lang="en-US" altLang="zh-CN" sz="1200" dirty="0">
                <a:solidFill>
                  <a:srgbClr val="4A4A4A"/>
                </a:solidFill>
              </a:rPr>
              <a:t>Know</a:t>
            </a:r>
            <a:r>
              <a:rPr lang="zh-CN" altLang="en-US" sz="1200" dirty="0">
                <a:solidFill>
                  <a:srgbClr val="4A4A4A"/>
                </a:solidFill>
              </a:rPr>
              <a:t> </a:t>
            </a:r>
            <a:r>
              <a:rPr lang="en-US" altLang="zh-CN" sz="1200" dirty="0">
                <a:solidFill>
                  <a:srgbClr val="4A4A4A"/>
                </a:solidFill>
              </a:rPr>
              <a:t>Your</a:t>
            </a:r>
            <a:r>
              <a:rPr lang="zh-CN" altLang="en-US" sz="1200" dirty="0">
                <a:solidFill>
                  <a:srgbClr val="4A4A4A"/>
                </a:solidFill>
              </a:rPr>
              <a:t> </a:t>
            </a:r>
            <a:r>
              <a:rPr lang="en-US" altLang="zh-CN" sz="1200" dirty="0">
                <a:solidFill>
                  <a:srgbClr val="4A4A4A"/>
                </a:solidFill>
              </a:rPr>
              <a:t>Agent) ensuring every transaction is secure. </a:t>
            </a:r>
            <a:endParaRPr lang="en-US" altLang="zh-CN" sz="1200" dirty="0"/>
          </a:p>
        </p:txBody>
      </p:sp>
      <p:sp>
        <p:nvSpPr>
          <p:cNvPr id="13" name="íŝḷîḍè">
            <a:extLst>
              <a:ext uri="{FF2B5EF4-FFF2-40B4-BE49-F238E27FC236}">
                <a16:creationId xmlns:a16="http://schemas.microsoft.com/office/drawing/2014/main" id="{7732317F-D66E-CA2D-AE4B-3B0090F78313}"/>
              </a:ext>
            </a:extLst>
          </p:cNvPr>
          <p:cNvSpPr txBox="1"/>
          <p:nvPr/>
        </p:nvSpPr>
        <p:spPr>
          <a:xfrm>
            <a:off x="1569173" y="4182645"/>
            <a:ext cx="17695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</a:rPr>
              <a:t>A:</a:t>
            </a:r>
            <a:r>
              <a:rPr lang="zh-CN" altLang="en-US" sz="2800" b="1" dirty="0">
                <a:solidFill>
                  <a:schemeClr val="accent1"/>
                </a:solidFill>
              </a:rPr>
              <a:t> </a:t>
            </a:r>
            <a:r>
              <a:rPr lang="en-US" altLang="zh-CN" sz="2800" dirty="0">
                <a:solidFill>
                  <a:schemeClr val="accent1"/>
                </a:solidFill>
              </a:rPr>
              <a:t>Agent</a:t>
            </a:r>
            <a:r>
              <a:rPr lang="zh-CN" altLang="en-US" sz="2800" b="1" dirty="0">
                <a:solidFill>
                  <a:schemeClr val="accent1"/>
                </a:solidFill>
              </a:rPr>
              <a:t> </a:t>
            </a:r>
            <a:endParaRPr lang="en-US" altLang="zh-CN" sz="2800" b="1" dirty="0">
              <a:solidFill>
                <a:schemeClr val="accent1"/>
              </a:solidFill>
            </a:endParaRPr>
          </a:p>
        </p:txBody>
      </p:sp>
      <p:sp>
        <p:nvSpPr>
          <p:cNvPr id="14" name="ïṣḷïdè">
            <a:extLst>
              <a:ext uri="{FF2B5EF4-FFF2-40B4-BE49-F238E27FC236}">
                <a16:creationId xmlns:a16="http://schemas.microsoft.com/office/drawing/2014/main" id="{E48915CE-5CF5-7974-F3B8-9435CD24A00A}"/>
              </a:ext>
            </a:extLst>
          </p:cNvPr>
          <p:cNvSpPr txBox="1"/>
          <p:nvPr/>
        </p:nvSpPr>
        <p:spPr>
          <a:xfrm>
            <a:off x="1569172" y="4710352"/>
            <a:ext cx="2525209" cy="103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67"/>
              </a:lnSpc>
            </a:pPr>
            <a:r>
              <a:rPr lang="en-US" altLang="zh-CN" sz="1200" dirty="0">
                <a:solidFill>
                  <a:srgbClr val="4A4A4A"/>
                </a:solidFill>
              </a:rPr>
              <a:t>Precisely track and attribute every cost to the originating Agent, task, or customer. Full visibility into cost sources and destinations.</a:t>
            </a:r>
            <a:endParaRPr lang="en-US" altLang="zh-CN" sz="1200" dirty="0"/>
          </a:p>
        </p:txBody>
      </p:sp>
      <p:sp>
        <p:nvSpPr>
          <p:cNvPr id="15" name="îṧľidé">
            <a:extLst>
              <a:ext uri="{FF2B5EF4-FFF2-40B4-BE49-F238E27FC236}">
                <a16:creationId xmlns:a16="http://schemas.microsoft.com/office/drawing/2014/main" id="{3CFC3E4C-11FC-C88C-7E8C-F271AE73F936}"/>
              </a:ext>
            </a:extLst>
          </p:cNvPr>
          <p:cNvSpPr txBox="1"/>
          <p:nvPr/>
        </p:nvSpPr>
        <p:spPr>
          <a:xfrm>
            <a:off x="1569173" y="1827667"/>
            <a:ext cx="2241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P</a:t>
            </a:r>
            <a:r>
              <a:rPr lang="en-US" altLang="zh-CN" sz="2800" b="1" dirty="0">
                <a:solidFill>
                  <a:srgbClr val="FFFFFF"/>
                </a:solidFill>
              </a:rPr>
              <a:t>:</a:t>
            </a:r>
            <a:r>
              <a:rPr lang="zh-CN" altLang="en-US" sz="2800" b="1" dirty="0">
                <a:solidFill>
                  <a:srgbClr val="FFFFFF"/>
                </a:solidFill>
              </a:rPr>
              <a:t> </a:t>
            </a:r>
            <a:r>
              <a:rPr lang="en-US" altLang="zh-CN" sz="2800" dirty="0">
                <a:solidFill>
                  <a:srgbClr val="FFFFFF"/>
                </a:solidFill>
              </a:rPr>
              <a:t>Payment</a:t>
            </a:r>
            <a:r>
              <a:rPr lang="zh-CN" altLang="en-US" sz="2800" dirty="0">
                <a:solidFill>
                  <a:srgbClr val="FFFFFF"/>
                </a:solidFill>
              </a:rPr>
              <a:t> </a:t>
            </a:r>
            <a:endParaRPr kumimoji="0" lang="en-US" altLang="zh-CN" sz="28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16" name="îśľîḓè">
            <a:extLst>
              <a:ext uri="{FF2B5EF4-FFF2-40B4-BE49-F238E27FC236}">
                <a16:creationId xmlns:a16="http://schemas.microsoft.com/office/drawing/2014/main" id="{E8F9B1E5-1E76-5C21-3AE3-8F26295E89D0}"/>
              </a:ext>
            </a:extLst>
          </p:cNvPr>
          <p:cNvSpPr txBox="1"/>
          <p:nvPr/>
        </p:nvSpPr>
        <p:spPr>
          <a:xfrm>
            <a:off x="1569172" y="2355374"/>
            <a:ext cx="2525209" cy="1179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rgbClr val="FFFFFF"/>
                </a:solidFill>
              </a:rPr>
              <a:t>A robust, multi-rail payment network supporting </a:t>
            </a:r>
            <a:r>
              <a:rPr lang="en-US" altLang="zh-CN" sz="1200" b="1" u="sng" dirty="0">
                <a:solidFill>
                  <a:srgbClr val="FFFFFF"/>
                </a:solidFill>
              </a:rPr>
              <a:t>stablecoins</a:t>
            </a:r>
            <a:r>
              <a:rPr lang="en-US" altLang="zh-CN" sz="1200" b="1" dirty="0">
                <a:solidFill>
                  <a:srgbClr val="FFFFFF"/>
                </a:solidFill>
              </a:rPr>
              <a:t>,</a:t>
            </a:r>
            <a:r>
              <a:rPr lang="en-US" altLang="zh-CN" sz="1200" dirty="0">
                <a:solidFill>
                  <a:srgbClr val="FFFFFF"/>
                </a:solidFill>
              </a:rPr>
              <a:t> </a:t>
            </a:r>
            <a:r>
              <a:rPr lang="en-US" altLang="zh-CN" sz="1200" b="1" u="sng" dirty="0">
                <a:solidFill>
                  <a:srgbClr val="FFFFFF"/>
                </a:solidFill>
              </a:rPr>
              <a:t>fiat currency</a:t>
            </a:r>
            <a:r>
              <a:rPr lang="en-US" altLang="zh-CN" sz="1200" dirty="0">
                <a:solidFill>
                  <a:srgbClr val="FFFFFF"/>
                </a:solidFill>
              </a:rPr>
              <a:t>, and traditional </a:t>
            </a:r>
            <a:r>
              <a:rPr lang="en-US" altLang="zh-CN" sz="1200" b="1" u="sng" dirty="0">
                <a:solidFill>
                  <a:srgbClr val="FFFFFF"/>
                </a:solidFill>
              </a:rPr>
              <a:t>banking systems</a:t>
            </a:r>
            <a:r>
              <a:rPr lang="en-US" altLang="zh-CN" sz="1200" dirty="0">
                <a:solidFill>
                  <a:srgbClr val="FFFFFF"/>
                </a:solidFill>
              </a:rPr>
              <a:t>. Built for global, instant transactions.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5B29055-3ECF-1845-2DCE-93F54C861419}"/>
              </a:ext>
            </a:extLst>
          </p:cNvPr>
          <p:cNvSpPr txBox="1"/>
          <p:nvPr/>
        </p:nvSpPr>
        <p:spPr>
          <a:xfrm>
            <a:off x="660400" y="251188"/>
            <a:ext cx="50561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kern="0" spc="-1" dirty="0">
                <a:solidFill>
                  <a:srgbClr val="0A0A0A"/>
                </a:solidFill>
              </a:rPr>
              <a:t>Our</a:t>
            </a:r>
            <a:r>
              <a:rPr lang="zh-CN" altLang="en-US" sz="3200" b="1" kern="0" spc="-1" dirty="0">
                <a:solidFill>
                  <a:srgbClr val="0A0A0A"/>
                </a:solidFill>
              </a:rPr>
              <a:t> </a:t>
            </a:r>
            <a:r>
              <a:rPr lang="en-US" altLang="zh-CN" sz="3200" b="1" kern="0" spc="-1" dirty="0">
                <a:solidFill>
                  <a:srgbClr val="0A0A0A"/>
                </a:solidFill>
              </a:rPr>
              <a:t>Agentic Pay: P.A.I.D.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CB942E-020A-9C08-3A79-813AA35964C3}"/>
              </a:ext>
            </a:extLst>
          </p:cNvPr>
          <p:cNvSpPr txBox="1"/>
          <p:nvPr/>
        </p:nvSpPr>
        <p:spPr>
          <a:xfrm>
            <a:off x="4726491" y="1622954"/>
            <a:ext cx="70842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Making Every AI Transaction </a:t>
            </a:r>
          </a:p>
          <a:p>
            <a:r>
              <a:rPr lang="en-US" altLang="zh-CN" sz="2800" b="1" dirty="0">
                <a:solidFill>
                  <a:srgbClr val="0053F9"/>
                </a:solidFill>
              </a:rPr>
              <a:t>Trustworthy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39E9595-FF85-FB0D-E5D7-07CD137E9F1D}"/>
              </a:ext>
            </a:extLst>
          </p:cNvPr>
          <p:cNvSpPr txBox="1"/>
          <p:nvPr/>
        </p:nvSpPr>
        <p:spPr>
          <a:xfrm>
            <a:off x="7223564" y="2658046"/>
            <a:ext cx="33992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 Opacity to Transparency, </a:t>
            </a:r>
          </a:p>
          <a:p>
            <a:pPr algn="r"/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Reactive to Intelligent, </a:t>
            </a:r>
          </a:p>
          <a:p>
            <a:pPr algn="r"/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Risk to Trust</a:t>
            </a:r>
            <a:r>
              <a:rPr kumimoji="1"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kumimoji="1"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îṩ1îdê">
            <a:extLst>
              <a:ext uri="{FF2B5EF4-FFF2-40B4-BE49-F238E27FC236}">
                <a16:creationId xmlns:a16="http://schemas.microsoft.com/office/drawing/2014/main" id="{D563BF06-9A22-C5E9-408C-B9188BA0ACD3}"/>
              </a:ext>
            </a:extLst>
          </p:cNvPr>
          <p:cNvSpPr/>
          <p:nvPr/>
        </p:nvSpPr>
        <p:spPr>
          <a:xfrm>
            <a:off x="4532292" y="1538598"/>
            <a:ext cx="6165470" cy="2106404"/>
          </a:xfrm>
          <a:prstGeom prst="roundRect">
            <a:avLst>
              <a:gd name="adj" fmla="val 8158"/>
            </a:avLst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>
              <a:solidFill>
                <a:schemeClr val="accent1"/>
              </a:solidFill>
            </a:endParaRPr>
          </a:p>
        </p:txBody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11ED7265-FBE5-C017-6772-980CB1CC9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926" y="3119711"/>
            <a:ext cx="304800" cy="304800"/>
          </a:xfrm>
          <a:prstGeom prst="rect">
            <a:avLst/>
          </a:prstGeom>
        </p:spPr>
      </p:pic>
      <p:pic>
        <p:nvPicPr>
          <p:cNvPr id="26" name="Image 3" descr="preencoded.png">
            <a:extLst>
              <a:ext uri="{FF2B5EF4-FFF2-40B4-BE49-F238E27FC236}">
                <a16:creationId xmlns:a16="http://schemas.microsoft.com/office/drawing/2014/main" id="{AFD1BB39-99E0-73B2-2713-C5D4A7E53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777" y="3127296"/>
            <a:ext cx="304800" cy="304800"/>
          </a:xfrm>
          <a:prstGeom prst="rect">
            <a:avLst/>
          </a:prstGeom>
        </p:spPr>
      </p:pic>
      <p:pic>
        <p:nvPicPr>
          <p:cNvPr id="27" name="Image 2" descr="preencoded.png">
            <a:extLst>
              <a:ext uri="{FF2B5EF4-FFF2-40B4-BE49-F238E27FC236}">
                <a16:creationId xmlns:a16="http://schemas.microsoft.com/office/drawing/2014/main" id="{AE9A6523-4F8D-5B13-13F8-7BBDAB60C7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9205" y="3119711"/>
            <a:ext cx="381000" cy="304800"/>
          </a:xfrm>
          <a:prstGeom prst="rect">
            <a:avLst/>
          </a:prstGeom>
        </p:spPr>
      </p:pic>
      <p:pic>
        <p:nvPicPr>
          <p:cNvPr id="28" name="Image 4" descr="preencoded.png">
            <a:extLst>
              <a:ext uri="{FF2B5EF4-FFF2-40B4-BE49-F238E27FC236}">
                <a16:creationId xmlns:a16="http://schemas.microsoft.com/office/drawing/2014/main" id="{A34A9182-1AFA-0B44-04A0-314CED5757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205" y="2993946"/>
            <a:ext cx="571500" cy="571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69326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ṡlïḋê">
          <a:extLst>
            <a:ext uri="{FF2B5EF4-FFF2-40B4-BE49-F238E27FC236}">
              <a16:creationId xmlns:a16="http://schemas.microsoft.com/office/drawing/2014/main" id="{9E7D85E2-2684-7980-8232-93A943C61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>
            <a:extLst>
              <a:ext uri="{FF2B5EF4-FFF2-40B4-BE49-F238E27FC236}">
                <a16:creationId xmlns:a16="http://schemas.microsoft.com/office/drawing/2014/main" id="{BB23A7C8-4E4E-4463-5521-9723C6626FC5}"/>
              </a:ext>
            </a:extLst>
          </p:cNvPr>
          <p:cNvSpPr/>
          <p:nvPr/>
        </p:nvSpPr>
        <p:spPr>
          <a:xfrm>
            <a:off x="540555" y="3099224"/>
            <a:ext cx="11110890" cy="63712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9A388B3A-F29A-1B2A-726C-F589571B13A6}"/>
              </a:ext>
            </a:extLst>
          </p:cNvPr>
          <p:cNvSpPr/>
          <p:nvPr/>
        </p:nvSpPr>
        <p:spPr>
          <a:xfrm>
            <a:off x="2562897" y="2940140"/>
            <a:ext cx="2356834" cy="3193960"/>
          </a:xfrm>
          <a:prstGeom prst="roundRect">
            <a:avLst>
              <a:gd name="adj" fmla="val 743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4" name="íṡľîďe">
            <a:extLst>
              <a:ext uri="{FF2B5EF4-FFF2-40B4-BE49-F238E27FC236}">
                <a16:creationId xmlns:a16="http://schemas.microsoft.com/office/drawing/2014/main" id="{2006A9EA-BAB1-B6A5-DE43-87CF0B440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488218"/>
              </p:ext>
            </p:extLst>
          </p:nvPr>
        </p:nvGraphicFramePr>
        <p:xfrm>
          <a:off x="673101" y="3156241"/>
          <a:ext cx="10845799" cy="27731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9796">
                  <a:extLst>
                    <a:ext uri="{9D8B030D-6E8A-4147-A177-3AD203B41FA5}">
                      <a16:colId xmlns:a16="http://schemas.microsoft.com/office/drawing/2014/main" val="1468096354"/>
                    </a:ext>
                  </a:extLst>
                </a:gridCol>
                <a:gridCol w="2356834">
                  <a:extLst>
                    <a:ext uri="{9D8B030D-6E8A-4147-A177-3AD203B41FA5}">
                      <a16:colId xmlns:a16="http://schemas.microsoft.com/office/drawing/2014/main" val="1237564200"/>
                    </a:ext>
                  </a:extLst>
                </a:gridCol>
                <a:gridCol w="1970467">
                  <a:extLst>
                    <a:ext uri="{9D8B030D-6E8A-4147-A177-3AD203B41FA5}">
                      <a16:colId xmlns:a16="http://schemas.microsoft.com/office/drawing/2014/main" val="1402997039"/>
                    </a:ext>
                  </a:extLst>
                </a:gridCol>
                <a:gridCol w="2408349">
                  <a:extLst>
                    <a:ext uri="{9D8B030D-6E8A-4147-A177-3AD203B41FA5}">
                      <a16:colId xmlns:a16="http://schemas.microsoft.com/office/drawing/2014/main" val="3613636216"/>
                    </a:ext>
                  </a:extLst>
                </a:gridCol>
                <a:gridCol w="2220353">
                  <a:extLst>
                    <a:ext uri="{9D8B030D-6E8A-4147-A177-3AD203B41FA5}">
                      <a16:colId xmlns:a16="http://schemas.microsoft.com/office/drawing/2014/main" val="2378357999"/>
                    </a:ext>
                  </a:extLst>
                </a:gridCol>
              </a:tblGrid>
              <a:tr h="5690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effectLst/>
                        </a:rPr>
                        <a:t>Feature</a:t>
                      </a:r>
                      <a:endParaRPr lang="en-US" altLang="zh-CN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</a:rPr>
                        <a:t>Agentic</a:t>
                      </a:r>
                      <a:r>
                        <a:rPr kumimoji="0" lang="zh-CN" alt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kumimoji="0" lang="en-US" altLang="zh-CN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</a:rPr>
                        <a:t>Pay</a:t>
                      </a:r>
                      <a:endParaRPr lang="zh-CN" alt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</a:rPr>
                        <a:t>Bank</a:t>
                      </a:r>
                      <a:r>
                        <a:rPr kumimoji="0" lang="zh-CN" alt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kumimoji="0" lang="en-US" altLang="zh-CN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</a:rPr>
                        <a:t>Transfer</a:t>
                      </a:r>
                      <a:endParaRPr lang="zh-CN" alt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</a:rPr>
                        <a:t>PayPal/Strip</a:t>
                      </a:r>
                      <a:endParaRPr lang="zh-CN" alt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effectLst/>
                        </a:rPr>
                        <a:t>Bitcoin</a:t>
                      </a:r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effectLst/>
                        </a:rPr>
                        <a:t> </a:t>
                      </a:r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effectLst/>
                        </a:rPr>
                        <a:t>Layer1</a:t>
                      </a:r>
                      <a:endParaRPr lang="en-US" altLang="zh-CN" sz="1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067070"/>
                  </a:ext>
                </a:extLst>
              </a:tr>
              <a:tr h="545340"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Average Fee</a:t>
                      </a:r>
                      <a:endParaRPr kumimoji="0" lang="en-US" altLang="zh-CN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&lt; $0.0001</a:t>
                      </a:r>
                      <a:endParaRPr kumimoji="0" lang="zh-CN" altLang="en-US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3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$0.30 + 2.9%</a:t>
                      </a:r>
                      <a:endParaRPr kumimoji="0" lang="en-US" altLang="zh-CN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~3% + markup</a:t>
                      </a:r>
                      <a:endParaRPr kumimoji="0" lang="en-US" altLang="zh-CN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$1–$5 + gas</a:t>
                      </a:r>
                      <a:endParaRPr kumimoji="0" lang="en-US" altLang="zh-CN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4535755"/>
                  </a:ext>
                </a:extLst>
              </a:tr>
              <a:tr h="520647"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Settlement Finality</a:t>
                      </a:r>
                      <a:endParaRPr lang="zh-CN" alt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~2 seconds</a:t>
                      </a:r>
                      <a:endParaRPr kumimoji="0" lang="en-US" altLang="zh-CN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3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Days (batch)</a:t>
                      </a:r>
                      <a:endParaRPr kumimoji="0" lang="en-US" altLang="zh-CN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4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Instant authorization, days for net settlement</a:t>
                      </a:r>
                      <a:endParaRPr kumimoji="0" lang="en-US" altLang="zh-CN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~1–2 minutes for confirmations</a:t>
                      </a:r>
                      <a:endParaRPr kumimoji="0" lang="en-US" altLang="zh-CN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7555006"/>
                  </a:ext>
                </a:extLst>
              </a:tr>
              <a:tr h="569059"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Chargebacks</a:t>
                      </a:r>
                      <a:endParaRPr lang="zh-CN" alt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No</a:t>
                      </a:r>
                      <a:endParaRPr kumimoji="0" lang="en-US" altLang="zh-CN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3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Yes, up to 120 days</a:t>
                      </a:r>
                    </a:p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 (batch)</a:t>
                      </a:r>
                      <a:endParaRPr kumimoji="0" lang="en-US" altLang="zh-CN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Yes</a:t>
                      </a:r>
                      <a:endParaRPr kumimoji="0" lang="en-US" altLang="zh-CN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Not reversible</a:t>
                      </a:r>
                      <a:endParaRPr kumimoji="0" lang="en-US" altLang="zh-CN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08437291"/>
                  </a:ext>
                </a:extLst>
              </a:tr>
              <a:tr h="569059"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Scalability (TPS)</a:t>
                      </a:r>
                      <a:endParaRPr lang="zh-CN" alt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Hundreds to thousands TPS</a:t>
                      </a:r>
                      <a:endParaRPr kumimoji="0" lang="en-US" altLang="zh-CN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3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24,000 TPS globally</a:t>
                      </a:r>
                      <a:endParaRPr kumimoji="0" lang="en-US" altLang="zh-CN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Varies; limited by account/provider</a:t>
                      </a:r>
                      <a:endParaRPr kumimoji="0" lang="en-US" altLang="zh-CN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400" b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</a:rPr>
                        <a:t>~15–20 TPS</a:t>
                      </a:r>
                      <a:endParaRPr kumimoji="0" lang="en-US" altLang="zh-CN" sz="14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7378123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2864FD91-8EAD-AAC9-57C1-FA27B10E87D1}"/>
              </a:ext>
            </a:extLst>
          </p:cNvPr>
          <p:cNvSpPr txBox="1"/>
          <p:nvPr/>
        </p:nvSpPr>
        <p:spPr>
          <a:xfrm>
            <a:off x="660400" y="251188"/>
            <a:ext cx="84887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kern="0" spc="-1" dirty="0">
                <a:solidFill>
                  <a:srgbClr val="0A0A0A"/>
                </a:solidFill>
              </a:rPr>
              <a:t>Stablecoins Enable Instant, Low-Cost Payments </a:t>
            </a:r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D6E0C31E-621C-9BCE-B920-3B96CB497C1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alphaModFix/>
          </a:blip>
          <a:stretch>
            <a:fillRect/>
          </a:stretch>
        </p:blipFill>
        <p:spPr>
          <a:xfrm>
            <a:off x="673101" y="1540794"/>
            <a:ext cx="427238" cy="427238"/>
          </a:xfrm>
          <a:prstGeom prst="rect">
            <a:avLst/>
          </a:prstGeom>
          <a:noFill/>
        </p:spPr>
      </p:pic>
      <p:sp>
        <p:nvSpPr>
          <p:cNvPr id="11" name="Text 23">
            <a:extLst>
              <a:ext uri="{FF2B5EF4-FFF2-40B4-BE49-F238E27FC236}">
                <a16:creationId xmlns:a16="http://schemas.microsoft.com/office/drawing/2014/main" id="{6665300F-5D3C-C6EC-1767-A623197D61D2}"/>
              </a:ext>
            </a:extLst>
          </p:cNvPr>
          <p:cNvSpPr/>
          <p:nvPr/>
        </p:nvSpPr>
        <p:spPr>
          <a:xfrm>
            <a:off x="1279931" y="1580698"/>
            <a:ext cx="1793953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2000" b="1" dirty="0">
                <a:solidFill>
                  <a:srgbClr val="0A0A0A"/>
                </a:solidFill>
              </a:rPr>
              <a:t>Web</a:t>
            </a:r>
            <a:r>
              <a:rPr lang="en-US" altLang="zh-CN" sz="2000" b="1" dirty="0">
                <a:solidFill>
                  <a:srgbClr val="0A0A0A"/>
                </a:solidFill>
              </a:rPr>
              <a:t>3.0</a:t>
            </a:r>
            <a:r>
              <a:rPr lang="en-US" sz="2000" b="1" dirty="0">
                <a:solidFill>
                  <a:srgbClr val="0A0A0A"/>
                </a:solidFill>
              </a:rPr>
              <a:t> Native</a:t>
            </a:r>
            <a:endParaRPr lang="en-US" sz="2000" dirty="0"/>
          </a:p>
        </p:txBody>
      </p:sp>
      <p:sp>
        <p:nvSpPr>
          <p:cNvPr id="12" name="Text 24">
            <a:extLst>
              <a:ext uri="{FF2B5EF4-FFF2-40B4-BE49-F238E27FC236}">
                <a16:creationId xmlns:a16="http://schemas.microsoft.com/office/drawing/2014/main" id="{4AA2693B-FDD4-1544-FA21-CCDA429B1C8C}"/>
              </a:ext>
            </a:extLst>
          </p:cNvPr>
          <p:cNvSpPr/>
          <p:nvPr/>
        </p:nvSpPr>
        <p:spPr>
          <a:xfrm>
            <a:off x="1279931" y="1945171"/>
            <a:ext cx="2930288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dirty="0">
                <a:solidFill>
                  <a:srgbClr val="666666"/>
                </a:solidFill>
              </a:rPr>
              <a:t>One universal payment rail for Agents in any country.</a:t>
            </a:r>
            <a:endParaRPr lang="en-US" dirty="0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143FC7A5-78A9-FCDD-7983-5E84432C22F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20026" y="1554703"/>
            <a:ext cx="297824" cy="397099"/>
          </a:xfrm>
          <a:prstGeom prst="rect">
            <a:avLst/>
          </a:prstGeom>
          <a:noFill/>
        </p:spPr>
      </p:pic>
      <p:sp>
        <p:nvSpPr>
          <p:cNvPr id="14" name="Text 25">
            <a:extLst>
              <a:ext uri="{FF2B5EF4-FFF2-40B4-BE49-F238E27FC236}">
                <a16:creationId xmlns:a16="http://schemas.microsoft.com/office/drawing/2014/main" id="{47B1BDD8-635F-ACE1-EECE-3F7ACAD55615}"/>
              </a:ext>
            </a:extLst>
          </p:cNvPr>
          <p:cNvSpPr/>
          <p:nvPr/>
        </p:nvSpPr>
        <p:spPr>
          <a:xfrm>
            <a:off x="5061564" y="1559543"/>
            <a:ext cx="2010166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2000" b="1" dirty="0">
                <a:solidFill>
                  <a:srgbClr val="0A0A0A"/>
                </a:solidFill>
              </a:rPr>
              <a:t>Lightning</a:t>
            </a:r>
            <a:r>
              <a:rPr lang="zh-CN" altLang="en-US" sz="2000" b="1" dirty="0">
                <a:solidFill>
                  <a:srgbClr val="0A0A0A"/>
                </a:solidFill>
              </a:rPr>
              <a:t> </a:t>
            </a:r>
            <a:r>
              <a:rPr lang="en-US" sz="2000" b="1" dirty="0">
                <a:solidFill>
                  <a:srgbClr val="0A0A0A"/>
                </a:solidFill>
              </a:rPr>
              <a:t>Speed</a:t>
            </a:r>
            <a:endParaRPr lang="en-US" sz="2000" dirty="0"/>
          </a:p>
        </p:txBody>
      </p:sp>
      <p:sp>
        <p:nvSpPr>
          <p:cNvPr id="15" name="Text 26">
            <a:extLst>
              <a:ext uri="{FF2B5EF4-FFF2-40B4-BE49-F238E27FC236}">
                <a16:creationId xmlns:a16="http://schemas.microsoft.com/office/drawing/2014/main" id="{0970180A-8A2F-A4D7-6940-D0926DC05735}"/>
              </a:ext>
            </a:extLst>
          </p:cNvPr>
          <p:cNvSpPr/>
          <p:nvPr/>
        </p:nvSpPr>
        <p:spPr>
          <a:xfrm>
            <a:off x="5061563" y="1935596"/>
            <a:ext cx="2210709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dirty="0">
                <a:solidFill>
                  <a:srgbClr val="666666"/>
                </a:solidFill>
              </a:rPr>
              <a:t>Near‑instant, on‑chain finality</a:t>
            </a:r>
            <a:r>
              <a:rPr lang="en-US" altLang="zh-CN" dirty="0">
                <a:solidFill>
                  <a:srgbClr val="666666"/>
                </a:solidFill>
              </a:rPr>
              <a:t>.</a:t>
            </a:r>
            <a:endParaRPr lang="en-US" dirty="0">
              <a:solidFill>
                <a:srgbClr val="666666"/>
              </a:solidFill>
            </a:endParaRPr>
          </a:p>
        </p:txBody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06B2187B-3329-A531-B572-03F140FD29B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71977" y="1597952"/>
            <a:ext cx="356316" cy="356316"/>
          </a:xfrm>
          <a:prstGeom prst="rect">
            <a:avLst/>
          </a:prstGeom>
          <a:noFill/>
        </p:spPr>
      </p:pic>
      <p:sp>
        <p:nvSpPr>
          <p:cNvPr id="17" name="Text 27">
            <a:extLst>
              <a:ext uri="{FF2B5EF4-FFF2-40B4-BE49-F238E27FC236}">
                <a16:creationId xmlns:a16="http://schemas.microsoft.com/office/drawing/2014/main" id="{B61C6DEC-0FD2-EB2A-A493-780C6211EA80}"/>
              </a:ext>
            </a:extLst>
          </p:cNvPr>
          <p:cNvSpPr/>
          <p:nvPr/>
        </p:nvSpPr>
        <p:spPr>
          <a:xfrm>
            <a:off x="8201084" y="1585374"/>
            <a:ext cx="3102260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000" b="1" dirty="0">
                <a:solidFill>
                  <a:srgbClr val="0A0A0A"/>
                </a:solidFill>
              </a:rPr>
              <a:t>V</a:t>
            </a:r>
            <a:r>
              <a:rPr lang="en-US" sz="2000" b="1" dirty="0">
                <a:solidFill>
                  <a:srgbClr val="0A0A0A"/>
                </a:solidFill>
              </a:rPr>
              <a:t>iable Transaction Ready</a:t>
            </a:r>
            <a:endParaRPr lang="en-US" sz="2000" dirty="0"/>
          </a:p>
        </p:txBody>
      </p:sp>
      <p:sp>
        <p:nvSpPr>
          <p:cNvPr id="18" name="Text 28">
            <a:extLst>
              <a:ext uri="{FF2B5EF4-FFF2-40B4-BE49-F238E27FC236}">
                <a16:creationId xmlns:a16="http://schemas.microsoft.com/office/drawing/2014/main" id="{425C026D-17FE-FBF4-AD10-886458C78BA0}"/>
              </a:ext>
            </a:extLst>
          </p:cNvPr>
          <p:cNvSpPr/>
          <p:nvPr/>
        </p:nvSpPr>
        <p:spPr>
          <a:xfrm>
            <a:off x="8201084" y="1934400"/>
            <a:ext cx="3102260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dirty="0">
                <a:solidFill>
                  <a:srgbClr val="666666"/>
                </a:solidFill>
              </a:rPr>
              <a:t>Economically viable for payments from $0.0</a:t>
            </a:r>
            <a:r>
              <a:rPr lang="en-US" altLang="zh-CN" dirty="0">
                <a:solidFill>
                  <a:srgbClr val="666666"/>
                </a:solidFill>
              </a:rPr>
              <a:t>00</a:t>
            </a:r>
            <a:r>
              <a:rPr lang="en-US" dirty="0">
                <a:solidFill>
                  <a:srgbClr val="666666"/>
                </a:solidFill>
              </a:rPr>
              <a:t>1 to $</a:t>
            </a:r>
            <a:r>
              <a:rPr lang="en-US" altLang="zh-CN" dirty="0">
                <a:solidFill>
                  <a:srgbClr val="666666"/>
                </a:solidFill>
              </a:rPr>
              <a:t>N.</a:t>
            </a:r>
            <a:endParaRPr lang="en-US" dirty="0"/>
          </a:p>
        </p:txBody>
      </p:sp>
      <p:grpSp>
        <p:nvGrpSpPr>
          <p:cNvPr id="19" name="ïsḷîḑe">
            <a:extLst>
              <a:ext uri="{FF2B5EF4-FFF2-40B4-BE49-F238E27FC236}">
                <a16:creationId xmlns:a16="http://schemas.microsoft.com/office/drawing/2014/main" id="{8F48FA73-1EB5-9747-D3E3-962F33E94C4E}"/>
              </a:ext>
            </a:extLst>
          </p:cNvPr>
          <p:cNvGrpSpPr/>
          <p:nvPr/>
        </p:nvGrpSpPr>
        <p:grpSpPr>
          <a:xfrm>
            <a:off x="-17577" y="0"/>
            <a:ext cx="3138606" cy="6883758"/>
            <a:chOff x="-17577" y="0"/>
            <a:chExt cx="3138606" cy="6883758"/>
          </a:xfrm>
        </p:grpSpPr>
        <p:sp>
          <p:nvSpPr>
            <p:cNvPr id="22" name="ïslíḓé">
              <a:extLst>
                <a:ext uri="{FF2B5EF4-FFF2-40B4-BE49-F238E27FC236}">
                  <a16:creationId xmlns:a16="http://schemas.microsoft.com/office/drawing/2014/main" id="{28CDF012-B403-BCDB-1C47-768A4517142B}"/>
                </a:ext>
              </a:extLst>
            </p:cNvPr>
            <p:cNvSpPr/>
            <p:nvPr/>
          </p:nvSpPr>
          <p:spPr>
            <a:xfrm>
              <a:off x="0" y="0"/>
              <a:ext cx="1943706" cy="1425711"/>
            </a:xfrm>
            <a:custGeom>
              <a:avLst/>
              <a:gdLst>
                <a:gd name="connsiteX0" fmla="*/ 0 w 1943706"/>
                <a:gd name="connsiteY0" fmla="*/ 0 h 1425711"/>
                <a:gd name="connsiteX1" fmla="*/ 1943706 w 1943706"/>
                <a:gd name="connsiteY1" fmla="*/ 0 h 1425711"/>
                <a:gd name="connsiteX2" fmla="*/ 1910984 w 1943706"/>
                <a:gd name="connsiteY2" fmla="*/ 102952 h 1425711"/>
                <a:gd name="connsiteX3" fmla="*/ 738480 w 1943706"/>
                <a:gd name="connsiteY3" fmla="*/ 1293296 h 1425711"/>
                <a:gd name="connsiteX4" fmla="*/ 253 w 1943706"/>
                <a:gd name="connsiteY4" fmla="*/ 1425583 h 1425711"/>
                <a:gd name="connsiteX5" fmla="*/ 0 w 1943706"/>
                <a:gd name="connsiteY5" fmla="*/ 1425572 h 1425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43706" h="1425711">
                  <a:moveTo>
                    <a:pt x="0" y="0"/>
                  </a:moveTo>
                  <a:lnTo>
                    <a:pt x="1943706" y="0"/>
                  </a:lnTo>
                  <a:lnTo>
                    <a:pt x="1910984" y="102952"/>
                  </a:lnTo>
                  <a:cubicBezTo>
                    <a:pt x="1718221" y="631734"/>
                    <a:pt x="1305651" y="1077041"/>
                    <a:pt x="738480" y="1293296"/>
                  </a:cubicBezTo>
                  <a:cubicBezTo>
                    <a:pt x="495407" y="1385977"/>
                    <a:pt x="245512" y="1428362"/>
                    <a:pt x="253" y="1425583"/>
                  </a:cubicBezTo>
                  <a:lnTo>
                    <a:pt x="0" y="1425572"/>
                  </a:lnTo>
                  <a:close/>
                </a:path>
              </a:pathLst>
            </a:custGeom>
            <a:gradFill flip="none" rotWithShape="1">
              <a:gsLst>
                <a:gs pos="7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30000"/>
                    <a:lumOff val="70000"/>
                    <a:alpha val="6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1" name="iṡlîdê">
              <a:extLst>
                <a:ext uri="{FF2B5EF4-FFF2-40B4-BE49-F238E27FC236}">
                  <a16:creationId xmlns:a16="http://schemas.microsoft.com/office/drawing/2014/main" id="{1603345E-118F-E9FE-B9C3-81F3AD51746A}"/>
                </a:ext>
              </a:extLst>
            </p:cNvPr>
            <p:cNvSpPr/>
            <p:nvPr/>
          </p:nvSpPr>
          <p:spPr>
            <a:xfrm>
              <a:off x="-17577" y="5982057"/>
              <a:ext cx="3138606" cy="901701"/>
            </a:xfrm>
            <a:custGeom>
              <a:avLst/>
              <a:gdLst>
                <a:gd name="connsiteX0" fmla="*/ 1677294 w 3570005"/>
                <a:gd name="connsiteY0" fmla="*/ 2674 h 1025639"/>
                <a:gd name="connsiteX1" fmla="*/ 1888969 w 3570005"/>
                <a:gd name="connsiteY1" fmla="*/ 2685 h 1025639"/>
                <a:gd name="connsiteX2" fmla="*/ 2860682 w 3570005"/>
                <a:gd name="connsiteY2" fmla="*/ 301674 h 1025639"/>
                <a:gd name="connsiteX3" fmla="*/ 3501815 w 3570005"/>
                <a:gd name="connsiteY3" fmla="*/ 915810 h 1025639"/>
                <a:gd name="connsiteX4" fmla="*/ 3570005 w 3570005"/>
                <a:gd name="connsiteY4" fmla="*/ 1025639 h 1025639"/>
                <a:gd name="connsiteX5" fmla="*/ 0 w 3570005"/>
                <a:gd name="connsiteY5" fmla="*/ 1025639 h 1025639"/>
                <a:gd name="connsiteX6" fmla="*/ 18563 w 3570005"/>
                <a:gd name="connsiteY6" fmla="*/ 991614 h 1025639"/>
                <a:gd name="connsiteX7" fmla="*/ 1677294 w 3570005"/>
                <a:gd name="connsiteY7" fmla="*/ 2674 h 102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70005" h="1025639">
                  <a:moveTo>
                    <a:pt x="1677294" y="2674"/>
                  </a:moveTo>
                  <a:cubicBezTo>
                    <a:pt x="1747070" y="-867"/>
                    <a:pt x="1817689" y="-918"/>
                    <a:pt x="1888969" y="2685"/>
                  </a:cubicBezTo>
                  <a:cubicBezTo>
                    <a:pt x="2245368" y="20699"/>
                    <a:pt x="2576117" y="127935"/>
                    <a:pt x="2860682" y="301674"/>
                  </a:cubicBezTo>
                  <a:cubicBezTo>
                    <a:pt x="3116790" y="458038"/>
                    <a:pt x="3335490" y="668271"/>
                    <a:pt x="3501815" y="915810"/>
                  </a:cubicBezTo>
                  <a:lnTo>
                    <a:pt x="3570005" y="1025639"/>
                  </a:lnTo>
                  <a:lnTo>
                    <a:pt x="0" y="1025639"/>
                  </a:lnTo>
                  <a:lnTo>
                    <a:pt x="18563" y="991614"/>
                  </a:lnTo>
                  <a:cubicBezTo>
                    <a:pt x="366041" y="422483"/>
                    <a:pt x="979532" y="38085"/>
                    <a:pt x="1677294" y="2674"/>
                  </a:cubicBezTo>
                  <a:close/>
                </a:path>
              </a:pathLst>
            </a:custGeom>
            <a:gradFill flip="none" rotWithShape="1">
              <a:gsLst>
                <a:gs pos="7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30000"/>
                    <a:lumOff val="70000"/>
                    <a:alpha val="6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615204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ïṣliḍè">
            <a:extLst>
              <a:ext uri="{FF2B5EF4-FFF2-40B4-BE49-F238E27FC236}">
                <a16:creationId xmlns:a16="http://schemas.microsoft.com/office/drawing/2014/main" id="{8BB9D4E6-8DC7-E1C2-A233-E210A65AAB56}"/>
              </a:ext>
            </a:extLst>
          </p:cNvPr>
          <p:cNvSpPr/>
          <p:nvPr/>
        </p:nvSpPr>
        <p:spPr>
          <a:xfrm>
            <a:off x="656198" y="1313644"/>
            <a:ext cx="3608581" cy="4631620"/>
          </a:xfrm>
          <a:prstGeom prst="roundRect">
            <a:avLst>
              <a:gd name="adj" fmla="val 10162"/>
            </a:avLst>
          </a:pr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" name="ïṣliḍè">
            <a:extLst>
              <a:ext uri="{FF2B5EF4-FFF2-40B4-BE49-F238E27FC236}">
                <a16:creationId xmlns:a16="http://schemas.microsoft.com/office/drawing/2014/main" id="{6371B0B2-9BC7-F00C-EB86-12B16118A956}"/>
              </a:ext>
            </a:extLst>
          </p:cNvPr>
          <p:cNvSpPr/>
          <p:nvPr/>
        </p:nvSpPr>
        <p:spPr>
          <a:xfrm>
            <a:off x="4442483" y="1313644"/>
            <a:ext cx="3903027" cy="4631620"/>
          </a:xfrm>
          <a:prstGeom prst="roundRect">
            <a:avLst>
              <a:gd name="adj" fmla="val 10162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400" dirty="0">
              <a:solidFill>
                <a:schemeClr val="tx1"/>
              </a:solidFill>
            </a:endParaRPr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8866CBEE-8D3E-E046-C6BB-B15697DE5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88" y="1547620"/>
            <a:ext cx="600336" cy="480267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310666B3-5226-5189-6543-C03DBF65E22B}"/>
              </a:ext>
            </a:extLst>
          </p:cNvPr>
          <p:cNvSpPr/>
          <p:nvPr/>
        </p:nvSpPr>
        <p:spPr>
          <a:xfrm>
            <a:off x="1542873" y="1625571"/>
            <a:ext cx="2392322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2400" b="1" dirty="0">
                <a:solidFill>
                  <a:srgbClr val="4A4A4A"/>
                </a:solidFill>
              </a:rPr>
              <a:t>Traditional SaaS</a:t>
            </a:r>
            <a:endParaRPr lang="en-US" sz="2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CBFA4B1-1A99-5519-6661-53A820A66C68}"/>
              </a:ext>
            </a:extLst>
          </p:cNvPr>
          <p:cNvSpPr/>
          <p:nvPr/>
        </p:nvSpPr>
        <p:spPr>
          <a:xfrm>
            <a:off x="914832" y="2542049"/>
            <a:ext cx="849528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100" kern="0" spc="1" dirty="0">
                <a:solidFill>
                  <a:srgbClr val="666666">
                    <a:alpha val="70000"/>
                  </a:srgbClr>
                </a:solidFill>
              </a:rPr>
              <a:t>Value Anchor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AA7268A-E172-28E1-C6F6-3517B2C147DE}"/>
              </a:ext>
            </a:extLst>
          </p:cNvPr>
          <p:cNvSpPr/>
          <p:nvPr/>
        </p:nvSpPr>
        <p:spPr>
          <a:xfrm>
            <a:off x="914832" y="2715881"/>
            <a:ext cx="2051844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b="1" dirty="0">
                <a:solidFill>
                  <a:srgbClr val="666666"/>
                </a:solidFill>
              </a:rPr>
              <a:t>Access to features</a:t>
            </a:r>
            <a:endParaRPr lang="en-US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EA317E1-2606-ED31-3644-DD16F311E65A}"/>
              </a:ext>
            </a:extLst>
          </p:cNvPr>
          <p:cNvSpPr/>
          <p:nvPr/>
        </p:nvSpPr>
        <p:spPr>
          <a:xfrm>
            <a:off x="914832" y="3044493"/>
            <a:ext cx="910699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100" kern="0" spc="1" dirty="0">
                <a:solidFill>
                  <a:srgbClr val="666666">
                    <a:alpha val="70000"/>
                  </a:srgbClr>
                </a:solidFill>
              </a:rPr>
              <a:t>Unit of Charge</a:t>
            </a: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A5C9E1C-F633-10E2-ACBB-D6252C9E347F}"/>
              </a:ext>
            </a:extLst>
          </p:cNvPr>
          <p:cNvSpPr/>
          <p:nvPr/>
        </p:nvSpPr>
        <p:spPr>
          <a:xfrm>
            <a:off x="914832" y="3218325"/>
            <a:ext cx="2154436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b="1" dirty="0">
                <a:solidFill>
                  <a:srgbClr val="666666"/>
                </a:solidFill>
              </a:rPr>
              <a:t>Per seat, per month</a:t>
            </a:r>
            <a:endParaRPr lang="en-US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703B61A-7EE0-D405-F587-D7FFEFE1564C}"/>
              </a:ext>
            </a:extLst>
          </p:cNvPr>
          <p:cNvSpPr/>
          <p:nvPr/>
        </p:nvSpPr>
        <p:spPr>
          <a:xfrm>
            <a:off x="914832" y="3546937"/>
            <a:ext cx="901081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100" kern="0" spc="1" dirty="0">
                <a:solidFill>
                  <a:srgbClr val="666666">
                    <a:alpha val="70000"/>
                  </a:srgbClr>
                </a:solidFill>
              </a:rPr>
              <a:t>Cost Structure</a:t>
            </a:r>
            <a:endParaRPr lang="en-US" sz="11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F1EAFFE-1EA0-4CCF-1C16-8817CF048C62}"/>
              </a:ext>
            </a:extLst>
          </p:cNvPr>
          <p:cNvSpPr/>
          <p:nvPr/>
        </p:nvSpPr>
        <p:spPr>
          <a:xfrm>
            <a:off x="914833" y="3720769"/>
            <a:ext cx="2744341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b="1" dirty="0">
                <a:solidFill>
                  <a:srgbClr val="666666"/>
                </a:solidFill>
              </a:rPr>
              <a:t>High fixed, zero marginal</a:t>
            </a:r>
            <a:endParaRPr lang="en-US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FADBAB3-84A7-3C8B-90B5-D44BB579089E}"/>
              </a:ext>
            </a:extLst>
          </p:cNvPr>
          <p:cNvSpPr/>
          <p:nvPr/>
        </p:nvSpPr>
        <p:spPr>
          <a:xfrm>
            <a:off x="914832" y="4049381"/>
            <a:ext cx="811184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100" kern="0" spc="1" dirty="0">
                <a:solidFill>
                  <a:srgbClr val="666666">
                    <a:alpha val="70000"/>
                  </a:srgbClr>
                </a:solidFill>
              </a:rPr>
              <a:t>Pricing Logic</a:t>
            </a:r>
            <a:endParaRPr lang="en-US" sz="11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E1E81467-7ED8-32B4-4810-3F6BCFF599EF}"/>
              </a:ext>
            </a:extLst>
          </p:cNvPr>
          <p:cNvSpPr/>
          <p:nvPr/>
        </p:nvSpPr>
        <p:spPr>
          <a:xfrm>
            <a:off x="914832" y="4223212"/>
            <a:ext cx="1974900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b="1" dirty="0">
                <a:solidFill>
                  <a:srgbClr val="666666"/>
                </a:solidFill>
              </a:rPr>
              <a:t>Competitor-based</a:t>
            </a:r>
            <a:endParaRPr 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B1419D59-571A-B65C-45A4-33AB091F056E}"/>
              </a:ext>
            </a:extLst>
          </p:cNvPr>
          <p:cNvCxnSpPr/>
          <p:nvPr/>
        </p:nvCxnSpPr>
        <p:spPr>
          <a:xfrm>
            <a:off x="885852" y="2120921"/>
            <a:ext cx="304934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40BEF13D-0175-3B52-20B8-366960018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030" y="1505250"/>
            <a:ext cx="592084" cy="473665"/>
          </a:xfrm>
          <a:prstGeom prst="rect">
            <a:avLst/>
          </a:prstGeom>
        </p:spPr>
      </p:pic>
      <p:sp>
        <p:nvSpPr>
          <p:cNvPr id="21" name="Text 17">
            <a:extLst>
              <a:ext uri="{FF2B5EF4-FFF2-40B4-BE49-F238E27FC236}">
                <a16:creationId xmlns:a16="http://schemas.microsoft.com/office/drawing/2014/main" id="{E29F1728-8989-EF17-5E14-A2D55D57B2E7}"/>
              </a:ext>
            </a:extLst>
          </p:cNvPr>
          <p:cNvSpPr/>
          <p:nvPr/>
        </p:nvSpPr>
        <p:spPr>
          <a:xfrm>
            <a:off x="5429984" y="1608452"/>
            <a:ext cx="2453813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zh-CN" altLang="en-US" sz="2400" b="1" dirty="0">
                <a:solidFill>
                  <a:srgbClr val="0053F9"/>
                </a:solidFill>
              </a:rPr>
              <a:t> </a:t>
            </a:r>
            <a:r>
              <a:rPr lang="en-US" sz="2400" b="1" dirty="0">
                <a:solidFill>
                  <a:srgbClr val="0053F9"/>
                </a:solidFill>
              </a:rPr>
              <a:t>AI Agent Pricing</a:t>
            </a:r>
            <a:endParaRPr lang="en-US" sz="2400" dirty="0">
              <a:solidFill>
                <a:srgbClr val="0053F9"/>
              </a:solidFill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255EC24B-D2E4-FB27-67EF-5A718125FB5B}"/>
              </a:ext>
            </a:extLst>
          </p:cNvPr>
          <p:cNvSpPr/>
          <p:nvPr/>
        </p:nvSpPr>
        <p:spPr>
          <a:xfrm>
            <a:off x="4818232" y="2546144"/>
            <a:ext cx="849528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100" kern="0" spc="1" dirty="0">
                <a:solidFill>
                  <a:srgbClr val="0A0A0A">
                    <a:alpha val="70000"/>
                  </a:srgbClr>
                </a:solidFill>
              </a:rPr>
              <a:t>Value Anchor</a:t>
            </a:r>
            <a:endParaRPr lang="en-US" sz="11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C7AF4116-8337-E91F-96C5-B79A35DF2A20}"/>
              </a:ext>
            </a:extLst>
          </p:cNvPr>
          <p:cNvSpPr/>
          <p:nvPr/>
        </p:nvSpPr>
        <p:spPr>
          <a:xfrm>
            <a:off x="4818233" y="2719976"/>
            <a:ext cx="2090316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b="1" dirty="0">
                <a:solidFill>
                  <a:srgbClr val="0053F9"/>
                </a:solidFill>
              </a:rPr>
              <a:t>Quality of outcome</a:t>
            </a:r>
            <a:endParaRPr lang="en-US" dirty="0">
              <a:solidFill>
                <a:srgbClr val="0053F9"/>
              </a:solidFill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41138BFB-C3E5-3DAF-1E61-4C44AB5E87D0}"/>
              </a:ext>
            </a:extLst>
          </p:cNvPr>
          <p:cNvSpPr/>
          <p:nvPr/>
        </p:nvSpPr>
        <p:spPr>
          <a:xfrm>
            <a:off x="4818232" y="3048588"/>
            <a:ext cx="910699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100" kern="0" spc="1" dirty="0">
                <a:solidFill>
                  <a:srgbClr val="0A0A0A">
                    <a:alpha val="70000"/>
                  </a:srgbClr>
                </a:solidFill>
              </a:rPr>
              <a:t>Unit of Charge</a:t>
            </a:r>
            <a:endParaRPr lang="en-US" sz="11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4A443A51-74EF-EDB3-630C-867AC9F5C7CB}"/>
              </a:ext>
            </a:extLst>
          </p:cNvPr>
          <p:cNvSpPr/>
          <p:nvPr/>
        </p:nvSpPr>
        <p:spPr>
          <a:xfrm>
            <a:off x="4818232" y="3222420"/>
            <a:ext cx="2321148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b="1" dirty="0">
                <a:solidFill>
                  <a:srgbClr val="0A0A0A"/>
                </a:solidFill>
              </a:rPr>
              <a:t>Per successful result</a:t>
            </a:r>
            <a:endParaRPr lang="en-US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9893CF4F-4758-FB8C-5BBE-F31CCDAB32FB}"/>
              </a:ext>
            </a:extLst>
          </p:cNvPr>
          <p:cNvSpPr/>
          <p:nvPr/>
        </p:nvSpPr>
        <p:spPr>
          <a:xfrm>
            <a:off x="4818232" y="3551032"/>
            <a:ext cx="901081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100" kern="0" spc="1" dirty="0">
                <a:solidFill>
                  <a:srgbClr val="0A0A0A">
                    <a:alpha val="70000"/>
                  </a:srgbClr>
                </a:solidFill>
              </a:rPr>
              <a:t>Cost Structure</a:t>
            </a:r>
            <a:endParaRPr lang="en-US" sz="110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13654940-8139-43CB-25D5-527A2FD464E8}"/>
              </a:ext>
            </a:extLst>
          </p:cNvPr>
          <p:cNvSpPr/>
          <p:nvPr/>
        </p:nvSpPr>
        <p:spPr>
          <a:xfrm>
            <a:off x="4818232" y="3724864"/>
            <a:ext cx="2577693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b="1" dirty="0">
                <a:solidFill>
                  <a:srgbClr val="0A0A0A"/>
                </a:solidFill>
              </a:rPr>
              <a:t>Variable compute</a:t>
            </a:r>
            <a:r>
              <a:rPr lang="zh-CN" altLang="en-US" b="1" dirty="0">
                <a:solidFill>
                  <a:srgbClr val="0A0A0A"/>
                </a:solidFill>
              </a:rPr>
              <a:t> </a:t>
            </a:r>
            <a:r>
              <a:rPr lang="en-US" altLang="zh-CN" b="1" dirty="0"/>
              <a:t>costs</a:t>
            </a: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DE2BBF8D-C540-BF86-97B7-9167B281CD40}"/>
              </a:ext>
            </a:extLst>
          </p:cNvPr>
          <p:cNvSpPr/>
          <p:nvPr/>
        </p:nvSpPr>
        <p:spPr>
          <a:xfrm>
            <a:off x="4818232" y="4053475"/>
            <a:ext cx="811184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100" kern="0" spc="1" dirty="0">
                <a:solidFill>
                  <a:srgbClr val="0A0A0A">
                    <a:alpha val="70000"/>
                  </a:srgbClr>
                </a:solidFill>
              </a:rPr>
              <a:t>Pricing Logic</a:t>
            </a:r>
            <a:endParaRPr lang="en-US" sz="11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7D46295A-DB61-9A3C-E550-ED9B0581CE52}"/>
              </a:ext>
            </a:extLst>
          </p:cNvPr>
          <p:cNvSpPr/>
          <p:nvPr/>
        </p:nvSpPr>
        <p:spPr>
          <a:xfrm>
            <a:off x="4818233" y="4227308"/>
            <a:ext cx="3094822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b="1" dirty="0">
                <a:solidFill>
                  <a:srgbClr val="0A0A0A"/>
                </a:solidFill>
              </a:rPr>
              <a:t>Quantify value created by AI</a:t>
            </a:r>
          </a:p>
        </p:txBody>
      </p: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93FF4962-7CA9-B0A0-8299-D5004C488B08}"/>
              </a:ext>
            </a:extLst>
          </p:cNvPr>
          <p:cNvCxnSpPr/>
          <p:nvPr/>
        </p:nvCxnSpPr>
        <p:spPr>
          <a:xfrm>
            <a:off x="4792232" y="2120921"/>
            <a:ext cx="3049343" cy="0"/>
          </a:xfrm>
          <a:prstGeom prst="line">
            <a:avLst/>
          </a:prstGeom>
          <a:ln w="12700">
            <a:solidFill>
              <a:srgbClr val="0053F9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1B2AA259-CDB6-F20B-35D8-D8F056EEB0EF}"/>
              </a:ext>
            </a:extLst>
          </p:cNvPr>
          <p:cNvSpPr txBox="1"/>
          <p:nvPr/>
        </p:nvSpPr>
        <p:spPr>
          <a:xfrm>
            <a:off x="660400" y="251188"/>
            <a:ext cx="8863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kern="0" spc="-1" dirty="0">
                <a:solidFill>
                  <a:srgbClr val="0A0A0A"/>
                </a:solidFill>
              </a:rPr>
              <a:t>From Renting AI Tools to Buying Agent Outcomes </a:t>
            </a:r>
          </a:p>
        </p:txBody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1A26AE56-DFB8-E8EF-3818-C2FEF9E2D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665" y="4845096"/>
            <a:ext cx="152400" cy="152400"/>
          </a:xfrm>
          <a:prstGeom prst="rect">
            <a:avLst/>
          </a:prstGeom>
        </p:spPr>
      </p:pic>
      <p:sp>
        <p:nvSpPr>
          <p:cNvPr id="33" name="Text 30">
            <a:extLst>
              <a:ext uri="{FF2B5EF4-FFF2-40B4-BE49-F238E27FC236}">
                <a16:creationId xmlns:a16="http://schemas.microsoft.com/office/drawing/2014/main" id="{52AB7442-06E0-14C8-1E97-C9849D56F90B}"/>
              </a:ext>
            </a:extLst>
          </p:cNvPr>
          <p:cNvSpPr/>
          <p:nvPr/>
        </p:nvSpPr>
        <p:spPr>
          <a:xfrm>
            <a:off x="5071314" y="4817712"/>
            <a:ext cx="1192891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Value Alignment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4" name="Image 5" descr="preencoded.png">
            <a:extLst>
              <a:ext uri="{FF2B5EF4-FFF2-40B4-BE49-F238E27FC236}">
                <a16:creationId xmlns:a16="http://schemas.microsoft.com/office/drawing/2014/main" id="{DF235825-D6E5-DF80-1071-540486E880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3664" y="5158501"/>
            <a:ext cx="152400" cy="152400"/>
          </a:xfrm>
          <a:prstGeom prst="rect">
            <a:avLst/>
          </a:prstGeom>
        </p:spPr>
      </p:pic>
      <p:sp>
        <p:nvSpPr>
          <p:cNvPr id="35" name="Text 31">
            <a:extLst>
              <a:ext uri="{FF2B5EF4-FFF2-40B4-BE49-F238E27FC236}">
                <a16:creationId xmlns:a16="http://schemas.microsoft.com/office/drawing/2014/main" id="{839053C3-2D52-378D-88BE-9C69B7860C6D}"/>
              </a:ext>
            </a:extLst>
          </p:cNvPr>
          <p:cNvSpPr/>
          <p:nvPr/>
        </p:nvSpPr>
        <p:spPr>
          <a:xfrm>
            <a:off x="5071314" y="5131117"/>
            <a:ext cx="1096454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Risk Mitigation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6" name="Image 6" descr="preencoded.png">
            <a:extLst>
              <a:ext uri="{FF2B5EF4-FFF2-40B4-BE49-F238E27FC236}">
                <a16:creationId xmlns:a16="http://schemas.microsoft.com/office/drawing/2014/main" id="{121632EF-D835-1791-5A23-A81F448D75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2232" y="5471906"/>
            <a:ext cx="190500" cy="152400"/>
          </a:xfrm>
          <a:prstGeom prst="rect">
            <a:avLst/>
          </a:prstGeom>
        </p:spPr>
      </p:pic>
      <p:sp>
        <p:nvSpPr>
          <p:cNvPr id="37" name="Text 32">
            <a:extLst>
              <a:ext uri="{FF2B5EF4-FFF2-40B4-BE49-F238E27FC236}">
                <a16:creationId xmlns:a16="http://schemas.microsoft.com/office/drawing/2014/main" id="{86D0B394-9F98-1DE5-4167-C307DEC70D7C}"/>
              </a:ext>
            </a:extLst>
          </p:cNvPr>
          <p:cNvSpPr/>
          <p:nvPr/>
        </p:nvSpPr>
        <p:spPr>
          <a:xfrm>
            <a:off x="5077983" y="5444522"/>
            <a:ext cx="1186222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Shared Success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5" name="燕尾形箭头 54">
            <a:extLst>
              <a:ext uri="{FF2B5EF4-FFF2-40B4-BE49-F238E27FC236}">
                <a16:creationId xmlns:a16="http://schemas.microsoft.com/office/drawing/2014/main" id="{0EAEDDF5-43B9-6F2A-9C90-4DF941A308B8}"/>
              </a:ext>
            </a:extLst>
          </p:cNvPr>
          <p:cNvSpPr/>
          <p:nvPr/>
        </p:nvSpPr>
        <p:spPr>
          <a:xfrm>
            <a:off x="8440759" y="2314426"/>
            <a:ext cx="664767" cy="2527742"/>
          </a:xfrm>
          <a:prstGeom prst="notchedRightArrow">
            <a:avLst>
              <a:gd name="adj1" fmla="val 22487"/>
              <a:gd name="adj2" fmla="val 5581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ïṣliḍè">
            <a:extLst>
              <a:ext uri="{FF2B5EF4-FFF2-40B4-BE49-F238E27FC236}">
                <a16:creationId xmlns:a16="http://schemas.microsoft.com/office/drawing/2014/main" id="{A83CBFD3-1408-6B4A-E322-49507CD82E19}"/>
              </a:ext>
            </a:extLst>
          </p:cNvPr>
          <p:cNvSpPr/>
          <p:nvPr/>
        </p:nvSpPr>
        <p:spPr>
          <a:xfrm>
            <a:off x="9200775" y="1299130"/>
            <a:ext cx="2318125" cy="2833470"/>
          </a:xfrm>
          <a:prstGeom prst="roundRect">
            <a:avLst>
              <a:gd name="adj" fmla="val 10162"/>
            </a:avLst>
          </a:prstGeom>
          <a:noFill/>
          <a:ln w="25400">
            <a:solidFill>
              <a:srgbClr val="0053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7" name="Shape 13">
            <a:extLst>
              <a:ext uri="{FF2B5EF4-FFF2-40B4-BE49-F238E27FC236}">
                <a16:creationId xmlns:a16="http://schemas.microsoft.com/office/drawing/2014/main" id="{ABA0823E-B3D5-E1F4-3FD9-5C345946D16A}"/>
              </a:ext>
            </a:extLst>
          </p:cNvPr>
          <p:cNvSpPr/>
          <p:nvPr/>
        </p:nvSpPr>
        <p:spPr>
          <a:xfrm>
            <a:off x="9338515" y="1515702"/>
            <a:ext cx="349758" cy="349758"/>
          </a:xfrm>
          <a:prstGeom prst="ellipse">
            <a:avLst/>
          </a:prstGeom>
          <a:solidFill>
            <a:srgbClr val="2E3192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012907DC-5333-49F2-6806-BE932EC69C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8744" y="1617715"/>
            <a:ext cx="109300" cy="145733"/>
          </a:xfrm>
          <a:prstGeom prst="rect">
            <a:avLst/>
          </a:prstGeom>
        </p:spPr>
      </p:pic>
      <p:sp>
        <p:nvSpPr>
          <p:cNvPr id="59" name="Text 14">
            <a:extLst>
              <a:ext uri="{FF2B5EF4-FFF2-40B4-BE49-F238E27FC236}">
                <a16:creationId xmlns:a16="http://schemas.microsoft.com/office/drawing/2014/main" id="{0F934CAC-7680-456C-88FA-5B7F1E83AFD5}"/>
              </a:ext>
            </a:extLst>
          </p:cNvPr>
          <p:cNvSpPr/>
          <p:nvPr/>
        </p:nvSpPr>
        <p:spPr>
          <a:xfrm>
            <a:off x="9338515" y="1967473"/>
            <a:ext cx="2197287" cy="213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E3192"/>
                </a:solidFill>
              </a:rPr>
              <a:t>The Outcome Economy</a:t>
            </a:r>
            <a:endParaRPr lang="en-US" sz="1400" dirty="0"/>
          </a:p>
        </p:txBody>
      </p:sp>
      <p:sp>
        <p:nvSpPr>
          <p:cNvPr id="60" name="Text 15">
            <a:extLst>
              <a:ext uri="{FF2B5EF4-FFF2-40B4-BE49-F238E27FC236}">
                <a16:creationId xmlns:a16="http://schemas.microsoft.com/office/drawing/2014/main" id="{01DE7824-C2E5-85BB-FF3F-DD80CC7ED63E}"/>
              </a:ext>
            </a:extLst>
          </p:cNvPr>
          <p:cNvSpPr/>
          <p:nvPr/>
        </p:nvSpPr>
        <p:spPr>
          <a:xfrm>
            <a:off x="9338516" y="2401456"/>
            <a:ext cx="1331342" cy="109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100" kern="0" spc="1" dirty="0">
                <a:solidFill>
                  <a:srgbClr val="2E3192">
                    <a:alpha val="60000"/>
                  </a:srgbClr>
                </a:solidFill>
              </a:rPr>
              <a:t>What you pay for</a:t>
            </a:r>
            <a:endParaRPr lang="en-US" sz="1100" dirty="0"/>
          </a:p>
        </p:txBody>
      </p:sp>
      <p:sp>
        <p:nvSpPr>
          <p:cNvPr id="61" name="Text 16">
            <a:extLst>
              <a:ext uri="{FF2B5EF4-FFF2-40B4-BE49-F238E27FC236}">
                <a16:creationId xmlns:a16="http://schemas.microsoft.com/office/drawing/2014/main" id="{986DB286-20A3-05F5-655D-7A12EB9DB85E}"/>
              </a:ext>
            </a:extLst>
          </p:cNvPr>
          <p:cNvSpPr/>
          <p:nvPr/>
        </p:nvSpPr>
        <p:spPr>
          <a:xfrm>
            <a:off x="9338515" y="2598886"/>
            <a:ext cx="1767633" cy="41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A0A0A"/>
                </a:solidFill>
              </a:rPr>
              <a:t>Completed Tasks &amp; Results</a:t>
            </a:r>
            <a:endParaRPr lang="en-US" sz="1600" dirty="0"/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6AB415AF-21CA-0EEA-2929-D047311E3EB7}"/>
              </a:ext>
            </a:extLst>
          </p:cNvPr>
          <p:cNvSpPr/>
          <p:nvPr/>
        </p:nvSpPr>
        <p:spPr>
          <a:xfrm>
            <a:off x="9338516" y="3181048"/>
            <a:ext cx="1331342" cy="109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100" kern="0" spc="1" dirty="0">
                <a:solidFill>
                  <a:srgbClr val="2E3192">
                    <a:alpha val="60000"/>
                  </a:srgbClr>
                </a:solidFill>
              </a:rPr>
              <a:t>Efficiency</a:t>
            </a:r>
            <a:endParaRPr lang="en-US" sz="1100" dirty="0"/>
          </a:p>
        </p:txBody>
      </p:sp>
      <p:sp>
        <p:nvSpPr>
          <p:cNvPr id="63" name="Text 20">
            <a:extLst>
              <a:ext uri="{FF2B5EF4-FFF2-40B4-BE49-F238E27FC236}">
                <a16:creationId xmlns:a16="http://schemas.microsoft.com/office/drawing/2014/main" id="{E95B0D99-EDE1-998F-60A9-7E3816F735BF}"/>
              </a:ext>
            </a:extLst>
          </p:cNvPr>
          <p:cNvSpPr/>
          <p:nvPr/>
        </p:nvSpPr>
        <p:spPr>
          <a:xfrm>
            <a:off x="9338516" y="3378478"/>
            <a:ext cx="1767632" cy="41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A0A0A"/>
                </a:solidFill>
              </a:rPr>
              <a:t>100% Utilization (Pay-as-you-go)</a:t>
            </a:r>
            <a:endParaRPr lang="en-US" sz="1600" dirty="0"/>
          </a:p>
        </p:txBody>
      </p:sp>
      <p:sp>
        <p:nvSpPr>
          <p:cNvPr id="64" name="ïṣliḍè">
            <a:extLst>
              <a:ext uri="{FF2B5EF4-FFF2-40B4-BE49-F238E27FC236}">
                <a16:creationId xmlns:a16="http://schemas.microsoft.com/office/drawing/2014/main" id="{2D491D07-1CD3-7434-DAAD-47D926334A2A}"/>
              </a:ext>
            </a:extLst>
          </p:cNvPr>
          <p:cNvSpPr/>
          <p:nvPr/>
        </p:nvSpPr>
        <p:spPr>
          <a:xfrm>
            <a:off x="9217677" y="4304393"/>
            <a:ext cx="2318125" cy="1640871"/>
          </a:xfrm>
          <a:prstGeom prst="roundRect">
            <a:avLst>
              <a:gd name="adj" fmla="val 10162"/>
            </a:avLst>
          </a:prstGeom>
          <a:solidFill>
            <a:srgbClr val="0053F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400" dirty="0">
              <a:solidFill>
                <a:schemeClr val="tx1"/>
              </a:solidFill>
            </a:endParaRPr>
          </a:p>
        </p:txBody>
      </p:sp>
      <p:pic>
        <p:nvPicPr>
          <p:cNvPr id="65" name="Image 5" descr="preencoded.png">
            <a:extLst>
              <a:ext uri="{FF2B5EF4-FFF2-40B4-BE49-F238E27FC236}">
                <a16:creationId xmlns:a16="http://schemas.microsoft.com/office/drawing/2014/main" id="{AF46F739-EE72-FEFE-0F96-02B25F13A8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3902" y="4433004"/>
            <a:ext cx="691824" cy="691824"/>
          </a:xfrm>
          <a:prstGeom prst="rect">
            <a:avLst/>
          </a:prstGeom>
        </p:spPr>
      </p:pic>
      <p:sp>
        <p:nvSpPr>
          <p:cNvPr id="66" name="Text 22">
            <a:extLst>
              <a:ext uri="{FF2B5EF4-FFF2-40B4-BE49-F238E27FC236}">
                <a16:creationId xmlns:a16="http://schemas.microsoft.com/office/drawing/2014/main" id="{59840085-18D0-4A30-2D4F-8D024B32E685}"/>
              </a:ext>
            </a:extLst>
          </p:cNvPr>
          <p:cNvSpPr/>
          <p:nvPr/>
        </p:nvSpPr>
        <p:spPr>
          <a:xfrm>
            <a:off x="9369195" y="5342298"/>
            <a:ext cx="2822805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Stop</a:t>
            </a:r>
            <a:r>
              <a:rPr lang="zh-CN" altLang="en-US" sz="1400" b="1" dirty="0">
                <a:solidFill>
                  <a:srgbClr val="FFFFFF"/>
                </a:solidFill>
              </a:rPr>
              <a:t> </a:t>
            </a:r>
            <a:r>
              <a:rPr lang="en-US" sz="1400" b="1" dirty="0">
                <a:solidFill>
                  <a:srgbClr val="FFFFFF"/>
                </a:solidFill>
              </a:rPr>
              <a:t>paying for ”AI</a:t>
            </a:r>
            <a:r>
              <a:rPr lang="zh-CN" altLang="en-US" sz="1400" b="1" dirty="0">
                <a:solidFill>
                  <a:srgbClr val="FFFFFF"/>
                </a:solidFill>
              </a:rPr>
              <a:t> </a:t>
            </a:r>
            <a:r>
              <a:rPr lang="en-US" altLang="zh-CN" sz="1400" b="1" dirty="0">
                <a:solidFill>
                  <a:srgbClr val="FFFFFF"/>
                </a:solidFill>
              </a:rPr>
              <a:t>Tax</a:t>
            </a:r>
            <a:r>
              <a:rPr lang="en-US" sz="1400" b="1" dirty="0">
                <a:solidFill>
                  <a:srgbClr val="FFFFFF"/>
                </a:solidFill>
              </a:rPr>
              <a:t>" 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Start paying for value</a:t>
            </a:r>
            <a:r>
              <a:rPr lang="en-US" altLang="zh-CN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1BC9D32-8E57-EFAC-0347-2D08397FE24C}"/>
              </a:ext>
            </a:extLst>
          </p:cNvPr>
          <p:cNvSpPr txBox="1"/>
          <p:nvPr/>
        </p:nvSpPr>
        <p:spPr>
          <a:xfrm>
            <a:off x="10359837" y="4364326"/>
            <a:ext cx="139341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i="0" dirty="0">
                <a:solidFill>
                  <a:srgbClr val="FFFFFF"/>
                </a:solidFill>
                <a:effectLst/>
              </a:rPr>
              <a:t>85% </a:t>
            </a:r>
            <a:r>
              <a:rPr lang="en-US" altLang="zh-CN" b="1" i="0" dirty="0">
                <a:solidFill>
                  <a:srgbClr val="FFFFFF"/>
                </a:solidFill>
                <a:effectLst/>
              </a:rPr>
              <a:t>Savings</a:t>
            </a: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70" name="iṡlîdê">
            <a:extLst>
              <a:ext uri="{FF2B5EF4-FFF2-40B4-BE49-F238E27FC236}">
                <a16:creationId xmlns:a16="http://schemas.microsoft.com/office/drawing/2014/main" id="{343BBE24-913C-EDF5-400E-8EF24FB13304}"/>
              </a:ext>
            </a:extLst>
          </p:cNvPr>
          <p:cNvSpPr/>
          <p:nvPr/>
        </p:nvSpPr>
        <p:spPr>
          <a:xfrm>
            <a:off x="7139380" y="5972094"/>
            <a:ext cx="3138606" cy="901701"/>
          </a:xfrm>
          <a:custGeom>
            <a:avLst/>
            <a:gdLst>
              <a:gd name="connsiteX0" fmla="*/ 1677294 w 3570005"/>
              <a:gd name="connsiteY0" fmla="*/ 2674 h 1025639"/>
              <a:gd name="connsiteX1" fmla="*/ 1888969 w 3570005"/>
              <a:gd name="connsiteY1" fmla="*/ 2685 h 1025639"/>
              <a:gd name="connsiteX2" fmla="*/ 2860682 w 3570005"/>
              <a:gd name="connsiteY2" fmla="*/ 301674 h 1025639"/>
              <a:gd name="connsiteX3" fmla="*/ 3501815 w 3570005"/>
              <a:gd name="connsiteY3" fmla="*/ 915810 h 1025639"/>
              <a:gd name="connsiteX4" fmla="*/ 3570005 w 3570005"/>
              <a:gd name="connsiteY4" fmla="*/ 1025639 h 1025639"/>
              <a:gd name="connsiteX5" fmla="*/ 0 w 3570005"/>
              <a:gd name="connsiteY5" fmla="*/ 1025639 h 1025639"/>
              <a:gd name="connsiteX6" fmla="*/ 18563 w 3570005"/>
              <a:gd name="connsiteY6" fmla="*/ 991614 h 1025639"/>
              <a:gd name="connsiteX7" fmla="*/ 1677294 w 3570005"/>
              <a:gd name="connsiteY7" fmla="*/ 2674 h 1025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70005" h="1025639">
                <a:moveTo>
                  <a:pt x="1677294" y="2674"/>
                </a:moveTo>
                <a:cubicBezTo>
                  <a:pt x="1747070" y="-867"/>
                  <a:pt x="1817689" y="-918"/>
                  <a:pt x="1888969" y="2685"/>
                </a:cubicBezTo>
                <a:cubicBezTo>
                  <a:pt x="2245368" y="20699"/>
                  <a:pt x="2576117" y="127935"/>
                  <a:pt x="2860682" y="301674"/>
                </a:cubicBezTo>
                <a:cubicBezTo>
                  <a:pt x="3116790" y="458038"/>
                  <a:pt x="3335490" y="668271"/>
                  <a:pt x="3501815" y="915810"/>
                </a:cubicBezTo>
                <a:lnTo>
                  <a:pt x="3570005" y="1025639"/>
                </a:lnTo>
                <a:lnTo>
                  <a:pt x="0" y="1025639"/>
                </a:lnTo>
                <a:lnTo>
                  <a:pt x="18563" y="991614"/>
                </a:lnTo>
                <a:cubicBezTo>
                  <a:pt x="366041" y="422483"/>
                  <a:pt x="979532" y="38085"/>
                  <a:pt x="1677294" y="2674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1" name="îṡľiḍe">
            <a:extLst>
              <a:ext uri="{FF2B5EF4-FFF2-40B4-BE49-F238E27FC236}">
                <a16:creationId xmlns:a16="http://schemas.microsoft.com/office/drawing/2014/main" id="{6516CD92-43E9-6765-5DCF-2450933B3989}"/>
              </a:ext>
            </a:extLst>
          </p:cNvPr>
          <p:cNvSpPr/>
          <p:nvPr/>
        </p:nvSpPr>
        <p:spPr>
          <a:xfrm rot="10800000" flipH="1">
            <a:off x="9765999" y="0"/>
            <a:ext cx="2438879" cy="2124932"/>
          </a:xfrm>
          <a:custGeom>
            <a:avLst/>
            <a:gdLst>
              <a:gd name="connsiteX0" fmla="*/ 2463597 w 3862696"/>
              <a:gd name="connsiteY0" fmla="*/ 852 h 4142426"/>
              <a:gd name="connsiteX1" fmla="*/ 3855788 w 3862696"/>
              <a:gd name="connsiteY1" fmla="*/ 373889 h 4142426"/>
              <a:gd name="connsiteX2" fmla="*/ 3862696 w 3862696"/>
              <a:gd name="connsiteY2" fmla="*/ 378597 h 4142426"/>
              <a:gd name="connsiteX3" fmla="*/ 3862696 w 3862696"/>
              <a:gd name="connsiteY3" fmla="*/ 4142426 h 4142426"/>
              <a:gd name="connsiteX4" fmla="*/ 582470 w 3862696"/>
              <a:gd name="connsiteY4" fmla="*/ 4142426 h 4142426"/>
              <a:gd name="connsiteX5" fmla="*/ 480247 w 3862696"/>
              <a:gd name="connsiteY5" fmla="*/ 4014728 h 4142426"/>
              <a:gd name="connsiteX6" fmla="*/ 339532 w 3862696"/>
              <a:gd name="connsiteY6" fmla="*/ 3797139 h 4142426"/>
              <a:gd name="connsiteX7" fmla="*/ 1265995 w 3862696"/>
              <a:gd name="connsiteY7" fmla="*/ 339532 h 4142426"/>
              <a:gd name="connsiteX8" fmla="*/ 2463597 w 3862696"/>
              <a:gd name="connsiteY8" fmla="*/ 852 h 414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62696" h="4142426">
                <a:moveTo>
                  <a:pt x="2463597" y="852"/>
                </a:moveTo>
                <a:cubicBezTo>
                  <a:pt x="2953209" y="-11864"/>
                  <a:pt x="3438129" y="118070"/>
                  <a:pt x="3855788" y="373889"/>
                </a:cubicBezTo>
                <a:lnTo>
                  <a:pt x="3862696" y="378597"/>
                </a:lnTo>
                <a:lnTo>
                  <a:pt x="3862696" y="4142426"/>
                </a:lnTo>
                <a:lnTo>
                  <a:pt x="582470" y="4142426"/>
                </a:lnTo>
                <a:lnTo>
                  <a:pt x="480247" y="4014728"/>
                </a:lnTo>
                <a:cubicBezTo>
                  <a:pt x="430218" y="3945359"/>
                  <a:pt x="383217" y="3872803"/>
                  <a:pt x="339532" y="3797139"/>
                </a:cubicBezTo>
                <a:cubicBezTo>
                  <a:pt x="-359424" y="2586512"/>
                  <a:pt x="55368" y="1038488"/>
                  <a:pt x="1265995" y="339532"/>
                </a:cubicBezTo>
                <a:cubicBezTo>
                  <a:pt x="1644316" y="121108"/>
                  <a:pt x="2055586" y="11449"/>
                  <a:pt x="2463597" y="852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67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îṡľiḍe">
            <a:extLst>
              <a:ext uri="{FF2B5EF4-FFF2-40B4-BE49-F238E27FC236}">
                <a16:creationId xmlns:a16="http://schemas.microsoft.com/office/drawing/2014/main" id="{E5B252D4-6A39-2100-7253-4B589E1DA041}"/>
              </a:ext>
            </a:extLst>
          </p:cNvPr>
          <p:cNvSpPr/>
          <p:nvPr/>
        </p:nvSpPr>
        <p:spPr>
          <a:xfrm flipH="1">
            <a:off x="-7303" y="4245373"/>
            <a:ext cx="2854332" cy="2672035"/>
          </a:xfrm>
          <a:custGeom>
            <a:avLst/>
            <a:gdLst>
              <a:gd name="connsiteX0" fmla="*/ 2463597 w 3862696"/>
              <a:gd name="connsiteY0" fmla="*/ 852 h 4142426"/>
              <a:gd name="connsiteX1" fmla="*/ 3855788 w 3862696"/>
              <a:gd name="connsiteY1" fmla="*/ 373889 h 4142426"/>
              <a:gd name="connsiteX2" fmla="*/ 3862696 w 3862696"/>
              <a:gd name="connsiteY2" fmla="*/ 378597 h 4142426"/>
              <a:gd name="connsiteX3" fmla="*/ 3862696 w 3862696"/>
              <a:gd name="connsiteY3" fmla="*/ 4142426 h 4142426"/>
              <a:gd name="connsiteX4" fmla="*/ 582470 w 3862696"/>
              <a:gd name="connsiteY4" fmla="*/ 4142426 h 4142426"/>
              <a:gd name="connsiteX5" fmla="*/ 480247 w 3862696"/>
              <a:gd name="connsiteY5" fmla="*/ 4014728 h 4142426"/>
              <a:gd name="connsiteX6" fmla="*/ 339532 w 3862696"/>
              <a:gd name="connsiteY6" fmla="*/ 3797139 h 4142426"/>
              <a:gd name="connsiteX7" fmla="*/ 1265995 w 3862696"/>
              <a:gd name="connsiteY7" fmla="*/ 339532 h 4142426"/>
              <a:gd name="connsiteX8" fmla="*/ 2463597 w 3862696"/>
              <a:gd name="connsiteY8" fmla="*/ 852 h 414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62696" h="4142426">
                <a:moveTo>
                  <a:pt x="2463597" y="852"/>
                </a:moveTo>
                <a:cubicBezTo>
                  <a:pt x="2953209" y="-11864"/>
                  <a:pt x="3438129" y="118070"/>
                  <a:pt x="3855788" y="373889"/>
                </a:cubicBezTo>
                <a:lnTo>
                  <a:pt x="3862696" y="378597"/>
                </a:lnTo>
                <a:lnTo>
                  <a:pt x="3862696" y="4142426"/>
                </a:lnTo>
                <a:lnTo>
                  <a:pt x="582470" y="4142426"/>
                </a:lnTo>
                <a:lnTo>
                  <a:pt x="480247" y="4014728"/>
                </a:lnTo>
                <a:cubicBezTo>
                  <a:pt x="430218" y="3945359"/>
                  <a:pt x="383217" y="3872803"/>
                  <a:pt x="339532" y="3797139"/>
                </a:cubicBezTo>
                <a:cubicBezTo>
                  <a:pt x="-359424" y="2586512"/>
                  <a:pt x="55368" y="1038488"/>
                  <a:pt x="1265995" y="339532"/>
                </a:cubicBezTo>
                <a:cubicBezTo>
                  <a:pt x="1644316" y="121108"/>
                  <a:pt x="2055586" y="11449"/>
                  <a:pt x="2463597" y="852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  <a:alpha val="19823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5" name="圆角矩形 84">
            <a:extLst>
              <a:ext uri="{FF2B5EF4-FFF2-40B4-BE49-F238E27FC236}">
                <a16:creationId xmlns:a16="http://schemas.microsoft.com/office/drawing/2014/main" id="{EC8F9A91-8C57-1896-7E45-0E3D4DFAF2E8}"/>
              </a:ext>
            </a:extLst>
          </p:cNvPr>
          <p:cNvSpPr/>
          <p:nvPr/>
        </p:nvSpPr>
        <p:spPr>
          <a:xfrm>
            <a:off x="7879808" y="2013775"/>
            <a:ext cx="4065491" cy="4522492"/>
          </a:xfrm>
          <a:prstGeom prst="roundRect">
            <a:avLst>
              <a:gd name="adj" fmla="val 429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329730" sx="99000" sy="99000" algn="t" rotWithShape="0">
              <a:prstClr val="black">
                <a:alpha val="4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1" name="iṣľïḍê">
            <a:extLst>
              <a:ext uri="{FF2B5EF4-FFF2-40B4-BE49-F238E27FC236}">
                <a16:creationId xmlns:a16="http://schemas.microsoft.com/office/drawing/2014/main" id="{C517229D-28E9-0377-11BF-09AD325A6176}"/>
              </a:ext>
            </a:extLst>
          </p:cNvPr>
          <p:cNvGrpSpPr/>
          <p:nvPr/>
        </p:nvGrpSpPr>
        <p:grpSpPr>
          <a:xfrm flipH="1">
            <a:off x="351305" y="2176529"/>
            <a:ext cx="3366194" cy="1814412"/>
            <a:chOff x="8280590" y="4247922"/>
            <a:chExt cx="3366194" cy="1814412"/>
          </a:xfrm>
        </p:grpSpPr>
        <p:sp>
          <p:nvSpPr>
            <p:cNvPr id="13" name="íṩlíďè">
              <a:extLst>
                <a:ext uri="{FF2B5EF4-FFF2-40B4-BE49-F238E27FC236}">
                  <a16:creationId xmlns:a16="http://schemas.microsoft.com/office/drawing/2014/main" id="{05076C7F-B229-FA45-BB4F-AF8A73921CB9}"/>
                </a:ext>
              </a:extLst>
            </p:cNvPr>
            <p:cNvSpPr/>
            <p:nvPr/>
          </p:nvSpPr>
          <p:spPr>
            <a:xfrm>
              <a:off x="8550598" y="4247922"/>
              <a:ext cx="3096186" cy="1814412"/>
            </a:xfrm>
            <a:prstGeom prst="roundRect">
              <a:avLst>
                <a:gd name="adj" fmla="val 10000"/>
              </a:avLst>
            </a:prstGeom>
            <a:solidFill>
              <a:schemeClr val="tx1">
                <a:lumMod val="25000"/>
                <a:lumOff val="75000"/>
                <a:alpha val="20000"/>
              </a:schemeClr>
            </a:solidFill>
            <a:ln w="60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4" name="íṧliḓè">
              <a:extLst>
                <a:ext uri="{FF2B5EF4-FFF2-40B4-BE49-F238E27FC236}">
                  <a16:creationId xmlns:a16="http://schemas.microsoft.com/office/drawing/2014/main" id="{856AF957-AEB2-479B-B04B-D7334A8235F3}"/>
                </a:ext>
              </a:extLst>
            </p:cNvPr>
            <p:cNvGrpSpPr/>
            <p:nvPr/>
          </p:nvGrpSpPr>
          <p:grpSpPr>
            <a:xfrm>
              <a:off x="8890738" y="4400593"/>
              <a:ext cx="2446730" cy="1616383"/>
              <a:chOff x="6432283" y="1778022"/>
              <a:chExt cx="2446730" cy="1616383"/>
            </a:xfrm>
          </p:grpSpPr>
          <p:sp>
            <p:nvSpPr>
              <p:cNvPr id="16" name="íSļîdé">
                <a:extLst>
                  <a:ext uri="{FF2B5EF4-FFF2-40B4-BE49-F238E27FC236}">
                    <a16:creationId xmlns:a16="http://schemas.microsoft.com/office/drawing/2014/main" id="{C4BF98BF-1E8D-30F3-550A-A318482B1649}"/>
                  </a:ext>
                </a:extLst>
              </p:cNvPr>
              <p:cNvSpPr/>
              <p:nvPr/>
            </p:nvSpPr>
            <p:spPr>
              <a:xfrm>
                <a:off x="6432283" y="1778022"/>
                <a:ext cx="1981378" cy="4643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b" anchorCtr="0">
                <a:spAutoFit/>
              </a:bodyPr>
              <a:lstStyle/>
              <a:p>
                <a:pPr algn="r"/>
                <a:r>
                  <a:rPr lang="en-US" altLang="zh-CN" sz="1600" b="1" dirty="0">
                    <a:solidFill>
                      <a:srgbClr val="0A0A0A"/>
                    </a:solidFill>
                  </a:rPr>
                  <a:t>Data Record</a:t>
                </a:r>
                <a:endParaRPr lang="en-US" altLang="zh-CN" sz="1600" dirty="0"/>
              </a:p>
            </p:txBody>
          </p:sp>
          <p:sp>
            <p:nvSpPr>
              <p:cNvPr id="17" name="iŝľíḍe">
                <a:extLst>
                  <a:ext uri="{FF2B5EF4-FFF2-40B4-BE49-F238E27FC236}">
                    <a16:creationId xmlns:a16="http://schemas.microsoft.com/office/drawing/2014/main" id="{339B9747-390A-E580-15D5-6C8469F2270C}"/>
                  </a:ext>
                </a:extLst>
              </p:cNvPr>
              <p:cNvSpPr/>
              <p:nvPr/>
            </p:nvSpPr>
            <p:spPr>
              <a:xfrm>
                <a:off x="6456549" y="2246746"/>
                <a:ext cx="2422464" cy="11476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spAutoFit/>
              </a:bodyPr>
              <a:lstStyle/>
              <a:p>
                <a:pPr marL="285750" indent="-285750" algn="r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400" dirty="0">
                    <a:solidFill>
                      <a:srgbClr val="555555"/>
                    </a:solidFill>
                  </a:rPr>
                  <a:t>Full-Chain Provenance</a:t>
                </a:r>
              </a:p>
              <a:p>
                <a:pPr marL="285750" indent="-285750" algn="r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400" dirty="0">
                    <a:solidFill>
                      <a:srgbClr val="555555"/>
                    </a:solidFill>
                  </a:rPr>
                  <a:t>Granular Attribution</a:t>
                </a:r>
                <a:endParaRPr lang="en-US" altLang="zh-CN" sz="1400" dirty="0"/>
              </a:p>
              <a:p>
                <a:pPr marL="285750" indent="-285750" algn="r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400" dirty="0">
                    <a:solidFill>
                      <a:srgbClr val="555555"/>
                    </a:solidFill>
                  </a:rPr>
                  <a:t>Tamper-Proof</a:t>
                </a:r>
                <a:endParaRPr lang="en-US" altLang="zh-CN" sz="1400" dirty="0"/>
              </a:p>
            </p:txBody>
          </p:sp>
        </p:grpSp>
        <p:sp>
          <p:nvSpPr>
            <p:cNvPr id="15" name="iŝlîḑè">
              <a:extLst>
                <a:ext uri="{FF2B5EF4-FFF2-40B4-BE49-F238E27FC236}">
                  <a16:creationId xmlns:a16="http://schemas.microsoft.com/office/drawing/2014/main" id="{9CF802B2-1F82-90DF-AA6F-D55BEA809B05}"/>
                </a:ext>
              </a:extLst>
            </p:cNvPr>
            <p:cNvSpPr txBox="1"/>
            <p:nvPr/>
          </p:nvSpPr>
          <p:spPr>
            <a:xfrm>
              <a:off x="8280590" y="4869317"/>
              <a:ext cx="540000" cy="540000"/>
            </a:xfrm>
            <a:prstGeom prst="ellipse">
              <a:avLst/>
            </a:prstGeom>
            <a:solidFill>
              <a:schemeClr val="accent1"/>
            </a:solidFill>
          </p:spPr>
          <p:txBody>
            <a:bodyPr wrap="none" lIns="108000" tIns="108000" rIns="108000" bIns="108000" rtlCol="0" anchor="ctr" anchorCtr="0">
              <a:noAutofit/>
            </a:bodyPr>
            <a:lstStyle>
              <a:defPPr>
                <a:defRPr lang="zh-CN"/>
              </a:defPPr>
              <a:lvl1pPr algn="ctr">
                <a:defRPr kumimoji="1" sz="2000" b="1">
                  <a:solidFill>
                    <a:srgbClr val="FFFFFF"/>
                  </a:solidFill>
                </a:defRPr>
              </a:lvl1pPr>
            </a:lstStyle>
            <a:p>
              <a:r>
                <a:rPr lang="en-US" altLang="zh-CN" dirty="0"/>
                <a:t>02</a:t>
              </a:r>
              <a:endParaRPr lang="zh-CN" altLang="en-US" dirty="0"/>
            </a:p>
          </p:txBody>
        </p:sp>
      </p:grpSp>
      <p:grpSp>
        <p:nvGrpSpPr>
          <p:cNvPr id="19" name="ïṩlîde">
            <a:extLst>
              <a:ext uri="{FF2B5EF4-FFF2-40B4-BE49-F238E27FC236}">
                <a16:creationId xmlns:a16="http://schemas.microsoft.com/office/drawing/2014/main" id="{A78D9168-3437-430E-63E1-061C9742E74C}"/>
              </a:ext>
            </a:extLst>
          </p:cNvPr>
          <p:cNvGrpSpPr/>
          <p:nvPr/>
        </p:nvGrpSpPr>
        <p:grpSpPr>
          <a:xfrm>
            <a:off x="4150821" y="1289866"/>
            <a:ext cx="3473470" cy="1814413"/>
            <a:chOff x="8280592" y="4183931"/>
            <a:chExt cx="3473470" cy="1814413"/>
          </a:xfrm>
        </p:grpSpPr>
        <p:sp>
          <p:nvSpPr>
            <p:cNvPr id="21" name="íṩļïḓé">
              <a:extLst>
                <a:ext uri="{FF2B5EF4-FFF2-40B4-BE49-F238E27FC236}">
                  <a16:creationId xmlns:a16="http://schemas.microsoft.com/office/drawing/2014/main" id="{0B1B8D2B-F948-A657-B367-4D945BEA0916}"/>
                </a:ext>
              </a:extLst>
            </p:cNvPr>
            <p:cNvSpPr/>
            <p:nvPr/>
          </p:nvSpPr>
          <p:spPr>
            <a:xfrm>
              <a:off x="8550592" y="4183931"/>
              <a:ext cx="3203470" cy="1814413"/>
            </a:xfrm>
            <a:prstGeom prst="roundRect">
              <a:avLst>
                <a:gd name="adj" fmla="val 10000"/>
              </a:avLst>
            </a:prstGeom>
            <a:solidFill>
              <a:schemeClr val="tx1">
                <a:lumMod val="25000"/>
                <a:lumOff val="75000"/>
                <a:alpha val="20000"/>
              </a:schemeClr>
            </a:solidFill>
            <a:ln w="60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2" name="íš1iḋe">
              <a:extLst>
                <a:ext uri="{FF2B5EF4-FFF2-40B4-BE49-F238E27FC236}">
                  <a16:creationId xmlns:a16="http://schemas.microsoft.com/office/drawing/2014/main" id="{430D7716-6691-AAE2-4EE4-B30ED3D8579A}"/>
                </a:ext>
              </a:extLst>
            </p:cNvPr>
            <p:cNvGrpSpPr/>
            <p:nvPr/>
          </p:nvGrpSpPr>
          <p:grpSpPr>
            <a:xfrm>
              <a:off x="8863920" y="4314331"/>
              <a:ext cx="2276417" cy="1609284"/>
              <a:chOff x="6405465" y="1691760"/>
              <a:chExt cx="2276417" cy="1609284"/>
            </a:xfrm>
          </p:grpSpPr>
          <p:sp>
            <p:nvSpPr>
              <p:cNvPr id="24" name="išlïḍê">
                <a:extLst>
                  <a:ext uri="{FF2B5EF4-FFF2-40B4-BE49-F238E27FC236}">
                    <a16:creationId xmlns:a16="http://schemas.microsoft.com/office/drawing/2014/main" id="{CC1008EF-BB72-B57F-DBD0-45EECAD20195}"/>
                  </a:ext>
                </a:extLst>
              </p:cNvPr>
              <p:cNvSpPr/>
              <p:nvPr/>
            </p:nvSpPr>
            <p:spPr>
              <a:xfrm>
                <a:off x="6421318" y="1691760"/>
                <a:ext cx="2260564" cy="4643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b" anchorCtr="0">
                <a:spAutoFit/>
              </a:bodyPr>
              <a:lstStyle/>
              <a:p>
                <a:r>
                  <a:rPr lang="en-US" altLang="zh-CN" sz="1600" b="1" dirty="0">
                    <a:solidFill>
                      <a:srgbClr val="0A0A0A"/>
                    </a:solidFill>
                  </a:rPr>
                  <a:t>Payment Processing</a:t>
                </a:r>
                <a:endParaRPr kumimoji="1" lang="en-US" altLang="zh-CN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îṩľîḋè">
                <a:extLst>
                  <a:ext uri="{FF2B5EF4-FFF2-40B4-BE49-F238E27FC236}">
                    <a16:creationId xmlns:a16="http://schemas.microsoft.com/office/drawing/2014/main" id="{B0365202-614E-2C9E-BE75-3DAC63008313}"/>
                  </a:ext>
                </a:extLst>
              </p:cNvPr>
              <p:cNvSpPr/>
              <p:nvPr/>
            </p:nvSpPr>
            <p:spPr>
              <a:xfrm>
                <a:off x="6405465" y="2153385"/>
                <a:ext cx="2217235" cy="11476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400" dirty="0">
                    <a:solidFill>
                      <a:srgbClr val="555555"/>
                    </a:solidFill>
                  </a:rPr>
                  <a:t>High-Throughput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400" dirty="0">
                    <a:solidFill>
                      <a:srgbClr val="555555"/>
                    </a:solidFill>
                  </a:rPr>
                  <a:t>Atomic Ledger</a:t>
                </a:r>
                <a:endParaRPr lang="en-US" altLang="zh-CN" sz="14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400" dirty="0">
                    <a:solidFill>
                      <a:srgbClr val="555555"/>
                    </a:solidFill>
                  </a:rPr>
                  <a:t>Real-Time Clearing</a:t>
                </a:r>
                <a:endParaRPr lang="en-US" altLang="zh-CN" sz="1400" dirty="0"/>
              </a:p>
            </p:txBody>
          </p:sp>
        </p:grpSp>
        <p:sp>
          <p:nvSpPr>
            <p:cNvPr id="23" name="iṩļïḑê">
              <a:extLst>
                <a:ext uri="{FF2B5EF4-FFF2-40B4-BE49-F238E27FC236}">
                  <a16:creationId xmlns:a16="http://schemas.microsoft.com/office/drawing/2014/main" id="{2FA613B2-7630-71EB-30AC-D57F8630AF74}"/>
                </a:ext>
              </a:extLst>
            </p:cNvPr>
            <p:cNvSpPr txBox="1"/>
            <p:nvPr/>
          </p:nvSpPr>
          <p:spPr>
            <a:xfrm>
              <a:off x="8280592" y="4800594"/>
              <a:ext cx="540000" cy="540000"/>
            </a:xfrm>
            <a:prstGeom prst="ellipse">
              <a:avLst/>
            </a:prstGeom>
            <a:solidFill>
              <a:schemeClr val="accent1"/>
            </a:solidFill>
          </p:spPr>
          <p:txBody>
            <a:bodyPr wrap="none" lIns="108000" tIns="108000" rIns="108000" bIns="108000" rtlCol="0" anchor="ctr" anchorCtr="0">
              <a:noAutofit/>
            </a:bodyPr>
            <a:lstStyle>
              <a:defPPr>
                <a:defRPr lang="zh-CN"/>
              </a:defPPr>
              <a:lvl1pPr algn="ctr">
                <a:defRPr kumimoji="1" sz="2000" b="1">
                  <a:solidFill>
                    <a:srgbClr val="FFFFFF"/>
                  </a:solidFill>
                </a:defRPr>
              </a:lvl1pPr>
            </a:lstStyle>
            <a:p>
              <a:r>
                <a:rPr lang="en-US" altLang="zh-CN" dirty="0"/>
                <a:t>01</a:t>
              </a:r>
              <a:endParaRPr lang="zh-CN" altLang="en-US" dirty="0"/>
            </a:p>
          </p:txBody>
        </p:sp>
      </p:grpSp>
      <p:cxnSp>
        <p:nvCxnSpPr>
          <p:cNvPr id="35" name="ïšḷïḑê">
            <a:extLst>
              <a:ext uri="{FF2B5EF4-FFF2-40B4-BE49-F238E27FC236}">
                <a16:creationId xmlns:a16="http://schemas.microsoft.com/office/drawing/2014/main" id="{28621C79-DE5E-BD8D-64F6-E4FBFBA3B404}"/>
              </a:ext>
            </a:extLst>
          </p:cNvPr>
          <p:cNvCxnSpPr>
            <a:cxnSpLocks/>
          </p:cNvCxnSpPr>
          <p:nvPr/>
        </p:nvCxnSpPr>
        <p:spPr>
          <a:xfrm>
            <a:off x="3957770" y="2230645"/>
            <a:ext cx="0" cy="853090"/>
          </a:xfrm>
          <a:prstGeom prst="line">
            <a:avLst/>
          </a:prstGeom>
          <a:ln w="25400">
            <a:solidFill>
              <a:schemeClr val="accent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204008EB-CBEC-A0D0-3E2C-35F1161F8C1A}"/>
              </a:ext>
            </a:extLst>
          </p:cNvPr>
          <p:cNvSpPr txBox="1"/>
          <p:nvPr/>
        </p:nvSpPr>
        <p:spPr>
          <a:xfrm>
            <a:off x="660400" y="251188"/>
            <a:ext cx="5828327" cy="5668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733"/>
              </a:lnSpc>
            </a:pPr>
            <a:r>
              <a:rPr lang="en-US" altLang="zh-CN" sz="3200" b="1" kern="0" spc="-1" dirty="0">
                <a:solidFill>
                  <a:srgbClr val="0A0A0A"/>
                </a:solidFill>
              </a:rPr>
              <a:t>Complete Visibility &amp; Control</a:t>
            </a:r>
            <a:endParaRPr lang="en-US" altLang="zh-CN" sz="3200" dirty="0"/>
          </a:p>
        </p:txBody>
      </p:sp>
      <p:pic>
        <p:nvPicPr>
          <p:cNvPr id="37" name="Image 16" descr="preencoded.png">
            <a:extLst>
              <a:ext uri="{FF2B5EF4-FFF2-40B4-BE49-F238E27FC236}">
                <a16:creationId xmlns:a16="http://schemas.microsoft.com/office/drawing/2014/main" id="{A5F129F1-C88D-5049-1789-6398293C20F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68596" y="1347653"/>
            <a:ext cx="499580" cy="499580"/>
          </a:xfrm>
          <a:prstGeom prst="rect">
            <a:avLst/>
          </a:prstGeom>
          <a:noFill/>
        </p:spPr>
      </p:pic>
      <p:pic>
        <p:nvPicPr>
          <p:cNvPr id="38" name="Image 11" descr="preencoded.png">
            <a:extLst>
              <a:ext uri="{FF2B5EF4-FFF2-40B4-BE49-F238E27FC236}">
                <a16:creationId xmlns:a16="http://schemas.microsoft.com/office/drawing/2014/main" id="{9B955B88-2714-42C7-B297-38885D762F0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31610" y="2313084"/>
            <a:ext cx="409520" cy="468025"/>
          </a:xfrm>
          <a:prstGeom prst="rect">
            <a:avLst/>
          </a:prstGeom>
          <a:noFill/>
        </p:spPr>
      </p:pic>
      <p:grpSp>
        <p:nvGrpSpPr>
          <p:cNvPr id="39" name="iṣľïḍê">
            <a:extLst>
              <a:ext uri="{FF2B5EF4-FFF2-40B4-BE49-F238E27FC236}">
                <a16:creationId xmlns:a16="http://schemas.microsoft.com/office/drawing/2014/main" id="{D17CE746-1D31-CABB-D246-567A30F372B2}"/>
              </a:ext>
            </a:extLst>
          </p:cNvPr>
          <p:cNvGrpSpPr/>
          <p:nvPr/>
        </p:nvGrpSpPr>
        <p:grpSpPr>
          <a:xfrm flipH="1">
            <a:off x="351305" y="4492596"/>
            <a:ext cx="3366194" cy="1814412"/>
            <a:chOff x="8280590" y="4247922"/>
            <a:chExt cx="3366194" cy="1814412"/>
          </a:xfrm>
        </p:grpSpPr>
        <p:sp>
          <p:nvSpPr>
            <p:cNvPr id="40" name="íṩlíďè">
              <a:extLst>
                <a:ext uri="{FF2B5EF4-FFF2-40B4-BE49-F238E27FC236}">
                  <a16:creationId xmlns:a16="http://schemas.microsoft.com/office/drawing/2014/main" id="{186912E8-00B9-6EE8-E5B6-BADB891A4C65}"/>
                </a:ext>
              </a:extLst>
            </p:cNvPr>
            <p:cNvSpPr/>
            <p:nvPr/>
          </p:nvSpPr>
          <p:spPr>
            <a:xfrm>
              <a:off x="8550598" y="4247922"/>
              <a:ext cx="3096186" cy="1814412"/>
            </a:xfrm>
            <a:prstGeom prst="roundRect">
              <a:avLst>
                <a:gd name="adj" fmla="val 10000"/>
              </a:avLst>
            </a:prstGeom>
            <a:solidFill>
              <a:schemeClr val="tx1">
                <a:lumMod val="25000"/>
                <a:lumOff val="75000"/>
                <a:alpha val="20000"/>
              </a:schemeClr>
            </a:solidFill>
            <a:ln w="60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41" name="íṧliḓè">
              <a:extLst>
                <a:ext uri="{FF2B5EF4-FFF2-40B4-BE49-F238E27FC236}">
                  <a16:creationId xmlns:a16="http://schemas.microsoft.com/office/drawing/2014/main" id="{8661DCE4-D5CD-1831-ECF8-5754B2E83A5C}"/>
                </a:ext>
              </a:extLst>
            </p:cNvPr>
            <p:cNvGrpSpPr/>
            <p:nvPr/>
          </p:nvGrpSpPr>
          <p:grpSpPr>
            <a:xfrm>
              <a:off x="8890738" y="4268465"/>
              <a:ext cx="2446730" cy="1748511"/>
              <a:chOff x="6432283" y="1645894"/>
              <a:chExt cx="2446730" cy="1748511"/>
            </a:xfrm>
          </p:grpSpPr>
          <p:sp>
            <p:nvSpPr>
              <p:cNvPr id="43" name="íSļîdé">
                <a:extLst>
                  <a:ext uri="{FF2B5EF4-FFF2-40B4-BE49-F238E27FC236}">
                    <a16:creationId xmlns:a16="http://schemas.microsoft.com/office/drawing/2014/main" id="{1F45FD28-A1E8-1CC2-FEC6-EA4ECB430444}"/>
                  </a:ext>
                </a:extLst>
              </p:cNvPr>
              <p:cNvSpPr/>
              <p:nvPr/>
            </p:nvSpPr>
            <p:spPr>
              <a:xfrm>
                <a:off x="6432283" y="1645894"/>
                <a:ext cx="2321740" cy="71055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b" anchorCtr="0">
                <a:spAutoFit/>
              </a:bodyPr>
              <a:lstStyle/>
              <a:p>
                <a:pPr algn="r"/>
                <a:r>
                  <a:rPr lang="en-US" altLang="zh-CN" sz="1600" b="1" dirty="0">
                    <a:solidFill>
                      <a:srgbClr val="0A0A0A"/>
                    </a:solidFill>
                  </a:rPr>
                  <a:t>Financial </a:t>
                </a:r>
              </a:p>
              <a:p>
                <a:pPr algn="r"/>
                <a:r>
                  <a:rPr lang="en-US" altLang="zh-CN" sz="1600" b="1" dirty="0">
                    <a:solidFill>
                      <a:srgbClr val="0A0A0A"/>
                    </a:solidFill>
                  </a:rPr>
                  <a:t>Compliance</a:t>
                </a:r>
              </a:p>
            </p:txBody>
          </p:sp>
          <p:sp>
            <p:nvSpPr>
              <p:cNvPr id="44" name="iŝľíḍe">
                <a:extLst>
                  <a:ext uri="{FF2B5EF4-FFF2-40B4-BE49-F238E27FC236}">
                    <a16:creationId xmlns:a16="http://schemas.microsoft.com/office/drawing/2014/main" id="{8084588C-1326-E6A9-B96D-1AE116C274D4}"/>
                  </a:ext>
                </a:extLst>
              </p:cNvPr>
              <p:cNvSpPr/>
              <p:nvPr/>
            </p:nvSpPr>
            <p:spPr>
              <a:xfrm>
                <a:off x="6456549" y="2246746"/>
                <a:ext cx="2422464" cy="11476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spAutoFit/>
              </a:bodyPr>
              <a:lstStyle/>
              <a:p>
                <a:pPr marL="285750" indent="-285750" algn="r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400" dirty="0">
                    <a:solidFill>
                      <a:srgbClr val="555555"/>
                    </a:solidFill>
                  </a:rPr>
                  <a:t>Automated Accounting</a:t>
                </a:r>
              </a:p>
              <a:p>
                <a:pPr marL="285750" indent="-285750" algn="r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400" dirty="0">
                    <a:solidFill>
                      <a:srgbClr val="555555"/>
                    </a:solidFill>
                  </a:rPr>
                  <a:t>Global Tax Compliance</a:t>
                </a:r>
              </a:p>
              <a:p>
                <a:pPr marL="285750" indent="-285750" algn="r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400" dirty="0">
                    <a:solidFill>
                      <a:srgbClr val="555555"/>
                    </a:solidFill>
                  </a:rPr>
                  <a:t>Audit-Ready Data</a:t>
                </a:r>
              </a:p>
            </p:txBody>
          </p:sp>
        </p:grpSp>
        <p:sp>
          <p:nvSpPr>
            <p:cNvPr id="42" name="iŝlîḑè">
              <a:extLst>
                <a:ext uri="{FF2B5EF4-FFF2-40B4-BE49-F238E27FC236}">
                  <a16:creationId xmlns:a16="http://schemas.microsoft.com/office/drawing/2014/main" id="{BDCD0F83-9255-C8D9-0C82-CA385AAF6675}"/>
                </a:ext>
              </a:extLst>
            </p:cNvPr>
            <p:cNvSpPr txBox="1"/>
            <p:nvPr/>
          </p:nvSpPr>
          <p:spPr>
            <a:xfrm>
              <a:off x="8280590" y="4869317"/>
              <a:ext cx="540000" cy="540000"/>
            </a:xfrm>
            <a:prstGeom prst="ellipse">
              <a:avLst/>
            </a:prstGeom>
            <a:solidFill>
              <a:schemeClr val="accent1"/>
            </a:solidFill>
          </p:spPr>
          <p:txBody>
            <a:bodyPr wrap="none" lIns="108000" tIns="108000" rIns="108000" bIns="108000" rtlCol="0" anchor="ctr" anchorCtr="0">
              <a:noAutofit/>
            </a:bodyPr>
            <a:lstStyle>
              <a:defPPr>
                <a:defRPr lang="zh-CN"/>
              </a:defPPr>
              <a:lvl1pPr algn="ctr">
                <a:defRPr kumimoji="1" sz="2000" b="1">
                  <a:solidFill>
                    <a:srgbClr val="FFFFFF"/>
                  </a:solidFill>
                </a:defRPr>
              </a:lvl1pPr>
            </a:lstStyle>
            <a:p>
              <a:r>
                <a:rPr lang="en-US" altLang="zh-CN" dirty="0"/>
                <a:t>04</a:t>
              </a:r>
              <a:endParaRPr lang="zh-CN" altLang="en-US" dirty="0"/>
            </a:p>
          </p:txBody>
        </p:sp>
      </p:grpSp>
      <p:grpSp>
        <p:nvGrpSpPr>
          <p:cNvPr id="45" name="ïṩlîde">
            <a:extLst>
              <a:ext uri="{FF2B5EF4-FFF2-40B4-BE49-F238E27FC236}">
                <a16:creationId xmlns:a16="http://schemas.microsoft.com/office/drawing/2014/main" id="{E4884DD9-4237-0253-2ABD-329F7749E889}"/>
              </a:ext>
            </a:extLst>
          </p:cNvPr>
          <p:cNvGrpSpPr/>
          <p:nvPr/>
        </p:nvGrpSpPr>
        <p:grpSpPr>
          <a:xfrm>
            <a:off x="4150821" y="3605933"/>
            <a:ext cx="3473470" cy="1814413"/>
            <a:chOff x="8280592" y="4183931"/>
            <a:chExt cx="3473470" cy="1814413"/>
          </a:xfrm>
        </p:grpSpPr>
        <p:sp>
          <p:nvSpPr>
            <p:cNvPr id="46" name="íṩļïḓé">
              <a:extLst>
                <a:ext uri="{FF2B5EF4-FFF2-40B4-BE49-F238E27FC236}">
                  <a16:creationId xmlns:a16="http://schemas.microsoft.com/office/drawing/2014/main" id="{CD2A2B1E-018B-8320-3633-43ACF1064376}"/>
                </a:ext>
              </a:extLst>
            </p:cNvPr>
            <p:cNvSpPr/>
            <p:nvPr/>
          </p:nvSpPr>
          <p:spPr>
            <a:xfrm>
              <a:off x="8550592" y="4183931"/>
              <a:ext cx="3203470" cy="1814413"/>
            </a:xfrm>
            <a:prstGeom prst="roundRect">
              <a:avLst>
                <a:gd name="adj" fmla="val 10000"/>
              </a:avLst>
            </a:prstGeom>
            <a:solidFill>
              <a:schemeClr val="tx1">
                <a:lumMod val="25000"/>
                <a:lumOff val="75000"/>
                <a:alpha val="20000"/>
              </a:schemeClr>
            </a:solidFill>
            <a:ln w="60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47" name="íš1iḋe">
              <a:extLst>
                <a:ext uri="{FF2B5EF4-FFF2-40B4-BE49-F238E27FC236}">
                  <a16:creationId xmlns:a16="http://schemas.microsoft.com/office/drawing/2014/main" id="{E7847F73-EA27-E801-CAFE-144033B4A1AA}"/>
                </a:ext>
              </a:extLst>
            </p:cNvPr>
            <p:cNvGrpSpPr/>
            <p:nvPr/>
          </p:nvGrpSpPr>
          <p:grpSpPr>
            <a:xfrm>
              <a:off x="8863920" y="4359041"/>
              <a:ext cx="2217235" cy="1564574"/>
              <a:chOff x="6405465" y="1736470"/>
              <a:chExt cx="2217235" cy="1564574"/>
            </a:xfrm>
          </p:grpSpPr>
          <p:sp>
            <p:nvSpPr>
              <p:cNvPr id="49" name="išlïḍê">
                <a:extLst>
                  <a:ext uri="{FF2B5EF4-FFF2-40B4-BE49-F238E27FC236}">
                    <a16:creationId xmlns:a16="http://schemas.microsoft.com/office/drawing/2014/main" id="{F9540B2C-AA84-07CE-38CF-98C5FB65E17A}"/>
                  </a:ext>
                </a:extLst>
              </p:cNvPr>
              <p:cNvSpPr/>
              <p:nvPr/>
            </p:nvSpPr>
            <p:spPr>
              <a:xfrm>
                <a:off x="6448790" y="1736470"/>
                <a:ext cx="2173910" cy="4643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b" anchorCtr="0">
                <a:spAutoFit/>
              </a:bodyPr>
              <a:lstStyle/>
              <a:p>
                <a:r>
                  <a:rPr lang="en-US" altLang="zh-CN" sz="1600" b="1" dirty="0">
                    <a:solidFill>
                      <a:srgbClr val="0A0A0A"/>
                    </a:solidFill>
                  </a:rPr>
                  <a:t>Cost Management</a:t>
                </a:r>
              </a:p>
            </p:txBody>
          </p:sp>
          <p:sp>
            <p:nvSpPr>
              <p:cNvPr id="50" name="îṩľîḋè">
                <a:extLst>
                  <a:ext uri="{FF2B5EF4-FFF2-40B4-BE49-F238E27FC236}">
                    <a16:creationId xmlns:a16="http://schemas.microsoft.com/office/drawing/2014/main" id="{11405EC6-35C3-B385-0CC9-C247E0013E70}"/>
                  </a:ext>
                </a:extLst>
              </p:cNvPr>
              <p:cNvSpPr/>
              <p:nvPr/>
            </p:nvSpPr>
            <p:spPr>
              <a:xfrm>
                <a:off x="6405465" y="2153385"/>
                <a:ext cx="2217235" cy="11476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400" dirty="0">
                    <a:solidFill>
                      <a:srgbClr val="555555"/>
                    </a:solidFill>
                  </a:rPr>
                  <a:t>Budget Controls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400" dirty="0">
                    <a:solidFill>
                      <a:srgbClr val="555555"/>
                    </a:solidFill>
                  </a:rPr>
                  <a:t>Anomaly Detection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400" dirty="0">
                    <a:solidFill>
                      <a:srgbClr val="555555"/>
                    </a:solidFill>
                  </a:rPr>
                  <a:t>Optimization Insights</a:t>
                </a:r>
              </a:p>
            </p:txBody>
          </p:sp>
        </p:grpSp>
        <p:sp>
          <p:nvSpPr>
            <p:cNvPr id="48" name="iṩļïḑê">
              <a:extLst>
                <a:ext uri="{FF2B5EF4-FFF2-40B4-BE49-F238E27FC236}">
                  <a16:creationId xmlns:a16="http://schemas.microsoft.com/office/drawing/2014/main" id="{25732070-E46D-A869-12B4-6D66AB5BBAAA}"/>
                </a:ext>
              </a:extLst>
            </p:cNvPr>
            <p:cNvSpPr txBox="1"/>
            <p:nvPr/>
          </p:nvSpPr>
          <p:spPr>
            <a:xfrm>
              <a:off x="8280592" y="4800594"/>
              <a:ext cx="540000" cy="540000"/>
            </a:xfrm>
            <a:prstGeom prst="ellipse">
              <a:avLst/>
            </a:prstGeom>
            <a:solidFill>
              <a:schemeClr val="accent1"/>
            </a:solidFill>
          </p:spPr>
          <p:txBody>
            <a:bodyPr wrap="none" lIns="108000" tIns="108000" rIns="108000" bIns="108000" rtlCol="0" anchor="ctr" anchorCtr="0">
              <a:noAutofit/>
            </a:bodyPr>
            <a:lstStyle>
              <a:defPPr>
                <a:defRPr lang="zh-CN"/>
              </a:defPPr>
              <a:lvl1pPr algn="ctr">
                <a:defRPr kumimoji="1" sz="2000" b="1">
                  <a:solidFill>
                    <a:srgbClr val="FFFFFF"/>
                  </a:solidFill>
                </a:defRPr>
              </a:lvl1pPr>
            </a:lstStyle>
            <a:p>
              <a:r>
                <a:rPr lang="en-US" altLang="zh-CN" dirty="0"/>
                <a:t>03</a:t>
              </a:r>
              <a:endParaRPr lang="zh-CN" altLang="en-US" dirty="0"/>
            </a:p>
          </p:txBody>
        </p:sp>
      </p:grpSp>
      <p:pic>
        <p:nvPicPr>
          <p:cNvPr id="55" name="Image 1" descr="preencoded.png">
            <a:extLst>
              <a:ext uri="{FF2B5EF4-FFF2-40B4-BE49-F238E27FC236}">
                <a16:creationId xmlns:a16="http://schemas.microsoft.com/office/drawing/2014/main" id="{EA9ED36F-BCC2-BDB5-962B-B16B32169F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4559" y="4661602"/>
            <a:ext cx="534616" cy="427696"/>
          </a:xfrm>
          <a:prstGeom prst="rect">
            <a:avLst/>
          </a:prstGeom>
          <a:noFill/>
        </p:spPr>
      </p:pic>
      <p:cxnSp>
        <p:nvCxnSpPr>
          <p:cNvPr id="57" name="ïšḷïḑê">
            <a:extLst>
              <a:ext uri="{FF2B5EF4-FFF2-40B4-BE49-F238E27FC236}">
                <a16:creationId xmlns:a16="http://schemas.microsoft.com/office/drawing/2014/main" id="{FB92A158-468F-2169-E197-AB91D88F2B60}"/>
              </a:ext>
            </a:extLst>
          </p:cNvPr>
          <p:cNvCxnSpPr>
            <a:cxnSpLocks/>
          </p:cNvCxnSpPr>
          <p:nvPr/>
        </p:nvCxnSpPr>
        <p:spPr>
          <a:xfrm>
            <a:off x="3957770" y="3083735"/>
            <a:ext cx="0" cy="1429404"/>
          </a:xfrm>
          <a:prstGeom prst="line">
            <a:avLst/>
          </a:prstGeom>
          <a:ln w="25400">
            <a:solidFill>
              <a:schemeClr val="accent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ïšḷïḑê">
            <a:extLst>
              <a:ext uri="{FF2B5EF4-FFF2-40B4-BE49-F238E27FC236}">
                <a16:creationId xmlns:a16="http://schemas.microsoft.com/office/drawing/2014/main" id="{5BB70891-4CD7-2079-21AC-B7FF386DDF24}"/>
              </a:ext>
            </a:extLst>
          </p:cNvPr>
          <p:cNvCxnSpPr>
            <a:cxnSpLocks/>
          </p:cNvCxnSpPr>
          <p:nvPr/>
        </p:nvCxnSpPr>
        <p:spPr>
          <a:xfrm>
            <a:off x="3959581" y="4492596"/>
            <a:ext cx="0" cy="907206"/>
          </a:xfrm>
          <a:prstGeom prst="line">
            <a:avLst/>
          </a:prstGeom>
          <a:ln w="25400">
            <a:solidFill>
              <a:schemeClr val="accent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ïšḷïḑê">
            <a:extLst>
              <a:ext uri="{FF2B5EF4-FFF2-40B4-BE49-F238E27FC236}">
                <a16:creationId xmlns:a16="http://schemas.microsoft.com/office/drawing/2014/main" id="{183EBDFF-EC13-8376-DDA0-6A6102FAE680}"/>
              </a:ext>
            </a:extLst>
          </p:cNvPr>
          <p:cNvCxnSpPr>
            <a:cxnSpLocks/>
          </p:cNvCxnSpPr>
          <p:nvPr/>
        </p:nvCxnSpPr>
        <p:spPr>
          <a:xfrm>
            <a:off x="3959581" y="5420346"/>
            <a:ext cx="0" cy="1429404"/>
          </a:xfrm>
          <a:prstGeom prst="line">
            <a:avLst/>
          </a:prstGeom>
          <a:ln w="25400">
            <a:solidFill>
              <a:schemeClr val="accent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 13">
            <a:extLst>
              <a:ext uri="{FF2B5EF4-FFF2-40B4-BE49-F238E27FC236}">
                <a16:creationId xmlns:a16="http://schemas.microsoft.com/office/drawing/2014/main" id="{C2C1B114-4918-4C35-2446-47B5ABF90C63}"/>
              </a:ext>
            </a:extLst>
          </p:cNvPr>
          <p:cNvSpPr/>
          <p:nvPr/>
        </p:nvSpPr>
        <p:spPr>
          <a:xfrm>
            <a:off x="10857596" y="2282895"/>
            <a:ext cx="932799" cy="119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ts val="933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0FF9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LIVE FEED</a:t>
            </a:r>
            <a:endParaRPr lang="en-US" sz="105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5" name="Text 14">
            <a:extLst>
              <a:ext uri="{FF2B5EF4-FFF2-40B4-BE49-F238E27FC236}">
                <a16:creationId xmlns:a16="http://schemas.microsoft.com/office/drawing/2014/main" id="{F5465484-4D0D-4B3A-F1C9-D75A1D3EC210}"/>
              </a:ext>
            </a:extLst>
          </p:cNvPr>
          <p:cNvSpPr/>
          <p:nvPr/>
        </p:nvSpPr>
        <p:spPr>
          <a:xfrm>
            <a:off x="8018865" y="2744084"/>
            <a:ext cx="1187785" cy="141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67"/>
              </a:lnSpc>
            </a:pPr>
            <a:r>
              <a:rPr lang="en-US" sz="1100" kern="0" spc="1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Agent Name</a:t>
            </a:r>
            <a:endParaRPr lang="en-US" sz="1100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6" name="Text 15">
            <a:extLst>
              <a:ext uri="{FF2B5EF4-FFF2-40B4-BE49-F238E27FC236}">
                <a16:creationId xmlns:a16="http://schemas.microsoft.com/office/drawing/2014/main" id="{05F9A500-C7D8-6780-9975-4AEABB8139A3}"/>
              </a:ext>
            </a:extLst>
          </p:cNvPr>
          <p:cNvSpPr/>
          <p:nvPr/>
        </p:nvSpPr>
        <p:spPr>
          <a:xfrm>
            <a:off x="9246753" y="2744084"/>
            <a:ext cx="1421018" cy="141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67"/>
              </a:lnSpc>
            </a:pPr>
            <a:r>
              <a:rPr lang="en-US" sz="1100" kern="0" spc="1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Context</a:t>
            </a:r>
            <a:endParaRPr lang="en-US" sz="1100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7" name="Text 16">
            <a:extLst>
              <a:ext uri="{FF2B5EF4-FFF2-40B4-BE49-F238E27FC236}">
                <a16:creationId xmlns:a16="http://schemas.microsoft.com/office/drawing/2014/main" id="{718A1B6E-FBAB-4F26-62B5-8D2CE865A74C}"/>
              </a:ext>
            </a:extLst>
          </p:cNvPr>
          <p:cNvSpPr/>
          <p:nvPr/>
        </p:nvSpPr>
        <p:spPr>
          <a:xfrm>
            <a:off x="9797614" y="2764949"/>
            <a:ext cx="1613882" cy="141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067"/>
              </a:lnSpc>
            </a:pPr>
            <a:r>
              <a:rPr lang="en-US" sz="1100" kern="0" spc="1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Cost</a:t>
            </a:r>
            <a:endParaRPr lang="en-US" sz="1100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8" name="Text 17">
            <a:extLst>
              <a:ext uri="{FF2B5EF4-FFF2-40B4-BE49-F238E27FC236}">
                <a16:creationId xmlns:a16="http://schemas.microsoft.com/office/drawing/2014/main" id="{663EBC9A-1269-BD4C-3253-BF8B6A7887DF}"/>
              </a:ext>
            </a:extLst>
          </p:cNvPr>
          <p:cNvSpPr/>
          <p:nvPr/>
        </p:nvSpPr>
        <p:spPr>
          <a:xfrm>
            <a:off x="8018867" y="3362866"/>
            <a:ext cx="1717272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050" b="1" dirty="0">
                <a:solidFill>
                  <a:srgbClr val="FFFFF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Legal-Analyzer</a:t>
            </a:r>
            <a:endParaRPr lang="en-US" sz="105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9" name="Text 18">
            <a:extLst>
              <a:ext uri="{FF2B5EF4-FFF2-40B4-BE49-F238E27FC236}">
                <a16:creationId xmlns:a16="http://schemas.microsoft.com/office/drawing/2014/main" id="{4553D62F-753C-81DB-7BFC-93154D9B2950}"/>
              </a:ext>
            </a:extLst>
          </p:cNvPr>
          <p:cNvSpPr/>
          <p:nvPr/>
        </p:nvSpPr>
        <p:spPr>
          <a:xfrm>
            <a:off x="9246752" y="3349265"/>
            <a:ext cx="1861585" cy="30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050" dirty="0">
                <a:solidFill>
                  <a:srgbClr val="AAAAAA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Parses contracts and laws to </a:t>
            </a:r>
            <a:r>
              <a:rPr lang="en-US" altLang="zh-CN" sz="1050" dirty="0">
                <a:solidFill>
                  <a:srgbClr val="AAAAAA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…</a:t>
            </a:r>
            <a:endParaRPr lang="en-US" sz="1050" dirty="0">
              <a:solidFill>
                <a:srgbClr val="AAAAAA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64D8F330-6A15-84BC-7898-19D46D2D14D8}"/>
              </a:ext>
            </a:extLst>
          </p:cNvPr>
          <p:cNvSpPr/>
          <p:nvPr/>
        </p:nvSpPr>
        <p:spPr>
          <a:xfrm>
            <a:off x="10754583" y="3362865"/>
            <a:ext cx="92291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lang="en-US" sz="1050" dirty="0">
                <a:solidFill>
                  <a:srgbClr val="00FF9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$0.420</a:t>
            </a:r>
            <a:r>
              <a:rPr lang="en-US" altLang="zh-CN" sz="1050" dirty="0">
                <a:solidFill>
                  <a:srgbClr val="00FF9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</a:t>
            </a:r>
            <a:endParaRPr lang="en-US" sz="105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1" name="Text 20">
            <a:extLst>
              <a:ext uri="{FF2B5EF4-FFF2-40B4-BE49-F238E27FC236}">
                <a16:creationId xmlns:a16="http://schemas.microsoft.com/office/drawing/2014/main" id="{5B1A1778-2D24-9167-D7BF-4E23DB7589B9}"/>
              </a:ext>
            </a:extLst>
          </p:cNvPr>
          <p:cNvSpPr/>
          <p:nvPr/>
        </p:nvSpPr>
        <p:spPr>
          <a:xfrm>
            <a:off x="8018866" y="3781966"/>
            <a:ext cx="148654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050" b="1" dirty="0">
                <a:solidFill>
                  <a:srgbClr val="FFFFF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File</a:t>
            </a:r>
            <a:r>
              <a:rPr lang="en-US" altLang="zh-CN" sz="1050" b="1" dirty="0">
                <a:solidFill>
                  <a:srgbClr val="FFFFF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</a:t>
            </a:r>
            <a:r>
              <a:rPr lang="en-US" sz="1050" b="1" dirty="0">
                <a:solidFill>
                  <a:srgbClr val="FFFFF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Search</a:t>
            </a:r>
          </a:p>
        </p:txBody>
      </p:sp>
      <p:sp>
        <p:nvSpPr>
          <p:cNvPr id="72" name="Text 21">
            <a:extLst>
              <a:ext uri="{FF2B5EF4-FFF2-40B4-BE49-F238E27FC236}">
                <a16:creationId xmlns:a16="http://schemas.microsoft.com/office/drawing/2014/main" id="{7CD012EC-D3AF-B179-3724-DF9D0EA1ABBF}"/>
              </a:ext>
            </a:extLst>
          </p:cNvPr>
          <p:cNvSpPr/>
          <p:nvPr/>
        </p:nvSpPr>
        <p:spPr>
          <a:xfrm>
            <a:off x="9246753" y="3768365"/>
            <a:ext cx="1695106" cy="30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050" dirty="0">
                <a:solidFill>
                  <a:srgbClr val="AAAAAA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Finds and ranks relevant </a:t>
            </a:r>
            <a:r>
              <a:rPr lang="en-US" altLang="zh-CN" sz="1050" dirty="0">
                <a:solidFill>
                  <a:srgbClr val="AAAAAA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….</a:t>
            </a:r>
            <a:endParaRPr lang="en-US" sz="1050" dirty="0">
              <a:solidFill>
                <a:srgbClr val="AAAAAA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3" name="Text 22">
            <a:extLst>
              <a:ext uri="{FF2B5EF4-FFF2-40B4-BE49-F238E27FC236}">
                <a16:creationId xmlns:a16="http://schemas.microsoft.com/office/drawing/2014/main" id="{C1A05AD4-A674-0761-AC6D-74AF8BB13FB5}"/>
              </a:ext>
            </a:extLst>
          </p:cNvPr>
          <p:cNvSpPr/>
          <p:nvPr/>
        </p:nvSpPr>
        <p:spPr>
          <a:xfrm>
            <a:off x="10754583" y="3781965"/>
            <a:ext cx="92291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lang="en-US" sz="1050" dirty="0">
                <a:solidFill>
                  <a:srgbClr val="00FF9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$0.0015</a:t>
            </a:r>
            <a:endParaRPr lang="en-US" sz="105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4" name="Text 23">
            <a:extLst>
              <a:ext uri="{FF2B5EF4-FFF2-40B4-BE49-F238E27FC236}">
                <a16:creationId xmlns:a16="http://schemas.microsoft.com/office/drawing/2014/main" id="{472655C3-E81B-6A86-ACAF-7DAB18147C68}"/>
              </a:ext>
            </a:extLst>
          </p:cNvPr>
          <p:cNvSpPr/>
          <p:nvPr/>
        </p:nvSpPr>
        <p:spPr>
          <a:xfrm>
            <a:off x="8018866" y="4201066"/>
            <a:ext cx="148654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050" b="1" dirty="0">
                <a:solidFill>
                  <a:srgbClr val="FFFFF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Data-Miner</a:t>
            </a:r>
            <a:endParaRPr lang="en-US" sz="105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5" name="Text 24">
            <a:extLst>
              <a:ext uri="{FF2B5EF4-FFF2-40B4-BE49-F238E27FC236}">
                <a16:creationId xmlns:a16="http://schemas.microsoft.com/office/drawing/2014/main" id="{DD3FC0A0-D70E-35BA-07D8-F06C7CF23AA9}"/>
              </a:ext>
            </a:extLst>
          </p:cNvPr>
          <p:cNvSpPr/>
          <p:nvPr/>
        </p:nvSpPr>
        <p:spPr>
          <a:xfrm>
            <a:off x="9246752" y="4187465"/>
            <a:ext cx="1789562" cy="30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050" dirty="0">
                <a:solidFill>
                  <a:srgbClr val="AAAAAA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Extracts, cleans, and structures </a:t>
            </a:r>
            <a:r>
              <a:rPr lang="en-US" altLang="zh-CN" sz="1050" dirty="0">
                <a:solidFill>
                  <a:srgbClr val="AAAAAA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….</a:t>
            </a:r>
            <a:endParaRPr lang="en-US" sz="1050" dirty="0">
              <a:solidFill>
                <a:srgbClr val="AAAAAA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6" name="Text 25">
            <a:extLst>
              <a:ext uri="{FF2B5EF4-FFF2-40B4-BE49-F238E27FC236}">
                <a16:creationId xmlns:a16="http://schemas.microsoft.com/office/drawing/2014/main" id="{864D974C-6A0D-950C-721C-568491BF9937}"/>
              </a:ext>
            </a:extLst>
          </p:cNvPr>
          <p:cNvSpPr/>
          <p:nvPr/>
        </p:nvSpPr>
        <p:spPr>
          <a:xfrm>
            <a:off x="10754583" y="4201065"/>
            <a:ext cx="92291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lang="en-US" sz="1050" dirty="0">
                <a:solidFill>
                  <a:srgbClr val="00FF9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$0.03</a:t>
            </a:r>
            <a:r>
              <a:rPr lang="en-US" altLang="zh-CN" sz="1050" dirty="0">
                <a:solidFill>
                  <a:srgbClr val="00FF9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</a:t>
            </a:r>
            <a:r>
              <a:rPr lang="en-US" sz="1050" dirty="0">
                <a:solidFill>
                  <a:srgbClr val="00FF9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</a:t>
            </a:r>
            <a:endParaRPr lang="en-US" sz="105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7" name="Text 26">
            <a:extLst>
              <a:ext uri="{FF2B5EF4-FFF2-40B4-BE49-F238E27FC236}">
                <a16:creationId xmlns:a16="http://schemas.microsoft.com/office/drawing/2014/main" id="{4D8E77FC-752C-6154-71B2-C2E42C8C3F3F}"/>
              </a:ext>
            </a:extLst>
          </p:cNvPr>
          <p:cNvSpPr/>
          <p:nvPr/>
        </p:nvSpPr>
        <p:spPr>
          <a:xfrm>
            <a:off x="8018866" y="4620166"/>
            <a:ext cx="1509616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050" b="1" dirty="0">
                <a:solidFill>
                  <a:srgbClr val="FFFFF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Email-Drafter</a:t>
            </a:r>
            <a:endParaRPr lang="en-US" sz="105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8" name="Text 27">
            <a:extLst>
              <a:ext uri="{FF2B5EF4-FFF2-40B4-BE49-F238E27FC236}">
                <a16:creationId xmlns:a16="http://schemas.microsoft.com/office/drawing/2014/main" id="{59719E58-67E7-C7B9-3DEF-E5878BE92E86}"/>
              </a:ext>
            </a:extLst>
          </p:cNvPr>
          <p:cNvSpPr/>
          <p:nvPr/>
        </p:nvSpPr>
        <p:spPr>
          <a:xfrm>
            <a:off x="9246751" y="4606565"/>
            <a:ext cx="1789563" cy="30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050" dirty="0">
                <a:solidFill>
                  <a:srgbClr val="AAAAAA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Turns bullet points into polished </a:t>
            </a:r>
            <a:r>
              <a:rPr lang="en-US" altLang="zh-CN" sz="1050" dirty="0">
                <a:solidFill>
                  <a:srgbClr val="AAAAAA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…</a:t>
            </a:r>
            <a:endParaRPr lang="en-US" sz="1050" dirty="0">
              <a:solidFill>
                <a:srgbClr val="AAAAAA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9" name="Text 28">
            <a:extLst>
              <a:ext uri="{FF2B5EF4-FFF2-40B4-BE49-F238E27FC236}">
                <a16:creationId xmlns:a16="http://schemas.microsoft.com/office/drawing/2014/main" id="{65692758-BB11-4C33-138F-933950E11333}"/>
              </a:ext>
            </a:extLst>
          </p:cNvPr>
          <p:cNvSpPr/>
          <p:nvPr/>
        </p:nvSpPr>
        <p:spPr>
          <a:xfrm>
            <a:off x="10754583" y="4620165"/>
            <a:ext cx="92291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lang="en-US" sz="1050" dirty="0">
                <a:solidFill>
                  <a:srgbClr val="00FF9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$0</a:t>
            </a:r>
            <a:r>
              <a:rPr lang="en-US" altLang="zh-CN" sz="1050" dirty="0">
                <a:solidFill>
                  <a:srgbClr val="00FF9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US" sz="1050" dirty="0">
                <a:solidFill>
                  <a:srgbClr val="00FF9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080</a:t>
            </a:r>
            <a:r>
              <a:rPr lang="en-US" altLang="zh-CN" sz="1050" dirty="0">
                <a:solidFill>
                  <a:srgbClr val="00FF9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</a:t>
            </a:r>
            <a:endParaRPr lang="en-US" sz="105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0" name="Text 29">
            <a:extLst>
              <a:ext uri="{FF2B5EF4-FFF2-40B4-BE49-F238E27FC236}">
                <a16:creationId xmlns:a16="http://schemas.microsoft.com/office/drawing/2014/main" id="{30966FF6-C402-71C0-C15A-3689606AD21B}"/>
              </a:ext>
            </a:extLst>
          </p:cNvPr>
          <p:cNvSpPr/>
          <p:nvPr/>
        </p:nvSpPr>
        <p:spPr>
          <a:xfrm>
            <a:off x="8018866" y="5039266"/>
            <a:ext cx="1624982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050" b="1" dirty="0">
                <a:solidFill>
                  <a:srgbClr val="FFFFF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Sheet</a:t>
            </a:r>
            <a:r>
              <a:rPr lang="en-US" altLang="zh-CN" sz="1050" b="1" dirty="0">
                <a:solidFill>
                  <a:srgbClr val="FFFFF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-Tools</a:t>
            </a:r>
          </a:p>
        </p:txBody>
      </p:sp>
      <p:sp>
        <p:nvSpPr>
          <p:cNvPr id="81" name="Text 30">
            <a:extLst>
              <a:ext uri="{FF2B5EF4-FFF2-40B4-BE49-F238E27FC236}">
                <a16:creationId xmlns:a16="http://schemas.microsoft.com/office/drawing/2014/main" id="{2CDA786E-72B5-6BC8-4E28-579962170B72}"/>
              </a:ext>
            </a:extLst>
          </p:cNvPr>
          <p:cNvSpPr/>
          <p:nvPr/>
        </p:nvSpPr>
        <p:spPr>
          <a:xfrm>
            <a:off x="9246752" y="5025665"/>
            <a:ext cx="1695108" cy="30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050" dirty="0">
                <a:solidFill>
                  <a:srgbClr val="AAAAAA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Auto-extracts fields from text </a:t>
            </a:r>
            <a:r>
              <a:rPr lang="en-US" altLang="zh-CN" sz="1050" dirty="0">
                <a:solidFill>
                  <a:srgbClr val="AAAAAA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….</a:t>
            </a:r>
            <a:endParaRPr lang="en-US" sz="1050" dirty="0">
              <a:solidFill>
                <a:srgbClr val="AAAAAA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2" name="Text 31">
            <a:extLst>
              <a:ext uri="{FF2B5EF4-FFF2-40B4-BE49-F238E27FC236}">
                <a16:creationId xmlns:a16="http://schemas.microsoft.com/office/drawing/2014/main" id="{929FC907-CBA4-6B4D-CE2C-E5CD4F39CFD4}"/>
              </a:ext>
            </a:extLst>
          </p:cNvPr>
          <p:cNvSpPr/>
          <p:nvPr/>
        </p:nvSpPr>
        <p:spPr>
          <a:xfrm>
            <a:off x="10754583" y="5039265"/>
            <a:ext cx="92291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lang="en-US" sz="1050" dirty="0">
                <a:solidFill>
                  <a:srgbClr val="00FF9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</a:t>
            </a:r>
            <a:r>
              <a:rPr lang="en-US" altLang="zh-CN" sz="1050" dirty="0">
                <a:solidFill>
                  <a:srgbClr val="00FF9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1.</a:t>
            </a:r>
            <a:r>
              <a:rPr lang="en-US" sz="1050" dirty="0">
                <a:solidFill>
                  <a:srgbClr val="00FF9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</a:t>
            </a:r>
            <a:r>
              <a:rPr lang="en-US" altLang="zh-CN" sz="1050" dirty="0">
                <a:solidFill>
                  <a:srgbClr val="00FF9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00</a:t>
            </a:r>
            <a:r>
              <a:rPr lang="en-US" sz="1050" dirty="0">
                <a:solidFill>
                  <a:srgbClr val="00FF9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</a:t>
            </a:r>
            <a:endParaRPr lang="en-US" sz="105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3" name="Text 32">
            <a:extLst>
              <a:ext uri="{FF2B5EF4-FFF2-40B4-BE49-F238E27FC236}">
                <a16:creationId xmlns:a16="http://schemas.microsoft.com/office/drawing/2014/main" id="{DCF72C1A-C85B-8DE4-D054-0372B455F565}"/>
              </a:ext>
            </a:extLst>
          </p:cNvPr>
          <p:cNvSpPr/>
          <p:nvPr/>
        </p:nvSpPr>
        <p:spPr>
          <a:xfrm>
            <a:off x="8018865" y="5796503"/>
            <a:ext cx="2626781" cy="198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400" b="1" dirty="0">
                <a:solidFill>
                  <a:srgbClr val="FFFFFF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Session Total</a:t>
            </a:r>
            <a:endParaRPr lang="en-US" sz="1400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4" name="Text 33">
            <a:extLst>
              <a:ext uri="{FF2B5EF4-FFF2-40B4-BE49-F238E27FC236}">
                <a16:creationId xmlns:a16="http://schemas.microsoft.com/office/drawing/2014/main" id="{5BDE294A-51D5-FE29-A399-0A5753DA7B43}"/>
              </a:ext>
            </a:extLst>
          </p:cNvPr>
          <p:cNvSpPr/>
          <p:nvPr/>
        </p:nvSpPr>
        <p:spPr>
          <a:xfrm>
            <a:off x="10183452" y="5733486"/>
            <a:ext cx="1519506" cy="26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133"/>
              </a:lnSpc>
            </a:pPr>
            <a:r>
              <a:rPr lang="en-US" b="1" dirty="0">
                <a:solidFill>
                  <a:srgbClr val="00FF9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$1.6315</a:t>
            </a:r>
          </a:p>
        </p:txBody>
      </p:sp>
      <p:sp>
        <p:nvSpPr>
          <p:cNvPr id="86" name="圆角矩形 85">
            <a:extLst>
              <a:ext uri="{FF2B5EF4-FFF2-40B4-BE49-F238E27FC236}">
                <a16:creationId xmlns:a16="http://schemas.microsoft.com/office/drawing/2014/main" id="{842EA0C8-5E28-F7F2-A290-0A7A4053D2BF}"/>
              </a:ext>
            </a:extLst>
          </p:cNvPr>
          <p:cNvSpPr/>
          <p:nvPr/>
        </p:nvSpPr>
        <p:spPr>
          <a:xfrm>
            <a:off x="10667771" y="2164692"/>
            <a:ext cx="1159165" cy="319873"/>
          </a:xfrm>
          <a:prstGeom prst="roundRect">
            <a:avLst>
              <a:gd name="adj" fmla="val 50000"/>
            </a:avLst>
          </a:prstGeom>
          <a:solidFill>
            <a:srgbClr val="00FF94">
              <a:alpha val="10000"/>
            </a:srgbClr>
          </a:solidFill>
          <a:ln/>
        </p:spPr>
        <p:txBody>
          <a:bodyPr/>
          <a:lstStyle/>
          <a:p>
            <a:endParaRPr lang="zh-CN" altLang="en-US" sz="4800" dirty="0">
              <a:solidFill>
                <a:schemeClr val="tx1"/>
              </a:solidFill>
              <a:latin typeface="Menlo" panose="020B0609030804020204" pitchFamily="49" charset="0"/>
              <a:cs typeface="Menlo" panose="020B0609030804020204" pitchFamily="49" charset="0"/>
            </a:endParaRPr>
          </a:p>
        </p:txBody>
      </p:sp>
      <p:cxnSp>
        <p:nvCxnSpPr>
          <p:cNvPr id="88" name="直线连接符 87">
            <a:extLst>
              <a:ext uri="{FF2B5EF4-FFF2-40B4-BE49-F238E27FC236}">
                <a16:creationId xmlns:a16="http://schemas.microsoft.com/office/drawing/2014/main" id="{AFBB428C-37B1-483D-18A9-006661CD67DA}"/>
              </a:ext>
            </a:extLst>
          </p:cNvPr>
          <p:cNvCxnSpPr/>
          <p:nvPr/>
        </p:nvCxnSpPr>
        <p:spPr>
          <a:xfrm>
            <a:off x="8018865" y="3072542"/>
            <a:ext cx="3658628" cy="0"/>
          </a:xfrm>
          <a:prstGeom prst="line">
            <a:avLst/>
          </a:prstGeom>
          <a:ln>
            <a:solidFill>
              <a:schemeClr val="bg1">
                <a:lumMod val="75000"/>
                <a:alpha val="49609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88">
            <a:extLst>
              <a:ext uri="{FF2B5EF4-FFF2-40B4-BE49-F238E27FC236}">
                <a16:creationId xmlns:a16="http://schemas.microsoft.com/office/drawing/2014/main" id="{AF1972A7-7EF9-1075-A7C9-771D098A1BE4}"/>
              </a:ext>
            </a:extLst>
          </p:cNvPr>
          <p:cNvCxnSpPr/>
          <p:nvPr/>
        </p:nvCxnSpPr>
        <p:spPr>
          <a:xfrm>
            <a:off x="8044330" y="5498309"/>
            <a:ext cx="3658628" cy="0"/>
          </a:xfrm>
          <a:prstGeom prst="line">
            <a:avLst/>
          </a:prstGeom>
          <a:ln>
            <a:solidFill>
              <a:schemeClr val="bg1">
                <a:lumMod val="75000"/>
                <a:alpha val="49609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Image 1" descr="preencoded.png">
            <a:extLst>
              <a:ext uri="{FF2B5EF4-FFF2-40B4-BE49-F238E27FC236}">
                <a16:creationId xmlns:a16="http://schemas.microsoft.com/office/drawing/2014/main" id="{F9F5FE2D-9C71-6E33-585E-A9FB15E32EC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85306" y="3758265"/>
            <a:ext cx="464331" cy="464331"/>
          </a:xfrm>
          <a:prstGeom prst="rect">
            <a:avLst/>
          </a:prstGeom>
          <a:noFill/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C03E9AE0-6252-4A7A-E9CE-ED10FDF6A9FC}"/>
              </a:ext>
            </a:extLst>
          </p:cNvPr>
          <p:cNvSpPr txBox="1"/>
          <p:nvPr/>
        </p:nvSpPr>
        <p:spPr>
          <a:xfrm>
            <a:off x="7968791" y="1001996"/>
            <a:ext cx="38875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User</a:t>
            </a:r>
            <a:r>
              <a:rPr lang="zh-CN" altLang="en-US" sz="1400" dirty="0"/>
              <a:t>：</a:t>
            </a:r>
            <a:r>
              <a:rPr lang="en-US" altLang="zh-CN" sz="1400" dirty="0"/>
              <a:t>Check this supplier contract and tell me the key risks, the important terms, and whether we should proceed.</a:t>
            </a:r>
          </a:p>
        </p:txBody>
      </p:sp>
      <p:sp>
        <p:nvSpPr>
          <p:cNvPr id="93" name="圆角矩形 92">
            <a:extLst>
              <a:ext uri="{FF2B5EF4-FFF2-40B4-BE49-F238E27FC236}">
                <a16:creationId xmlns:a16="http://schemas.microsoft.com/office/drawing/2014/main" id="{5FF249D0-3262-3110-17C9-81B4E31B2358}"/>
              </a:ext>
            </a:extLst>
          </p:cNvPr>
          <p:cNvSpPr/>
          <p:nvPr/>
        </p:nvSpPr>
        <p:spPr>
          <a:xfrm>
            <a:off x="7840898" y="885252"/>
            <a:ext cx="4065491" cy="961981"/>
          </a:xfrm>
          <a:prstGeom prst="roundRect">
            <a:avLst>
              <a:gd name="adj" fmla="val 26399"/>
            </a:avLst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787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E9F1F-4489-9969-0552-CABC6B45F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ïşlíḓê">
            <a:extLst>
              <a:ext uri="{FF2B5EF4-FFF2-40B4-BE49-F238E27FC236}">
                <a16:creationId xmlns:a16="http://schemas.microsoft.com/office/drawing/2014/main" id="{C6F1DA02-99EC-B369-AB5F-1F256DDC8C86}"/>
              </a:ext>
            </a:extLst>
          </p:cNvPr>
          <p:cNvSpPr/>
          <p:nvPr/>
        </p:nvSpPr>
        <p:spPr>
          <a:xfrm>
            <a:off x="8924573" y="4845256"/>
            <a:ext cx="2670513" cy="1520091"/>
          </a:xfrm>
          <a:prstGeom prst="roundRect">
            <a:avLst>
              <a:gd name="adj" fmla="val 8158"/>
            </a:avLst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iśḷîḋè">
            <a:extLst>
              <a:ext uri="{FF2B5EF4-FFF2-40B4-BE49-F238E27FC236}">
                <a16:creationId xmlns:a16="http://schemas.microsoft.com/office/drawing/2014/main" id="{B4194654-1106-F983-54FF-9D24813656A8}"/>
              </a:ext>
            </a:extLst>
          </p:cNvPr>
          <p:cNvSpPr txBox="1"/>
          <p:nvPr/>
        </p:nvSpPr>
        <p:spPr>
          <a:xfrm>
            <a:off x="2034503" y="1076038"/>
            <a:ext cx="8122993" cy="65099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algn="ctr"/>
            <a:r>
              <a:rPr lang="en-US" altLang="zh-CN" sz="2000" b="1" dirty="0">
                <a:solidFill>
                  <a:srgbClr val="0053F9"/>
                </a:solidFill>
              </a:rPr>
              <a:t>Verified</a:t>
            </a:r>
            <a:r>
              <a:rPr lang="en-US" altLang="zh-CN" sz="2000" b="1" dirty="0"/>
              <a:t> before a cent is paid, </a:t>
            </a:r>
            <a:r>
              <a:rPr lang="en-US" altLang="zh-CN" sz="2000" b="1" dirty="0">
                <a:solidFill>
                  <a:srgbClr val="0053F9"/>
                </a:solidFill>
              </a:rPr>
              <a:t>monitored</a:t>
            </a:r>
            <a:r>
              <a:rPr lang="en-US" altLang="zh-CN" sz="2000" b="1" dirty="0"/>
              <a:t> so trust won’t fade.</a:t>
            </a:r>
          </a:p>
        </p:txBody>
      </p:sp>
      <p:sp>
        <p:nvSpPr>
          <p:cNvPr id="6" name="ïṩļîďê">
            <a:extLst>
              <a:ext uri="{FF2B5EF4-FFF2-40B4-BE49-F238E27FC236}">
                <a16:creationId xmlns:a16="http://schemas.microsoft.com/office/drawing/2014/main" id="{13D9E8AB-9B9F-23F0-6F54-45AA043B8567}"/>
              </a:ext>
            </a:extLst>
          </p:cNvPr>
          <p:cNvSpPr/>
          <p:nvPr/>
        </p:nvSpPr>
        <p:spPr>
          <a:xfrm>
            <a:off x="714625" y="4861535"/>
            <a:ext cx="6064250" cy="1520091"/>
          </a:xfrm>
          <a:prstGeom prst="roundRect">
            <a:avLst>
              <a:gd name="adj" fmla="val 15794"/>
            </a:avLst>
          </a:prstGeom>
          <a:solidFill>
            <a:schemeClr val="tx1">
              <a:lumMod val="50000"/>
              <a:lumOff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7" name="ïşḻïdè">
            <a:extLst>
              <a:ext uri="{FF2B5EF4-FFF2-40B4-BE49-F238E27FC236}">
                <a16:creationId xmlns:a16="http://schemas.microsoft.com/office/drawing/2014/main" id="{56B4E208-4E89-C1A6-502A-17FFD5619C8C}"/>
              </a:ext>
            </a:extLst>
          </p:cNvPr>
          <p:cNvSpPr/>
          <p:nvPr/>
        </p:nvSpPr>
        <p:spPr>
          <a:xfrm>
            <a:off x="6549455" y="4725457"/>
            <a:ext cx="2522959" cy="1815625"/>
          </a:xfrm>
          <a:prstGeom prst="roundRect">
            <a:avLst>
              <a:gd name="adj" fmla="val 1312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ïsḻídè">
            <a:extLst>
              <a:ext uri="{FF2B5EF4-FFF2-40B4-BE49-F238E27FC236}">
                <a16:creationId xmlns:a16="http://schemas.microsoft.com/office/drawing/2014/main" id="{EE5E0B5D-C47E-4B8F-0666-08E68F5E41E9}"/>
              </a:ext>
            </a:extLst>
          </p:cNvPr>
          <p:cNvSpPr txBox="1"/>
          <p:nvPr/>
        </p:nvSpPr>
        <p:spPr>
          <a:xfrm>
            <a:off x="973727" y="5503318"/>
            <a:ext cx="1813060" cy="238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100"/>
              </a:lnSpc>
            </a:pPr>
            <a:r>
              <a:rPr lang="en-US" altLang="zh-CN" sz="1400" b="1" dirty="0"/>
              <a:t>Identity</a:t>
            </a:r>
            <a:r>
              <a:rPr lang="en-US" altLang="zh-CN" sz="800" b="1" dirty="0">
                <a:solidFill>
                  <a:srgbClr val="0A0A0A"/>
                </a:solidFill>
              </a:rPr>
              <a:t> </a:t>
            </a:r>
            <a:r>
              <a:rPr lang="en-US" altLang="zh-CN" sz="1400" b="1" dirty="0"/>
              <a:t>Verification</a:t>
            </a:r>
          </a:p>
        </p:txBody>
      </p:sp>
      <p:sp>
        <p:nvSpPr>
          <p:cNvPr id="16" name="ïślïḋè">
            <a:extLst>
              <a:ext uri="{FF2B5EF4-FFF2-40B4-BE49-F238E27FC236}">
                <a16:creationId xmlns:a16="http://schemas.microsoft.com/office/drawing/2014/main" id="{A100F2F3-6105-EE56-AFD6-B3BA7EC35FE9}"/>
              </a:ext>
            </a:extLst>
          </p:cNvPr>
          <p:cNvSpPr txBox="1"/>
          <p:nvPr/>
        </p:nvSpPr>
        <p:spPr>
          <a:xfrm>
            <a:off x="3574423" y="5503318"/>
            <a:ext cx="1927131" cy="238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100"/>
              </a:lnSpc>
            </a:pPr>
            <a:r>
              <a:rPr lang="en-US" altLang="zh-CN" sz="1400" b="1" dirty="0"/>
              <a:t>Performance</a:t>
            </a:r>
            <a:r>
              <a:rPr lang="en-US" altLang="zh-CN" sz="800" b="1" dirty="0">
                <a:solidFill>
                  <a:srgbClr val="0A0A0A"/>
                </a:solidFill>
              </a:rPr>
              <a:t> </a:t>
            </a:r>
            <a:r>
              <a:rPr lang="en-US" altLang="zh-CN" sz="1400" b="1" dirty="0"/>
              <a:t>Record</a:t>
            </a:r>
          </a:p>
        </p:txBody>
      </p:sp>
      <p:sp>
        <p:nvSpPr>
          <p:cNvPr id="17" name="íśļîde">
            <a:extLst>
              <a:ext uri="{FF2B5EF4-FFF2-40B4-BE49-F238E27FC236}">
                <a16:creationId xmlns:a16="http://schemas.microsoft.com/office/drawing/2014/main" id="{0B0BAA58-C7CA-51B8-DB38-B5F42FA6ACDA}"/>
              </a:ext>
            </a:extLst>
          </p:cNvPr>
          <p:cNvSpPr txBox="1"/>
          <p:nvPr/>
        </p:nvSpPr>
        <p:spPr>
          <a:xfrm>
            <a:off x="9215203" y="5468918"/>
            <a:ext cx="18133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Dispute Resolution</a:t>
            </a:r>
          </a:p>
        </p:txBody>
      </p:sp>
      <p:sp>
        <p:nvSpPr>
          <p:cNvPr id="19" name="iş1îdê">
            <a:extLst>
              <a:ext uri="{FF2B5EF4-FFF2-40B4-BE49-F238E27FC236}">
                <a16:creationId xmlns:a16="http://schemas.microsoft.com/office/drawing/2014/main" id="{6A37DDA3-6989-C982-7BB5-673CF9223D8A}"/>
              </a:ext>
            </a:extLst>
          </p:cNvPr>
          <p:cNvSpPr txBox="1"/>
          <p:nvPr/>
        </p:nvSpPr>
        <p:spPr>
          <a:xfrm>
            <a:off x="6804986" y="5382799"/>
            <a:ext cx="1745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Security Scanning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7EC6F87-BD62-4B87-FA1E-DF9E893F2A44}"/>
              </a:ext>
            </a:extLst>
          </p:cNvPr>
          <p:cNvSpPr txBox="1"/>
          <p:nvPr/>
        </p:nvSpPr>
        <p:spPr>
          <a:xfrm>
            <a:off x="660400" y="251188"/>
            <a:ext cx="4873963" cy="5668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733"/>
              </a:lnSpc>
            </a:pPr>
            <a:r>
              <a:rPr lang="en-US" altLang="zh-CN" sz="3200" b="1" kern="0" spc="-1" dirty="0">
                <a:solidFill>
                  <a:srgbClr val="0A0A0A"/>
                </a:solidFill>
              </a:rPr>
              <a:t>Know Your Agent (KYA)</a:t>
            </a:r>
            <a:endParaRPr lang="en-US" altLang="zh-CN" sz="3200" dirty="0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2E2E8A6-1A85-E837-1EB2-8748963F8BCB}"/>
              </a:ext>
            </a:extLst>
          </p:cNvPr>
          <p:cNvGrpSpPr/>
          <p:nvPr/>
        </p:nvGrpSpPr>
        <p:grpSpPr>
          <a:xfrm>
            <a:off x="1728679" y="1794481"/>
            <a:ext cx="3702862" cy="2586405"/>
            <a:chOff x="837127" y="1722226"/>
            <a:chExt cx="3702862" cy="2586405"/>
          </a:xfrm>
        </p:grpSpPr>
        <p:sp>
          <p:nvSpPr>
            <p:cNvPr id="34" name="圆角矩形 33">
              <a:extLst>
                <a:ext uri="{FF2B5EF4-FFF2-40B4-BE49-F238E27FC236}">
                  <a16:creationId xmlns:a16="http://schemas.microsoft.com/office/drawing/2014/main" id="{BD3771AE-3530-5146-B4F6-31ED7B7B775E}"/>
                </a:ext>
              </a:extLst>
            </p:cNvPr>
            <p:cNvSpPr/>
            <p:nvPr/>
          </p:nvSpPr>
          <p:spPr>
            <a:xfrm>
              <a:off x="837127" y="1722226"/>
              <a:ext cx="3702862" cy="2586405"/>
            </a:xfrm>
            <a:prstGeom prst="roundRect">
              <a:avLst>
                <a:gd name="adj" fmla="val 10194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285321" sx="99755" sy="99755" algn="tl" rotWithShape="0">
                <a:prstClr val="black">
                  <a:alpha val="32619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21" name="Image 1" descr="preencoded.png">
              <a:extLst>
                <a:ext uri="{FF2B5EF4-FFF2-40B4-BE49-F238E27FC236}">
                  <a16:creationId xmlns:a16="http://schemas.microsoft.com/office/drawing/2014/main" id="{797FFBDC-DD18-AFF0-B235-0D84FC5CC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90927" y="1900122"/>
              <a:ext cx="666751" cy="666751"/>
            </a:xfrm>
            <a:prstGeom prst="rect">
              <a:avLst/>
            </a:prstGeom>
          </p:spPr>
        </p:pic>
        <p:sp>
          <p:nvSpPr>
            <p:cNvPr id="22" name="Shape 3">
              <a:extLst>
                <a:ext uri="{FF2B5EF4-FFF2-40B4-BE49-F238E27FC236}">
                  <a16:creationId xmlns:a16="http://schemas.microsoft.com/office/drawing/2014/main" id="{A3372FA0-C2A3-9DF9-EFFA-F26EDEF7333E}"/>
                </a:ext>
              </a:extLst>
            </p:cNvPr>
            <p:cNvSpPr/>
            <p:nvPr/>
          </p:nvSpPr>
          <p:spPr>
            <a:xfrm>
              <a:off x="946151" y="1997101"/>
              <a:ext cx="571500" cy="571500"/>
            </a:xfrm>
            <a:prstGeom prst="ellipse">
              <a:avLst/>
            </a:prstGeom>
            <a:solidFill>
              <a:srgbClr val="FFC000">
                <a:alpha val="60132"/>
              </a:srgbClr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pic>
          <p:nvPicPr>
            <p:cNvPr id="23" name="Image 2" descr="preencoded.png">
              <a:extLst>
                <a:ext uri="{FF2B5EF4-FFF2-40B4-BE49-F238E27FC236}">
                  <a16:creationId xmlns:a16="http://schemas.microsoft.com/office/drawing/2014/main" id="{42E6FE48-5DE9-79A8-045C-BF31A417F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6717" y="2085782"/>
              <a:ext cx="424547" cy="339636"/>
            </a:xfrm>
            <a:prstGeom prst="rect">
              <a:avLst/>
            </a:prstGeom>
          </p:spPr>
        </p:pic>
        <p:sp>
          <p:nvSpPr>
            <p:cNvPr id="24" name="Text 4">
              <a:extLst>
                <a:ext uri="{FF2B5EF4-FFF2-40B4-BE49-F238E27FC236}">
                  <a16:creationId xmlns:a16="http://schemas.microsoft.com/office/drawing/2014/main" id="{04340592-1AB4-9167-8D30-4F1393D7A1FC}"/>
                </a:ext>
              </a:extLst>
            </p:cNvPr>
            <p:cNvSpPr/>
            <p:nvPr/>
          </p:nvSpPr>
          <p:spPr>
            <a:xfrm>
              <a:off x="1660526" y="2075682"/>
              <a:ext cx="825547" cy="205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1400" b="1" dirty="0">
                  <a:solidFill>
                    <a:srgbClr val="0A0A0A"/>
                  </a:solidFill>
                </a:rPr>
                <a:t>Legal-Pro</a:t>
              </a:r>
              <a:endParaRPr lang="en-US" sz="1400" dirty="0"/>
            </a:p>
          </p:txBody>
        </p:sp>
        <p:sp>
          <p:nvSpPr>
            <p:cNvPr id="25" name="Text 5">
              <a:extLst>
                <a:ext uri="{FF2B5EF4-FFF2-40B4-BE49-F238E27FC236}">
                  <a16:creationId xmlns:a16="http://schemas.microsoft.com/office/drawing/2014/main" id="{A1A85A50-5154-520E-422B-3AE6196BC127}"/>
                </a:ext>
              </a:extLst>
            </p:cNvPr>
            <p:cNvSpPr/>
            <p:nvPr/>
          </p:nvSpPr>
          <p:spPr>
            <a:xfrm>
              <a:off x="1660526" y="2309044"/>
              <a:ext cx="1112484" cy="153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sz="1050" dirty="0">
                  <a:solidFill>
                    <a:srgbClr val="666666"/>
                  </a:solidFill>
                </a:rPr>
                <a:t>ID: ag_</a:t>
              </a:r>
              <a:r>
                <a:rPr lang="en-US" altLang="zh-CN" sz="1050" dirty="0">
                  <a:solidFill>
                    <a:srgbClr val="666666"/>
                  </a:solidFill>
                </a:rPr>
                <a:t>250115001</a:t>
              </a:r>
              <a:endParaRPr lang="en-US" sz="1050" dirty="0"/>
            </a:p>
          </p:txBody>
        </p:sp>
        <p:sp>
          <p:nvSpPr>
            <p:cNvPr id="26" name="Text 6">
              <a:extLst>
                <a:ext uri="{FF2B5EF4-FFF2-40B4-BE49-F238E27FC236}">
                  <a16:creationId xmlns:a16="http://schemas.microsoft.com/office/drawing/2014/main" id="{DAB85C1D-CA51-A948-AE25-6AB586EBFD74}"/>
                </a:ext>
              </a:extLst>
            </p:cNvPr>
            <p:cNvSpPr/>
            <p:nvPr/>
          </p:nvSpPr>
          <p:spPr>
            <a:xfrm>
              <a:off x="2372970" y="2757385"/>
              <a:ext cx="597728" cy="13202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1067"/>
                </a:lnSpc>
              </a:pPr>
              <a:r>
                <a:rPr lang="en-US" sz="900" kern="0" spc="1" dirty="0">
                  <a:solidFill>
                    <a:srgbClr val="888888"/>
                  </a:solidFill>
                </a:rPr>
                <a:t>Trust Score</a:t>
              </a:r>
              <a:endParaRPr lang="en-US" sz="900" dirty="0"/>
            </a:p>
          </p:txBody>
        </p:sp>
        <p:sp>
          <p:nvSpPr>
            <p:cNvPr id="27" name="Text 7">
              <a:extLst>
                <a:ext uri="{FF2B5EF4-FFF2-40B4-BE49-F238E27FC236}">
                  <a16:creationId xmlns:a16="http://schemas.microsoft.com/office/drawing/2014/main" id="{3892A746-4746-2E20-64A0-471935028F53}"/>
                </a:ext>
              </a:extLst>
            </p:cNvPr>
            <p:cNvSpPr/>
            <p:nvPr/>
          </p:nvSpPr>
          <p:spPr>
            <a:xfrm>
              <a:off x="2438277" y="2946657"/>
              <a:ext cx="537455" cy="5514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lnSpc>
                  <a:spcPts val="4267"/>
                </a:lnSpc>
              </a:pPr>
              <a:r>
                <a:rPr lang="en-US" sz="4000" b="1" dirty="0">
                  <a:solidFill>
                    <a:srgbClr val="2E3192"/>
                  </a:solidFill>
                  <a:latin typeface="Bebas" pitchFamily="2" charset="0"/>
                </a:rPr>
                <a:t>98</a:t>
              </a:r>
              <a:endParaRPr lang="en-US" sz="4000" dirty="0">
                <a:latin typeface="Bebas" pitchFamily="2" charset="0"/>
              </a:endParaRPr>
            </a:p>
          </p:txBody>
        </p:sp>
        <p:sp>
          <p:nvSpPr>
            <p:cNvPr id="28" name="Shape 8">
              <a:extLst>
                <a:ext uri="{FF2B5EF4-FFF2-40B4-BE49-F238E27FC236}">
                  <a16:creationId xmlns:a16="http://schemas.microsoft.com/office/drawing/2014/main" id="{B39E7EC7-D698-B1F9-5FC3-8B13399091A7}"/>
                </a:ext>
              </a:extLst>
            </p:cNvPr>
            <p:cNvSpPr/>
            <p:nvPr/>
          </p:nvSpPr>
          <p:spPr>
            <a:xfrm>
              <a:off x="3525202" y="2070653"/>
              <a:ext cx="759183" cy="361274"/>
            </a:xfrm>
            <a:prstGeom prst="roundRect">
              <a:avLst>
                <a:gd name="adj" fmla="val 50000"/>
              </a:avLst>
            </a:prstGeom>
            <a:solidFill>
              <a:srgbClr val="E6F7ED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29" name="Text 9">
              <a:extLst>
                <a:ext uri="{FF2B5EF4-FFF2-40B4-BE49-F238E27FC236}">
                  <a16:creationId xmlns:a16="http://schemas.microsoft.com/office/drawing/2014/main" id="{6CA0D542-8E8D-6113-D539-0FB773840656}"/>
                </a:ext>
              </a:extLst>
            </p:cNvPr>
            <p:cNvSpPr/>
            <p:nvPr/>
          </p:nvSpPr>
          <p:spPr>
            <a:xfrm>
              <a:off x="3486630" y="2070653"/>
              <a:ext cx="844004" cy="364736"/>
            </a:xfrm>
            <a:prstGeom prst="rect">
              <a:avLst/>
            </a:prstGeom>
            <a:noFill/>
            <a:ln/>
          </p:spPr>
          <p:txBody>
            <a:bodyPr wrap="square" lIns="136144" tIns="45381" rIns="136144" bIns="45381" rtlCol="0" anchor="t">
              <a:spAutoFit/>
            </a:bodyPr>
            <a:lstStyle/>
            <a:p>
              <a:pPr algn="ctr">
                <a:lnSpc>
                  <a:spcPts val="1067"/>
                </a:lnSpc>
              </a:pPr>
              <a:r>
                <a:rPr lang="en-US" altLang="zh-CN" sz="900" b="1" dirty="0">
                  <a:solidFill>
                    <a:srgbClr val="00A854"/>
                  </a:solidFill>
                </a:rPr>
                <a:t>4.9</a:t>
              </a:r>
              <a:r>
                <a:rPr lang="en-US" sz="900" b="1" dirty="0">
                  <a:solidFill>
                    <a:srgbClr val="00A854"/>
                  </a:solidFill>
                </a:rPr>
                <a:t> RATED</a:t>
              </a:r>
              <a:endParaRPr lang="en-US" sz="900" dirty="0"/>
            </a:p>
          </p:txBody>
        </p:sp>
        <p:sp>
          <p:nvSpPr>
            <p:cNvPr id="30" name="Text 10">
              <a:extLst>
                <a:ext uri="{FF2B5EF4-FFF2-40B4-BE49-F238E27FC236}">
                  <a16:creationId xmlns:a16="http://schemas.microsoft.com/office/drawing/2014/main" id="{4BC49178-8AE3-606E-349B-558B533FDCAC}"/>
                </a:ext>
              </a:extLst>
            </p:cNvPr>
            <p:cNvSpPr/>
            <p:nvPr/>
          </p:nvSpPr>
          <p:spPr>
            <a:xfrm>
              <a:off x="1128011" y="3712708"/>
              <a:ext cx="787075" cy="153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sz="1000" dirty="0">
                  <a:solidFill>
                    <a:srgbClr val="666666"/>
                  </a:solidFill>
                </a:rPr>
                <a:t>Success Rate</a:t>
              </a:r>
              <a:endParaRPr lang="en-US" sz="1000" dirty="0"/>
            </a:p>
          </p:txBody>
        </p:sp>
        <p:sp>
          <p:nvSpPr>
            <p:cNvPr id="31" name="Text 11">
              <a:extLst>
                <a:ext uri="{FF2B5EF4-FFF2-40B4-BE49-F238E27FC236}">
                  <a16:creationId xmlns:a16="http://schemas.microsoft.com/office/drawing/2014/main" id="{5F57947D-92CB-3D1D-B854-4468A4F226B1}"/>
                </a:ext>
              </a:extLst>
            </p:cNvPr>
            <p:cNvSpPr/>
            <p:nvPr/>
          </p:nvSpPr>
          <p:spPr>
            <a:xfrm>
              <a:off x="3697232" y="3712709"/>
              <a:ext cx="360676" cy="153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sz="1000" b="1" dirty="0">
                  <a:solidFill>
                    <a:srgbClr val="0A0A0A"/>
                  </a:solidFill>
                </a:rPr>
                <a:t>99.9%</a:t>
              </a:r>
              <a:endParaRPr lang="en-US" sz="1000" dirty="0"/>
            </a:p>
          </p:txBody>
        </p:sp>
        <p:sp>
          <p:nvSpPr>
            <p:cNvPr id="32" name="Text 12">
              <a:extLst>
                <a:ext uri="{FF2B5EF4-FFF2-40B4-BE49-F238E27FC236}">
                  <a16:creationId xmlns:a16="http://schemas.microsoft.com/office/drawing/2014/main" id="{CBD33E8C-A6E2-61BB-84D8-2C2ACFA7A73F}"/>
                </a:ext>
              </a:extLst>
            </p:cNvPr>
            <p:cNvSpPr/>
            <p:nvPr/>
          </p:nvSpPr>
          <p:spPr>
            <a:xfrm>
              <a:off x="1128011" y="3957978"/>
              <a:ext cx="553037" cy="153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sz="1000" dirty="0">
                  <a:solidFill>
                    <a:srgbClr val="666666"/>
                  </a:solidFill>
                </a:rPr>
                <a:t>Avg. Cost</a:t>
              </a:r>
              <a:endParaRPr lang="en-US" sz="1000" dirty="0"/>
            </a:p>
          </p:txBody>
        </p:sp>
        <p:sp>
          <p:nvSpPr>
            <p:cNvPr id="33" name="Text 13">
              <a:extLst>
                <a:ext uri="{FF2B5EF4-FFF2-40B4-BE49-F238E27FC236}">
                  <a16:creationId xmlns:a16="http://schemas.microsoft.com/office/drawing/2014/main" id="{0C74FAB9-FF93-C16F-8CB9-96F0B43149C1}"/>
                </a:ext>
              </a:extLst>
            </p:cNvPr>
            <p:cNvSpPr/>
            <p:nvPr/>
          </p:nvSpPr>
          <p:spPr>
            <a:xfrm>
              <a:off x="3428895" y="3957978"/>
              <a:ext cx="642805" cy="153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sz="1000" b="1" dirty="0">
                  <a:solidFill>
                    <a:srgbClr val="0A0A0A"/>
                  </a:solidFill>
                </a:rPr>
                <a:t>$0.45/Task</a:t>
              </a:r>
              <a:endParaRPr lang="en-US" sz="1000" dirty="0"/>
            </a:p>
          </p:txBody>
        </p:sp>
      </p:grpSp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283B223D-D59E-2490-6EC9-5C864517D202}"/>
              </a:ext>
            </a:extLst>
          </p:cNvPr>
          <p:cNvCxnSpPr>
            <a:cxnSpLocks/>
          </p:cNvCxnSpPr>
          <p:nvPr/>
        </p:nvCxnSpPr>
        <p:spPr>
          <a:xfrm>
            <a:off x="1923322" y="2725698"/>
            <a:ext cx="3201737" cy="0"/>
          </a:xfrm>
          <a:prstGeom prst="line">
            <a:avLst/>
          </a:prstGeom>
          <a:ln w="12700">
            <a:solidFill>
              <a:schemeClr val="bg1">
                <a:lumMod val="75000"/>
                <a:alpha val="5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7543CBEA-BDAB-5F93-8304-5838746B8036}"/>
              </a:ext>
            </a:extLst>
          </p:cNvPr>
          <p:cNvCxnSpPr>
            <a:cxnSpLocks/>
          </p:cNvCxnSpPr>
          <p:nvPr/>
        </p:nvCxnSpPr>
        <p:spPr>
          <a:xfrm>
            <a:off x="1940741" y="3651908"/>
            <a:ext cx="3201737" cy="0"/>
          </a:xfrm>
          <a:prstGeom prst="line">
            <a:avLst/>
          </a:prstGeom>
          <a:ln w="12700">
            <a:solidFill>
              <a:schemeClr val="bg1">
                <a:lumMod val="75000"/>
                <a:alpha val="5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age 3" descr="preencoded.png">
            <a:extLst>
              <a:ext uri="{FF2B5EF4-FFF2-40B4-BE49-F238E27FC236}">
                <a16:creationId xmlns:a16="http://schemas.microsoft.com/office/drawing/2014/main" id="{E094D7EB-9F7A-12F9-D9C1-2F775C2551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788" y="4948710"/>
            <a:ext cx="348127" cy="1300637"/>
          </a:xfrm>
          <a:prstGeom prst="rect">
            <a:avLst/>
          </a:prstGeom>
        </p:spPr>
      </p:pic>
      <p:pic>
        <p:nvPicPr>
          <p:cNvPr id="41" name="Image 5" descr="preencoded.png">
            <a:extLst>
              <a:ext uri="{FF2B5EF4-FFF2-40B4-BE49-F238E27FC236}">
                <a16:creationId xmlns:a16="http://schemas.microsoft.com/office/drawing/2014/main" id="{2CA07384-137D-61EF-FDD4-85F477D5F68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7552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38575" y="4838256"/>
            <a:ext cx="466118" cy="1741463"/>
          </a:xfrm>
          <a:prstGeom prst="rect">
            <a:avLst/>
          </a:prstGeom>
          <a:noFill/>
        </p:spPr>
      </p:pic>
      <p:pic>
        <p:nvPicPr>
          <p:cNvPr id="42" name="Image 6" descr="preencoded.png">
            <a:extLst>
              <a:ext uri="{FF2B5EF4-FFF2-40B4-BE49-F238E27FC236}">
                <a16:creationId xmlns:a16="http://schemas.microsoft.com/office/drawing/2014/main" id="{5E945AD6-0853-B4E2-1121-0D5540FA13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1012" y="4946856"/>
            <a:ext cx="379672" cy="1418492"/>
          </a:xfrm>
          <a:prstGeom prst="rect">
            <a:avLst/>
          </a:prstGeom>
        </p:spPr>
      </p:pic>
      <p:pic>
        <p:nvPicPr>
          <p:cNvPr id="43" name="Image 4" descr="preencoded.png">
            <a:extLst>
              <a:ext uri="{FF2B5EF4-FFF2-40B4-BE49-F238E27FC236}">
                <a16:creationId xmlns:a16="http://schemas.microsoft.com/office/drawing/2014/main" id="{A8EF3F9A-F116-8AF9-7EAB-4D25CA50A12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6434" y="4950565"/>
            <a:ext cx="348127" cy="1300637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9A328527-DFE4-12AE-65FE-9075879401E0}"/>
              </a:ext>
            </a:extLst>
          </p:cNvPr>
          <p:cNvSpPr txBox="1"/>
          <p:nvPr/>
        </p:nvSpPr>
        <p:spPr>
          <a:xfrm>
            <a:off x="973727" y="5779440"/>
            <a:ext cx="20069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rgbClr val="666666"/>
                </a:solidFill>
              </a:rPr>
              <a:t>Cryptographic proof of Agent origin and</a:t>
            </a:r>
            <a:r>
              <a:rPr lang="zh-CN" altLang="en-US" sz="1100" dirty="0">
                <a:solidFill>
                  <a:srgbClr val="666666"/>
                </a:solidFill>
              </a:rPr>
              <a:t> </a:t>
            </a:r>
            <a:r>
              <a:rPr lang="en-US" altLang="zh-CN" sz="1100" dirty="0">
                <a:solidFill>
                  <a:srgbClr val="666666"/>
                </a:solidFill>
              </a:rPr>
              <a:t>developer identity.</a:t>
            </a:r>
            <a:endParaRPr lang="en-US" altLang="zh-CN" sz="11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90EDBAB-6AC2-F959-73B2-2E80F9B9D985}"/>
              </a:ext>
            </a:extLst>
          </p:cNvPr>
          <p:cNvSpPr txBox="1"/>
          <p:nvPr/>
        </p:nvSpPr>
        <p:spPr>
          <a:xfrm>
            <a:off x="3550481" y="5807653"/>
            <a:ext cx="2006935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</a:pPr>
            <a:r>
              <a:rPr lang="en-US" altLang="zh-CN" sz="1100" dirty="0">
                <a:solidFill>
                  <a:srgbClr val="666666"/>
                </a:solidFill>
              </a:rPr>
              <a:t>Real-time tracking of task success vs. failure</a:t>
            </a:r>
            <a:r>
              <a:rPr lang="zh-CN" altLang="en-US" sz="1100" dirty="0">
                <a:solidFill>
                  <a:srgbClr val="666666"/>
                </a:solidFill>
              </a:rPr>
              <a:t> </a:t>
            </a:r>
            <a:r>
              <a:rPr lang="en-US" altLang="zh-CN" sz="1100" dirty="0">
                <a:solidFill>
                  <a:srgbClr val="666666"/>
                </a:solidFill>
              </a:rPr>
              <a:t>rates.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6CB7CA7-8340-0B54-F4B7-741EB24C64C4}"/>
              </a:ext>
            </a:extLst>
          </p:cNvPr>
          <p:cNvSpPr txBox="1"/>
          <p:nvPr/>
        </p:nvSpPr>
        <p:spPr>
          <a:xfrm>
            <a:off x="9226631" y="5807653"/>
            <a:ext cx="2262172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</a:pPr>
            <a:r>
              <a:rPr lang="en-US" altLang="zh-CN" sz="1100" dirty="0">
                <a:solidFill>
                  <a:srgbClr val="666666"/>
                </a:solidFill>
              </a:rPr>
              <a:t>Smart contracts automatically hold funds if</a:t>
            </a:r>
            <a:r>
              <a:rPr lang="zh-CN" altLang="en-US" sz="1100" dirty="0">
                <a:solidFill>
                  <a:srgbClr val="666666"/>
                </a:solidFill>
              </a:rPr>
              <a:t> </a:t>
            </a:r>
            <a:r>
              <a:rPr lang="en-US" altLang="zh-CN" sz="1100" dirty="0">
                <a:solidFill>
                  <a:srgbClr val="666666"/>
                </a:solidFill>
              </a:rPr>
              <a:t>trust score drops.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E6857A1-D07D-EE43-68FF-96997DC63BEA}"/>
              </a:ext>
            </a:extLst>
          </p:cNvPr>
          <p:cNvSpPr txBox="1"/>
          <p:nvPr/>
        </p:nvSpPr>
        <p:spPr>
          <a:xfrm>
            <a:off x="6804986" y="5775991"/>
            <a:ext cx="1989620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00"/>
              </a:lnSpc>
            </a:pPr>
            <a:r>
              <a:rPr lang="en-US" altLang="zh-CN" sz="1100" dirty="0">
                <a:solidFill>
                  <a:schemeClr val="bg1"/>
                </a:solidFill>
              </a:rPr>
              <a:t>Automated checks for malicious code or</a:t>
            </a:r>
            <a:r>
              <a:rPr lang="zh-CN" altLang="en-US" sz="1100" dirty="0">
                <a:solidFill>
                  <a:schemeClr val="bg1"/>
                </a:solidFill>
              </a:rPr>
              <a:t> </a:t>
            </a:r>
            <a:r>
              <a:rPr lang="en-US" altLang="zh-CN" sz="1100" dirty="0">
                <a:solidFill>
                  <a:schemeClr val="bg1"/>
                </a:solidFill>
              </a:rPr>
              <a:t>data leakage risks.</a:t>
            </a:r>
          </a:p>
        </p:txBody>
      </p:sp>
      <p:sp>
        <p:nvSpPr>
          <p:cNvPr id="49" name="燕尾形 48">
            <a:extLst>
              <a:ext uri="{FF2B5EF4-FFF2-40B4-BE49-F238E27FC236}">
                <a16:creationId xmlns:a16="http://schemas.microsoft.com/office/drawing/2014/main" id="{E3618AC2-7D56-CFE2-69CD-30C3ABEC82D5}"/>
              </a:ext>
            </a:extLst>
          </p:cNvPr>
          <p:cNvSpPr/>
          <p:nvPr/>
        </p:nvSpPr>
        <p:spPr>
          <a:xfrm>
            <a:off x="5721957" y="2608291"/>
            <a:ext cx="590382" cy="931217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65" name="圆角矩形 64">
            <a:extLst>
              <a:ext uri="{FF2B5EF4-FFF2-40B4-BE49-F238E27FC236}">
                <a16:creationId xmlns:a16="http://schemas.microsoft.com/office/drawing/2014/main" id="{3FCDF002-BF4A-F24C-F131-705E8C8E3855}"/>
              </a:ext>
            </a:extLst>
          </p:cNvPr>
          <p:cNvSpPr/>
          <p:nvPr/>
        </p:nvSpPr>
        <p:spPr>
          <a:xfrm>
            <a:off x="6524667" y="1780407"/>
            <a:ext cx="3702862" cy="2586405"/>
          </a:xfrm>
          <a:prstGeom prst="roundRect">
            <a:avLst>
              <a:gd name="adj" fmla="val 10194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A4DB91D-AD30-8510-8B14-A30EBDB00B9B}"/>
              </a:ext>
            </a:extLst>
          </p:cNvPr>
          <p:cNvSpPr txBox="1"/>
          <p:nvPr/>
        </p:nvSpPr>
        <p:spPr>
          <a:xfrm>
            <a:off x="6778877" y="1917570"/>
            <a:ext cx="3060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Identity Layer</a:t>
            </a:r>
            <a:endParaRPr kumimoji="1" lang="zh-CN" altLang="en-US" sz="14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A07149A-0A39-1D64-C972-4317A4F6C3F5}"/>
              </a:ext>
            </a:extLst>
          </p:cNvPr>
          <p:cNvSpPr txBox="1"/>
          <p:nvPr/>
        </p:nvSpPr>
        <p:spPr>
          <a:xfrm>
            <a:off x="6778877" y="2501909"/>
            <a:ext cx="3060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Capability</a:t>
            </a:r>
            <a:r>
              <a:rPr lang="en-US" altLang="zh-CN" b="1" dirty="0"/>
              <a:t> </a:t>
            </a:r>
            <a:r>
              <a:rPr lang="en-US" altLang="zh-CN" sz="1400" b="1" dirty="0"/>
              <a:t>Layer</a:t>
            </a:r>
            <a:endParaRPr lang="zh-CN" altLang="en-US" sz="1400" b="1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43519A46-FC69-F096-95E1-DCA2D3332C89}"/>
              </a:ext>
            </a:extLst>
          </p:cNvPr>
          <p:cNvSpPr txBox="1"/>
          <p:nvPr/>
        </p:nvSpPr>
        <p:spPr>
          <a:xfrm>
            <a:off x="6778876" y="3086248"/>
            <a:ext cx="3060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Reputation</a:t>
            </a:r>
            <a:r>
              <a:rPr lang="en-US" altLang="zh-CN" b="1" dirty="0"/>
              <a:t> </a:t>
            </a:r>
            <a:r>
              <a:rPr lang="en-US" altLang="zh-CN" sz="1400" b="1" dirty="0"/>
              <a:t>Layer</a:t>
            </a:r>
            <a:endParaRPr lang="zh-CN" altLang="en-US" sz="1400" b="1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29B8214-7863-7C26-10D7-DF50E6ECDC65}"/>
              </a:ext>
            </a:extLst>
          </p:cNvPr>
          <p:cNvSpPr txBox="1"/>
          <p:nvPr/>
        </p:nvSpPr>
        <p:spPr>
          <a:xfrm>
            <a:off x="6778875" y="3670586"/>
            <a:ext cx="3060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Security</a:t>
            </a:r>
            <a:r>
              <a:rPr lang="en-US" altLang="zh-CN" b="1" dirty="0"/>
              <a:t> </a:t>
            </a:r>
            <a:r>
              <a:rPr lang="en-US" altLang="zh-CN" sz="1400" b="1" dirty="0"/>
              <a:t>Layer</a:t>
            </a:r>
            <a:endParaRPr lang="zh-CN" altLang="en-US" sz="1400" b="1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962F40B2-CF4D-BAFA-2FAE-BC281393A569}"/>
              </a:ext>
            </a:extLst>
          </p:cNvPr>
          <p:cNvSpPr txBox="1"/>
          <p:nvPr/>
        </p:nvSpPr>
        <p:spPr>
          <a:xfrm>
            <a:off x="6790255" y="2122702"/>
            <a:ext cx="33792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Developer certification, historical transaction records, registration data verification……</a:t>
            </a:r>
            <a:endParaRPr kumimoji="1"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0A33E6B-D517-F9D4-B1A1-41FDCC9978F7}"/>
              </a:ext>
            </a:extLst>
          </p:cNvPr>
          <p:cNvSpPr txBox="1"/>
          <p:nvPr/>
        </p:nvSpPr>
        <p:spPr>
          <a:xfrm>
            <a:off x="6790255" y="2747603"/>
            <a:ext cx="33792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Task success rates, average response times, error rate statistics, cost efficiency.……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42F10C71-7DEC-A963-76A3-F9530DB1CFEB}"/>
              </a:ext>
            </a:extLst>
          </p:cNvPr>
          <p:cNvSpPr txBox="1"/>
          <p:nvPr/>
        </p:nvSpPr>
        <p:spPr>
          <a:xfrm>
            <a:off x="6775524" y="3333867"/>
            <a:ext cx="33792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Customer ratings, dispute rates, refund request frequency, reuse rates.……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DF8BAA84-7231-A213-888C-1BA02471F088}"/>
              </a:ext>
            </a:extLst>
          </p:cNvPr>
          <p:cNvSpPr txBox="1"/>
          <p:nvPr/>
        </p:nvSpPr>
        <p:spPr>
          <a:xfrm>
            <a:off x="6790255" y="3920130"/>
            <a:ext cx="33792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Anomaly behavior detection, fraud monitoring, data security audits .……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5" name="îṡľiḍe">
            <a:extLst>
              <a:ext uri="{FF2B5EF4-FFF2-40B4-BE49-F238E27FC236}">
                <a16:creationId xmlns:a16="http://schemas.microsoft.com/office/drawing/2014/main" id="{8F9D02FE-3B57-F39A-FCA1-FCFDB0A8712B}"/>
              </a:ext>
            </a:extLst>
          </p:cNvPr>
          <p:cNvSpPr/>
          <p:nvPr/>
        </p:nvSpPr>
        <p:spPr>
          <a:xfrm rot="10800000" flipH="1">
            <a:off x="9311013" y="0"/>
            <a:ext cx="2893866" cy="2318676"/>
          </a:xfrm>
          <a:custGeom>
            <a:avLst/>
            <a:gdLst>
              <a:gd name="connsiteX0" fmla="*/ 2463597 w 3862696"/>
              <a:gd name="connsiteY0" fmla="*/ 852 h 4142426"/>
              <a:gd name="connsiteX1" fmla="*/ 3855788 w 3862696"/>
              <a:gd name="connsiteY1" fmla="*/ 373889 h 4142426"/>
              <a:gd name="connsiteX2" fmla="*/ 3862696 w 3862696"/>
              <a:gd name="connsiteY2" fmla="*/ 378597 h 4142426"/>
              <a:gd name="connsiteX3" fmla="*/ 3862696 w 3862696"/>
              <a:gd name="connsiteY3" fmla="*/ 4142426 h 4142426"/>
              <a:gd name="connsiteX4" fmla="*/ 582470 w 3862696"/>
              <a:gd name="connsiteY4" fmla="*/ 4142426 h 4142426"/>
              <a:gd name="connsiteX5" fmla="*/ 480247 w 3862696"/>
              <a:gd name="connsiteY5" fmla="*/ 4014728 h 4142426"/>
              <a:gd name="connsiteX6" fmla="*/ 339532 w 3862696"/>
              <a:gd name="connsiteY6" fmla="*/ 3797139 h 4142426"/>
              <a:gd name="connsiteX7" fmla="*/ 1265995 w 3862696"/>
              <a:gd name="connsiteY7" fmla="*/ 339532 h 4142426"/>
              <a:gd name="connsiteX8" fmla="*/ 2463597 w 3862696"/>
              <a:gd name="connsiteY8" fmla="*/ 852 h 414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62696" h="4142426">
                <a:moveTo>
                  <a:pt x="2463597" y="852"/>
                </a:moveTo>
                <a:cubicBezTo>
                  <a:pt x="2953209" y="-11864"/>
                  <a:pt x="3438129" y="118070"/>
                  <a:pt x="3855788" y="373889"/>
                </a:cubicBezTo>
                <a:lnTo>
                  <a:pt x="3862696" y="378597"/>
                </a:lnTo>
                <a:lnTo>
                  <a:pt x="3862696" y="4142426"/>
                </a:lnTo>
                <a:lnTo>
                  <a:pt x="582470" y="4142426"/>
                </a:lnTo>
                <a:lnTo>
                  <a:pt x="480247" y="4014728"/>
                </a:lnTo>
                <a:cubicBezTo>
                  <a:pt x="430218" y="3945359"/>
                  <a:pt x="383217" y="3872803"/>
                  <a:pt x="339532" y="3797139"/>
                </a:cubicBezTo>
                <a:cubicBezTo>
                  <a:pt x="-359424" y="2586512"/>
                  <a:pt x="55368" y="1038488"/>
                  <a:pt x="1265995" y="339532"/>
                </a:cubicBezTo>
                <a:cubicBezTo>
                  <a:pt x="1644316" y="121108"/>
                  <a:pt x="2055586" y="11449"/>
                  <a:pt x="2463597" y="852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6" name="íš1ídé">
            <a:extLst>
              <a:ext uri="{FF2B5EF4-FFF2-40B4-BE49-F238E27FC236}">
                <a16:creationId xmlns:a16="http://schemas.microsoft.com/office/drawing/2014/main" id="{8326ABAB-F098-3FCD-40C3-18C0F9AF6A16}"/>
              </a:ext>
            </a:extLst>
          </p:cNvPr>
          <p:cNvSpPr/>
          <p:nvPr/>
        </p:nvSpPr>
        <p:spPr>
          <a:xfrm flipV="1">
            <a:off x="7794769" y="-1361"/>
            <a:ext cx="3724131" cy="834092"/>
          </a:xfrm>
          <a:custGeom>
            <a:avLst/>
            <a:gdLst>
              <a:gd name="connsiteX0" fmla="*/ 1677294 w 3570005"/>
              <a:gd name="connsiteY0" fmla="*/ 2674 h 1025639"/>
              <a:gd name="connsiteX1" fmla="*/ 1888969 w 3570005"/>
              <a:gd name="connsiteY1" fmla="*/ 2685 h 1025639"/>
              <a:gd name="connsiteX2" fmla="*/ 2860682 w 3570005"/>
              <a:gd name="connsiteY2" fmla="*/ 301674 h 1025639"/>
              <a:gd name="connsiteX3" fmla="*/ 3501815 w 3570005"/>
              <a:gd name="connsiteY3" fmla="*/ 915810 h 1025639"/>
              <a:gd name="connsiteX4" fmla="*/ 3570005 w 3570005"/>
              <a:gd name="connsiteY4" fmla="*/ 1025639 h 1025639"/>
              <a:gd name="connsiteX5" fmla="*/ 0 w 3570005"/>
              <a:gd name="connsiteY5" fmla="*/ 1025639 h 1025639"/>
              <a:gd name="connsiteX6" fmla="*/ 18563 w 3570005"/>
              <a:gd name="connsiteY6" fmla="*/ 991614 h 1025639"/>
              <a:gd name="connsiteX7" fmla="*/ 1677294 w 3570005"/>
              <a:gd name="connsiteY7" fmla="*/ 2674 h 1025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70005" h="1025639">
                <a:moveTo>
                  <a:pt x="1677294" y="2674"/>
                </a:moveTo>
                <a:cubicBezTo>
                  <a:pt x="1747070" y="-867"/>
                  <a:pt x="1817689" y="-918"/>
                  <a:pt x="1888969" y="2685"/>
                </a:cubicBezTo>
                <a:cubicBezTo>
                  <a:pt x="2245368" y="20699"/>
                  <a:pt x="2576117" y="127935"/>
                  <a:pt x="2860682" y="301674"/>
                </a:cubicBezTo>
                <a:cubicBezTo>
                  <a:pt x="3116790" y="458038"/>
                  <a:pt x="3335490" y="668271"/>
                  <a:pt x="3501815" y="915810"/>
                </a:cubicBezTo>
                <a:lnTo>
                  <a:pt x="3570005" y="1025639"/>
                </a:lnTo>
                <a:lnTo>
                  <a:pt x="0" y="1025639"/>
                </a:lnTo>
                <a:lnTo>
                  <a:pt x="18563" y="991614"/>
                </a:lnTo>
                <a:cubicBezTo>
                  <a:pt x="366041" y="422483"/>
                  <a:pt x="979532" y="38085"/>
                  <a:pt x="1677294" y="2674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  <a:alpha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1718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1CEBB28-1B7F-D9D6-F7C8-A76C351F89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3BB2DC9-2049-11FD-7AB1-179EBCCBE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250" y="1329181"/>
            <a:ext cx="5368899" cy="3787514"/>
          </a:xfrm>
          <a:prstGeom prst="rect">
            <a:avLst/>
          </a:prstGeom>
          <a:solidFill>
            <a:srgbClr val="F9FAFD"/>
          </a:solidFill>
          <a:ln>
            <a:solidFill>
              <a:schemeClr val="accent1">
                <a:shade val="15000"/>
              </a:schemeClr>
            </a:solidFill>
          </a:ln>
          <a:effectLst>
            <a:outerShdw dist="114341" dir="2700000" algn="tl" rotWithShape="0">
              <a:schemeClr val="bg1">
                <a:lumMod val="85000"/>
                <a:alpha val="40000"/>
              </a:scheme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147C414-EBA1-F53B-261D-1FD615476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772" y="1329181"/>
            <a:ext cx="4587574" cy="3787514"/>
          </a:xfrm>
          <a:prstGeom prst="rect">
            <a:avLst/>
          </a:prstGeom>
          <a:solidFill>
            <a:srgbClr val="F9FAFD"/>
          </a:solidFill>
          <a:ln>
            <a:solidFill>
              <a:schemeClr val="accent1">
                <a:shade val="15000"/>
              </a:schemeClr>
            </a:solidFill>
          </a:ln>
          <a:effectLst>
            <a:outerShdw dist="114341" dir="2700000" algn="tl" rotWithShape="0">
              <a:schemeClr val="bg1">
                <a:lumMod val="85000"/>
                <a:alpha val="40000"/>
              </a:schemeClr>
            </a:outerShdw>
          </a:effec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2F8A0DC-7F3C-5DD5-4967-88B40A85DBB1}"/>
              </a:ext>
            </a:extLst>
          </p:cNvPr>
          <p:cNvSpPr txBox="1"/>
          <p:nvPr/>
        </p:nvSpPr>
        <p:spPr>
          <a:xfrm>
            <a:off x="1369005" y="5569840"/>
            <a:ext cx="3225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Drop-in components</a:t>
            </a:r>
          </a:p>
        </p:txBody>
      </p:sp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BF5213C3-BFD2-A2F8-DB49-17F772EE5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250" y="5558591"/>
            <a:ext cx="373755" cy="37375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4586FE4-77DF-3DD7-D5FC-99EA5A6BE832}"/>
              </a:ext>
            </a:extLst>
          </p:cNvPr>
          <p:cNvSpPr txBox="1"/>
          <p:nvPr/>
        </p:nvSpPr>
        <p:spPr>
          <a:xfrm>
            <a:off x="1369005" y="5918487"/>
            <a:ext cx="2851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Copy–paste and they work immediately.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E9539C-32EF-E0B7-60B4-C608067BFFA8}"/>
              </a:ext>
            </a:extLst>
          </p:cNvPr>
          <p:cNvSpPr txBox="1"/>
          <p:nvPr/>
        </p:nvSpPr>
        <p:spPr>
          <a:xfrm>
            <a:off x="5167997" y="5576804"/>
            <a:ext cx="3225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Fast CLI</a:t>
            </a:r>
          </a:p>
        </p:txBody>
      </p:sp>
      <p:pic>
        <p:nvPicPr>
          <p:cNvPr id="10" name="Image 4" descr="preencoded.png">
            <a:extLst>
              <a:ext uri="{FF2B5EF4-FFF2-40B4-BE49-F238E27FC236}">
                <a16:creationId xmlns:a16="http://schemas.microsoft.com/office/drawing/2014/main" id="{97348C16-65DF-52B9-CB06-2704DCFDE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242" y="5565555"/>
            <a:ext cx="373755" cy="37375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DE84435-01E6-16FB-35EE-59E7924E2AFC}"/>
              </a:ext>
            </a:extLst>
          </p:cNvPr>
          <p:cNvSpPr txBox="1"/>
          <p:nvPr/>
        </p:nvSpPr>
        <p:spPr>
          <a:xfrm>
            <a:off x="5167998" y="5925451"/>
            <a:ext cx="2851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Install in under 5 minutes with minimal setup.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0E4E207-BA5B-6C4E-6E61-26D43654736D}"/>
              </a:ext>
            </a:extLst>
          </p:cNvPr>
          <p:cNvSpPr txBox="1"/>
          <p:nvPr/>
        </p:nvSpPr>
        <p:spPr>
          <a:xfrm>
            <a:off x="8526031" y="5583630"/>
            <a:ext cx="3225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Custom dashboards</a:t>
            </a:r>
          </a:p>
        </p:txBody>
      </p:sp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AB200C67-89FC-7522-F1E4-873EADDED8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276" y="5572381"/>
            <a:ext cx="373755" cy="37375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66F8C4A-A5A9-A832-66D6-A6741028941A}"/>
              </a:ext>
            </a:extLst>
          </p:cNvPr>
          <p:cNvSpPr txBox="1"/>
          <p:nvPr/>
        </p:nvSpPr>
        <p:spPr>
          <a:xfrm>
            <a:off x="8526031" y="5932277"/>
            <a:ext cx="3731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UI freely—charts, panels, layouts.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80ED10-219B-909D-6641-4BC45265136F}"/>
              </a:ext>
            </a:extLst>
          </p:cNvPr>
          <p:cNvSpPr txBox="1"/>
          <p:nvPr/>
        </p:nvSpPr>
        <p:spPr>
          <a:xfrm>
            <a:off x="660400" y="251188"/>
            <a:ext cx="79480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+mj-lt"/>
              </a:rPr>
              <a:t>Example:</a:t>
            </a:r>
            <a:r>
              <a:rPr lang="zh-CN" altLang="en-US" sz="3200" b="1" dirty="0">
                <a:latin typeface="+mj-lt"/>
              </a:rPr>
              <a:t> </a:t>
            </a:r>
            <a:r>
              <a:rPr lang="en-US" altLang="zh-CN" sz="3200" b="1" dirty="0">
                <a:latin typeface="+mj-lt"/>
              </a:rPr>
              <a:t>Cost and Revenue Dashboard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4C5D086-CAD9-4CDE-9F4B-AD84A75BEF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5948" y="379147"/>
            <a:ext cx="1902952" cy="39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07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í$ļïďe">
          <a:extLst>
            <a:ext uri="{FF2B5EF4-FFF2-40B4-BE49-F238E27FC236}">
              <a16:creationId xmlns:a16="http://schemas.microsoft.com/office/drawing/2014/main" id="{401DF245-559B-EF81-405C-0CE6C3773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íṩlíďè">
            <a:extLst>
              <a:ext uri="{FF2B5EF4-FFF2-40B4-BE49-F238E27FC236}">
                <a16:creationId xmlns:a16="http://schemas.microsoft.com/office/drawing/2014/main" id="{925C4820-ED88-2A8F-E70A-7337E1A0E8E2}"/>
              </a:ext>
            </a:extLst>
          </p:cNvPr>
          <p:cNvSpPr/>
          <p:nvPr/>
        </p:nvSpPr>
        <p:spPr>
          <a:xfrm flipH="1">
            <a:off x="754245" y="3078036"/>
            <a:ext cx="4636300" cy="2343969"/>
          </a:xfrm>
          <a:prstGeom prst="roundRect">
            <a:avLst>
              <a:gd name="adj" fmla="val 10000"/>
            </a:avLst>
          </a:prstGeom>
          <a:solidFill>
            <a:schemeClr val="tx1">
              <a:lumMod val="25000"/>
              <a:lumOff val="75000"/>
              <a:alpha val="2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5" name="ïsḷîḑe">
            <a:extLst>
              <a:ext uri="{FF2B5EF4-FFF2-40B4-BE49-F238E27FC236}">
                <a16:creationId xmlns:a16="http://schemas.microsoft.com/office/drawing/2014/main" id="{859A829E-3889-4BE5-8E4E-3D03CB353356}"/>
              </a:ext>
            </a:extLst>
          </p:cNvPr>
          <p:cNvGrpSpPr/>
          <p:nvPr/>
        </p:nvGrpSpPr>
        <p:grpSpPr>
          <a:xfrm>
            <a:off x="0" y="0"/>
            <a:ext cx="12191999" cy="6858001"/>
            <a:chOff x="0" y="0"/>
            <a:chExt cx="12191999" cy="6858001"/>
          </a:xfrm>
        </p:grpSpPr>
        <p:sp>
          <p:nvSpPr>
            <p:cNvPr id="29" name="iṥḻíḋè">
              <a:extLst>
                <a:ext uri="{FF2B5EF4-FFF2-40B4-BE49-F238E27FC236}">
                  <a16:creationId xmlns:a16="http://schemas.microsoft.com/office/drawing/2014/main" id="{A7C01C86-D401-5845-CF5E-375294523C05}"/>
                </a:ext>
              </a:extLst>
            </p:cNvPr>
            <p:cNvSpPr/>
            <p:nvPr/>
          </p:nvSpPr>
          <p:spPr>
            <a:xfrm>
              <a:off x="9332260" y="3791164"/>
              <a:ext cx="2859739" cy="3066836"/>
            </a:xfrm>
            <a:custGeom>
              <a:avLst/>
              <a:gdLst>
                <a:gd name="connsiteX0" fmla="*/ 2463597 w 3862696"/>
                <a:gd name="connsiteY0" fmla="*/ 852 h 4142426"/>
                <a:gd name="connsiteX1" fmla="*/ 3855788 w 3862696"/>
                <a:gd name="connsiteY1" fmla="*/ 373889 h 4142426"/>
                <a:gd name="connsiteX2" fmla="*/ 3862696 w 3862696"/>
                <a:gd name="connsiteY2" fmla="*/ 378597 h 4142426"/>
                <a:gd name="connsiteX3" fmla="*/ 3862696 w 3862696"/>
                <a:gd name="connsiteY3" fmla="*/ 4142426 h 4142426"/>
                <a:gd name="connsiteX4" fmla="*/ 582470 w 3862696"/>
                <a:gd name="connsiteY4" fmla="*/ 4142426 h 4142426"/>
                <a:gd name="connsiteX5" fmla="*/ 480247 w 3862696"/>
                <a:gd name="connsiteY5" fmla="*/ 4014728 h 4142426"/>
                <a:gd name="connsiteX6" fmla="*/ 339532 w 3862696"/>
                <a:gd name="connsiteY6" fmla="*/ 3797139 h 4142426"/>
                <a:gd name="connsiteX7" fmla="*/ 1265995 w 3862696"/>
                <a:gd name="connsiteY7" fmla="*/ 339532 h 4142426"/>
                <a:gd name="connsiteX8" fmla="*/ 2463597 w 3862696"/>
                <a:gd name="connsiteY8" fmla="*/ 852 h 414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62696" h="4142426">
                  <a:moveTo>
                    <a:pt x="2463597" y="852"/>
                  </a:moveTo>
                  <a:cubicBezTo>
                    <a:pt x="2953209" y="-11864"/>
                    <a:pt x="3438129" y="118070"/>
                    <a:pt x="3855788" y="373889"/>
                  </a:cubicBezTo>
                  <a:lnTo>
                    <a:pt x="3862696" y="378597"/>
                  </a:lnTo>
                  <a:lnTo>
                    <a:pt x="3862696" y="4142426"/>
                  </a:lnTo>
                  <a:lnTo>
                    <a:pt x="582470" y="4142426"/>
                  </a:lnTo>
                  <a:lnTo>
                    <a:pt x="480247" y="4014728"/>
                  </a:lnTo>
                  <a:cubicBezTo>
                    <a:pt x="430218" y="3945359"/>
                    <a:pt x="383217" y="3872803"/>
                    <a:pt x="339532" y="3797139"/>
                  </a:cubicBezTo>
                  <a:cubicBezTo>
                    <a:pt x="-359424" y="2586512"/>
                    <a:pt x="55368" y="1038488"/>
                    <a:pt x="1265995" y="339532"/>
                  </a:cubicBezTo>
                  <a:cubicBezTo>
                    <a:pt x="1644316" y="121108"/>
                    <a:pt x="2055586" y="11449"/>
                    <a:pt x="2463597" y="852"/>
                  </a:cubicBezTo>
                  <a:close/>
                </a:path>
              </a:pathLst>
            </a:custGeom>
            <a:gradFill flip="none" rotWithShape="1">
              <a:gsLst>
                <a:gs pos="7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30000"/>
                    <a:lumOff val="70000"/>
                    <a:alpha val="6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30" name="iṡlîdê">
              <a:extLst>
                <a:ext uri="{FF2B5EF4-FFF2-40B4-BE49-F238E27FC236}">
                  <a16:creationId xmlns:a16="http://schemas.microsoft.com/office/drawing/2014/main" id="{88F0B067-ED13-2479-5D74-1258F3A57C8B}"/>
                </a:ext>
              </a:extLst>
            </p:cNvPr>
            <p:cNvSpPr/>
            <p:nvPr/>
          </p:nvSpPr>
          <p:spPr>
            <a:xfrm>
              <a:off x="8086072" y="5956300"/>
              <a:ext cx="3138606" cy="901701"/>
            </a:xfrm>
            <a:custGeom>
              <a:avLst/>
              <a:gdLst>
                <a:gd name="connsiteX0" fmla="*/ 1677294 w 3570005"/>
                <a:gd name="connsiteY0" fmla="*/ 2674 h 1025639"/>
                <a:gd name="connsiteX1" fmla="*/ 1888969 w 3570005"/>
                <a:gd name="connsiteY1" fmla="*/ 2685 h 1025639"/>
                <a:gd name="connsiteX2" fmla="*/ 2860682 w 3570005"/>
                <a:gd name="connsiteY2" fmla="*/ 301674 h 1025639"/>
                <a:gd name="connsiteX3" fmla="*/ 3501815 w 3570005"/>
                <a:gd name="connsiteY3" fmla="*/ 915810 h 1025639"/>
                <a:gd name="connsiteX4" fmla="*/ 3570005 w 3570005"/>
                <a:gd name="connsiteY4" fmla="*/ 1025639 h 1025639"/>
                <a:gd name="connsiteX5" fmla="*/ 0 w 3570005"/>
                <a:gd name="connsiteY5" fmla="*/ 1025639 h 1025639"/>
                <a:gd name="connsiteX6" fmla="*/ 18563 w 3570005"/>
                <a:gd name="connsiteY6" fmla="*/ 991614 h 1025639"/>
                <a:gd name="connsiteX7" fmla="*/ 1677294 w 3570005"/>
                <a:gd name="connsiteY7" fmla="*/ 2674 h 102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70005" h="1025639">
                  <a:moveTo>
                    <a:pt x="1677294" y="2674"/>
                  </a:moveTo>
                  <a:cubicBezTo>
                    <a:pt x="1747070" y="-867"/>
                    <a:pt x="1817689" y="-918"/>
                    <a:pt x="1888969" y="2685"/>
                  </a:cubicBezTo>
                  <a:cubicBezTo>
                    <a:pt x="2245368" y="20699"/>
                    <a:pt x="2576117" y="127935"/>
                    <a:pt x="2860682" y="301674"/>
                  </a:cubicBezTo>
                  <a:cubicBezTo>
                    <a:pt x="3116790" y="458038"/>
                    <a:pt x="3335490" y="668271"/>
                    <a:pt x="3501815" y="915810"/>
                  </a:cubicBezTo>
                  <a:lnTo>
                    <a:pt x="3570005" y="1025639"/>
                  </a:lnTo>
                  <a:lnTo>
                    <a:pt x="0" y="1025639"/>
                  </a:lnTo>
                  <a:lnTo>
                    <a:pt x="18563" y="991614"/>
                  </a:lnTo>
                  <a:cubicBezTo>
                    <a:pt x="366041" y="422483"/>
                    <a:pt x="979532" y="38085"/>
                    <a:pt x="1677294" y="2674"/>
                  </a:cubicBezTo>
                  <a:close/>
                </a:path>
              </a:pathLst>
            </a:custGeom>
            <a:gradFill flip="none" rotWithShape="1">
              <a:gsLst>
                <a:gs pos="7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30000"/>
                    <a:lumOff val="70000"/>
                    <a:alpha val="6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31" name="ïslíḓé">
              <a:extLst>
                <a:ext uri="{FF2B5EF4-FFF2-40B4-BE49-F238E27FC236}">
                  <a16:creationId xmlns:a16="http://schemas.microsoft.com/office/drawing/2014/main" id="{FACE8F7C-7470-E8DC-BFA4-E4620E36688A}"/>
                </a:ext>
              </a:extLst>
            </p:cNvPr>
            <p:cNvSpPr/>
            <p:nvPr/>
          </p:nvSpPr>
          <p:spPr>
            <a:xfrm>
              <a:off x="0" y="0"/>
              <a:ext cx="1943706" cy="1425711"/>
            </a:xfrm>
            <a:custGeom>
              <a:avLst/>
              <a:gdLst>
                <a:gd name="connsiteX0" fmla="*/ 0 w 1943706"/>
                <a:gd name="connsiteY0" fmla="*/ 0 h 1425711"/>
                <a:gd name="connsiteX1" fmla="*/ 1943706 w 1943706"/>
                <a:gd name="connsiteY1" fmla="*/ 0 h 1425711"/>
                <a:gd name="connsiteX2" fmla="*/ 1910984 w 1943706"/>
                <a:gd name="connsiteY2" fmla="*/ 102952 h 1425711"/>
                <a:gd name="connsiteX3" fmla="*/ 738480 w 1943706"/>
                <a:gd name="connsiteY3" fmla="*/ 1293296 h 1425711"/>
                <a:gd name="connsiteX4" fmla="*/ 253 w 1943706"/>
                <a:gd name="connsiteY4" fmla="*/ 1425583 h 1425711"/>
                <a:gd name="connsiteX5" fmla="*/ 0 w 1943706"/>
                <a:gd name="connsiteY5" fmla="*/ 1425572 h 1425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43706" h="1425711">
                  <a:moveTo>
                    <a:pt x="0" y="0"/>
                  </a:moveTo>
                  <a:lnTo>
                    <a:pt x="1943706" y="0"/>
                  </a:lnTo>
                  <a:lnTo>
                    <a:pt x="1910984" y="102952"/>
                  </a:lnTo>
                  <a:cubicBezTo>
                    <a:pt x="1718221" y="631734"/>
                    <a:pt x="1305651" y="1077041"/>
                    <a:pt x="738480" y="1293296"/>
                  </a:cubicBezTo>
                  <a:cubicBezTo>
                    <a:pt x="495407" y="1385977"/>
                    <a:pt x="245512" y="1428362"/>
                    <a:pt x="253" y="1425583"/>
                  </a:cubicBezTo>
                  <a:lnTo>
                    <a:pt x="0" y="1425572"/>
                  </a:lnTo>
                  <a:close/>
                </a:path>
              </a:pathLst>
            </a:custGeom>
            <a:gradFill flip="none" rotWithShape="1">
              <a:gsLst>
                <a:gs pos="7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30000"/>
                    <a:lumOff val="70000"/>
                    <a:alpha val="6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7" name="íṡ1ïḍê">
            <a:extLst>
              <a:ext uri="{FF2B5EF4-FFF2-40B4-BE49-F238E27FC236}">
                <a16:creationId xmlns:a16="http://schemas.microsoft.com/office/drawing/2014/main" id="{8414FD12-B9A6-2CE7-0299-F46B138F61BF}"/>
              </a:ext>
            </a:extLst>
          </p:cNvPr>
          <p:cNvSpPr txBox="1"/>
          <p:nvPr/>
        </p:nvSpPr>
        <p:spPr>
          <a:xfrm>
            <a:off x="827629" y="1771264"/>
            <a:ext cx="55861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3765">
              <a:buSzPct val="25000"/>
              <a:defRPr/>
            </a:pPr>
            <a:r>
              <a:rPr lang="en-US" altLang="zh-CN" sz="2400" b="1" dirty="0"/>
              <a:t>Building The Engine Of The </a:t>
            </a:r>
          </a:p>
          <a:p>
            <a:pPr lvl="0" defTabSz="913765">
              <a:buSzPct val="25000"/>
              <a:defRPr/>
            </a:pPr>
            <a:r>
              <a:rPr lang="en-US" altLang="zh-CN" sz="2400" b="1" dirty="0">
                <a:solidFill>
                  <a:srgbClr val="0053F9"/>
                </a:solidFill>
              </a:rPr>
              <a:t>New AI</a:t>
            </a:r>
            <a:r>
              <a:rPr lang="zh-CN" altLang="en-US" sz="2400" b="1" dirty="0">
                <a:solidFill>
                  <a:srgbClr val="0053F9"/>
                </a:solidFill>
              </a:rPr>
              <a:t> </a:t>
            </a:r>
            <a:r>
              <a:rPr lang="en-US" altLang="zh-CN" sz="2400" b="1" dirty="0">
                <a:solidFill>
                  <a:srgbClr val="0053F9"/>
                </a:solidFill>
              </a:rPr>
              <a:t>Economy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53F9"/>
              </a:solidFill>
              <a:effectLst/>
              <a:uLnTx/>
              <a:uFillTx/>
            </a:endParaRPr>
          </a:p>
        </p:txBody>
      </p:sp>
      <p:sp>
        <p:nvSpPr>
          <p:cNvPr id="8" name="ïṩľîḑè">
            <a:extLst>
              <a:ext uri="{FF2B5EF4-FFF2-40B4-BE49-F238E27FC236}">
                <a16:creationId xmlns:a16="http://schemas.microsoft.com/office/drawing/2014/main" id="{3B771038-DD43-7B86-8F49-68A91D1546ED}"/>
              </a:ext>
            </a:extLst>
          </p:cNvPr>
          <p:cNvSpPr txBox="1"/>
          <p:nvPr/>
        </p:nvSpPr>
        <p:spPr>
          <a:xfrm>
            <a:off x="824114" y="3568575"/>
            <a:ext cx="452183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Move beyond single tasks to agent‑to‑agent commerce where outcomes are priced, settled, and audited.</a:t>
            </a:r>
          </a:p>
        </p:txBody>
      </p:sp>
      <p:sp>
        <p:nvSpPr>
          <p:cNvPr id="9" name="iS1iḓé">
            <a:extLst>
              <a:ext uri="{FF2B5EF4-FFF2-40B4-BE49-F238E27FC236}">
                <a16:creationId xmlns:a16="http://schemas.microsoft.com/office/drawing/2014/main" id="{0AE4A5B5-34C1-6FCC-588B-081E5BB7CA75}"/>
              </a:ext>
            </a:extLst>
          </p:cNvPr>
          <p:cNvSpPr txBox="1"/>
          <p:nvPr/>
        </p:nvSpPr>
        <p:spPr>
          <a:xfrm>
            <a:off x="824114" y="3168465"/>
            <a:ext cx="19437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defTabSz="91376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 kumimoji="0" sz="2000" b="1" i="0" u="none" strike="noStrike" cap="none" spc="0" normalizeH="0" baseline="0">
                <a:ln>
                  <a:noFill/>
                </a:ln>
                <a:effectLst/>
                <a:uLnTx/>
                <a:uFillTx/>
              </a:defRPr>
            </a:lvl1pPr>
          </a:lstStyle>
          <a:p>
            <a:r>
              <a:rPr lang="en-US" altLang="zh-CN" dirty="0"/>
              <a:t>Strategic</a:t>
            </a:r>
          </a:p>
        </p:txBody>
      </p:sp>
      <p:sp>
        <p:nvSpPr>
          <p:cNvPr id="10" name="ïṡḻîḑe">
            <a:extLst>
              <a:ext uri="{FF2B5EF4-FFF2-40B4-BE49-F238E27FC236}">
                <a16:creationId xmlns:a16="http://schemas.microsoft.com/office/drawing/2014/main" id="{0E6EB376-EA95-F660-F8A0-249E8E7822DB}"/>
              </a:ext>
            </a:extLst>
          </p:cNvPr>
          <p:cNvSpPr/>
          <p:nvPr/>
        </p:nvSpPr>
        <p:spPr>
          <a:xfrm>
            <a:off x="7961930" y="2755844"/>
            <a:ext cx="1868824" cy="1868824"/>
          </a:xfrm>
          <a:prstGeom prst="ellipse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$300B</a:t>
            </a:r>
          </a:p>
          <a:p>
            <a:pPr algn="ctr"/>
            <a:r>
              <a:rPr lang="en-US" altLang="zh-CN" sz="2000" dirty="0">
                <a:solidFill>
                  <a:schemeClr val="bg1"/>
                </a:solidFill>
              </a:rPr>
              <a:t>SOM</a:t>
            </a:r>
          </a:p>
          <a:p>
            <a:pPr algn="ctr"/>
            <a:r>
              <a:rPr lang="en-US" altLang="zh-CN" sz="1200" dirty="0">
                <a:solidFill>
                  <a:schemeClr val="bg1"/>
                </a:solidFill>
              </a:rPr>
              <a:t> (AI</a:t>
            </a:r>
            <a:r>
              <a:rPr lang="zh-CN" altLang="en-US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>
                <a:solidFill>
                  <a:schemeClr val="bg1"/>
                </a:solidFill>
              </a:rPr>
              <a:t>AGENT</a:t>
            </a:r>
            <a:r>
              <a:rPr lang="zh-CN" altLang="en-US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>
                <a:solidFill>
                  <a:schemeClr val="bg1"/>
                </a:solidFill>
              </a:rPr>
              <a:t>PAY)</a:t>
            </a:r>
            <a:endParaRPr lang="zh-CN" altLang="en-US" sz="1000" b="1" dirty="0">
              <a:solidFill>
                <a:schemeClr val="bg1"/>
              </a:solidFill>
            </a:endParaRPr>
          </a:p>
        </p:txBody>
      </p:sp>
      <p:sp>
        <p:nvSpPr>
          <p:cNvPr id="11" name="îŝľiďe">
            <a:extLst>
              <a:ext uri="{FF2B5EF4-FFF2-40B4-BE49-F238E27FC236}">
                <a16:creationId xmlns:a16="http://schemas.microsoft.com/office/drawing/2014/main" id="{B68EEE8F-9BEB-654C-FD88-7CCB720E42D0}"/>
              </a:ext>
            </a:extLst>
          </p:cNvPr>
          <p:cNvSpPr/>
          <p:nvPr/>
        </p:nvSpPr>
        <p:spPr>
          <a:xfrm>
            <a:off x="7519407" y="2318656"/>
            <a:ext cx="2743200" cy="2743200"/>
          </a:xfrm>
          <a:prstGeom prst="ellipse">
            <a:avLst/>
          </a:prstGeom>
          <a:ln w="28575">
            <a:solidFill>
              <a:schemeClr val="accent1">
                <a:lumMod val="60000"/>
                <a:lumOff val="40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iš1îdê">
            <a:extLst>
              <a:ext uri="{FF2B5EF4-FFF2-40B4-BE49-F238E27FC236}">
                <a16:creationId xmlns:a16="http://schemas.microsoft.com/office/drawing/2014/main" id="{7806E202-C7DF-7091-A169-5037B9A473D6}"/>
              </a:ext>
            </a:extLst>
          </p:cNvPr>
          <p:cNvSpPr/>
          <p:nvPr/>
        </p:nvSpPr>
        <p:spPr>
          <a:xfrm>
            <a:off x="7050414" y="1849663"/>
            <a:ext cx="3681186" cy="3681186"/>
          </a:xfrm>
          <a:prstGeom prst="ellipse">
            <a:avLst/>
          </a:prstGeom>
          <a:ln w="25400">
            <a:solidFill>
              <a:schemeClr val="accent2">
                <a:lumMod val="20000"/>
                <a:lumOff val="80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iśḻiḑé">
            <a:extLst>
              <a:ext uri="{FF2B5EF4-FFF2-40B4-BE49-F238E27FC236}">
                <a16:creationId xmlns:a16="http://schemas.microsoft.com/office/drawing/2014/main" id="{946BFF11-3F98-70E9-B866-3C9053D2860B}"/>
              </a:ext>
            </a:extLst>
          </p:cNvPr>
          <p:cNvSpPr/>
          <p:nvPr/>
        </p:nvSpPr>
        <p:spPr>
          <a:xfrm>
            <a:off x="6624964" y="1424213"/>
            <a:ext cx="4532086" cy="4532086"/>
          </a:xfrm>
          <a:prstGeom prst="ellipse">
            <a:avLst/>
          </a:prstGeom>
          <a:ln w="9525">
            <a:solidFill>
              <a:schemeClr val="bg1">
                <a:lumMod val="50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îŝļíḓé">
            <a:extLst>
              <a:ext uri="{FF2B5EF4-FFF2-40B4-BE49-F238E27FC236}">
                <a16:creationId xmlns:a16="http://schemas.microsoft.com/office/drawing/2014/main" id="{91F8C538-143F-A19C-8C29-DB65559EB776}"/>
              </a:ext>
            </a:extLst>
          </p:cNvPr>
          <p:cNvGrpSpPr/>
          <p:nvPr/>
        </p:nvGrpSpPr>
        <p:grpSpPr>
          <a:xfrm>
            <a:off x="10473756" y="3347375"/>
            <a:ext cx="538679" cy="538676"/>
            <a:chOff x="4471992" y="2235779"/>
            <a:chExt cx="410200" cy="410198"/>
          </a:xfrm>
        </p:grpSpPr>
        <p:sp>
          <p:nvSpPr>
            <p:cNvPr id="25" name="íṩ1idè">
              <a:extLst>
                <a:ext uri="{FF2B5EF4-FFF2-40B4-BE49-F238E27FC236}">
                  <a16:creationId xmlns:a16="http://schemas.microsoft.com/office/drawing/2014/main" id="{EC2FB23B-6605-F2F6-1FFD-C7E333B38C27}"/>
                </a:ext>
              </a:extLst>
            </p:cNvPr>
            <p:cNvSpPr/>
            <p:nvPr/>
          </p:nvSpPr>
          <p:spPr>
            <a:xfrm>
              <a:off x="4471992" y="2235779"/>
              <a:ext cx="410200" cy="410198"/>
            </a:xfrm>
            <a:prstGeom prst="ellipse">
              <a:avLst/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îŝḷídè">
              <a:extLst>
                <a:ext uri="{FF2B5EF4-FFF2-40B4-BE49-F238E27FC236}">
                  <a16:creationId xmlns:a16="http://schemas.microsoft.com/office/drawing/2014/main" id="{C3B76A55-BE38-D6B5-74A9-67F26C1580D8}"/>
                </a:ext>
              </a:extLst>
            </p:cNvPr>
            <p:cNvSpPr/>
            <p:nvPr/>
          </p:nvSpPr>
          <p:spPr>
            <a:xfrm>
              <a:off x="4595899" y="2358227"/>
              <a:ext cx="162386" cy="178001"/>
            </a:xfrm>
            <a:custGeom>
              <a:avLst/>
              <a:gdLst>
                <a:gd name="connsiteX0" fmla="*/ 248770 w 495300"/>
                <a:gd name="connsiteY0" fmla="*/ 621 h 542925"/>
                <a:gd name="connsiteX1" fmla="*/ 496420 w 495300"/>
                <a:gd name="connsiteY1" fmla="*/ 248271 h 542925"/>
                <a:gd name="connsiteX2" fmla="*/ 323827 w 495300"/>
                <a:gd name="connsiteY2" fmla="*/ 484396 h 542925"/>
                <a:gd name="connsiteX3" fmla="*/ 346973 w 495300"/>
                <a:gd name="connsiteY3" fmla="*/ 524496 h 542925"/>
                <a:gd name="connsiteX4" fmla="*/ 420220 w 495300"/>
                <a:gd name="connsiteY4" fmla="*/ 524496 h 542925"/>
                <a:gd name="connsiteX5" fmla="*/ 420220 w 495300"/>
                <a:gd name="connsiteY5" fmla="*/ 543546 h 542925"/>
                <a:gd name="connsiteX6" fmla="*/ 77320 w 495300"/>
                <a:gd name="connsiteY6" fmla="*/ 543546 h 542925"/>
                <a:gd name="connsiteX7" fmla="*/ 77320 w 495300"/>
                <a:gd name="connsiteY7" fmla="*/ 524496 h 542925"/>
                <a:gd name="connsiteX8" fmla="*/ 150567 w 495300"/>
                <a:gd name="connsiteY8" fmla="*/ 524496 h 542925"/>
                <a:gd name="connsiteX9" fmla="*/ 173713 w 495300"/>
                <a:gd name="connsiteY9" fmla="*/ 484396 h 542925"/>
                <a:gd name="connsiteX10" fmla="*/ 1120 w 495300"/>
                <a:gd name="connsiteY10" fmla="*/ 248271 h 542925"/>
                <a:gd name="connsiteX11" fmla="*/ 248770 w 495300"/>
                <a:gd name="connsiteY11" fmla="*/ 621 h 542925"/>
                <a:gd name="connsiteX12" fmla="*/ 192763 w 495300"/>
                <a:gd name="connsiteY12" fmla="*/ 489539 h 542925"/>
                <a:gd name="connsiteX13" fmla="*/ 172570 w 495300"/>
                <a:gd name="connsiteY13" fmla="*/ 524496 h 542925"/>
                <a:gd name="connsiteX14" fmla="*/ 324970 w 495300"/>
                <a:gd name="connsiteY14" fmla="*/ 524496 h 542925"/>
                <a:gd name="connsiteX15" fmla="*/ 304777 w 495300"/>
                <a:gd name="connsiteY15" fmla="*/ 489539 h 542925"/>
                <a:gd name="connsiteX16" fmla="*/ 248770 w 495300"/>
                <a:gd name="connsiteY16" fmla="*/ 495921 h 542925"/>
                <a:gd name="connsiteX17" fmla="*/ 192763 w 495300"/>
                <a:gd name="connsiteY17" fmla="*/ 489539 h 542925"/>
                <a:gd name="connsiteX18" fmla="*/ 248770 w 495300"/>
                <a:gd name="connsiteY18" fmla="*/ 143496 h 542925"/>
                <a:gd name="connsiteX19" fmla="*/ 143995 w 495300"/>
                <a:gd name="connsiteY19" fmla="*/ 248271 h 542925"/>
                <a:gd name="connsiteX20" fmla="*/ 248770 w 495300"/>
                <a:gd name="connsiteY20" fmla="*/ 353046 h 542925"/>
                <a:gd name="connsiteX21" fmla="*/ 353545 w 495300"/>
                <a:gd name="connsiteY21" fmla="*/ 248271 h 542925"/>
                <a:gd name="connsiteX22" fmla="*/ 248770 w 495300"/>
                <a:gd name="connsiteY22" fmla="*/ 143496 h 542925"/>
                <a:gd name="connsiteX23" fmla="*/ 367833 w 495300"/>
                <a:gd name="connsiteY23" fmla="*/ 114921 h 542925"/>
                <a:gd name="connsiteX24" fmla="*/ 353545 w 495300"/>
                <a:gd name="connsiteY24" fmla="*/ 129209 h 542925"/>
                <a:gd name="connsiteX25" fmla="*/ 367833 w 495300"/>
                <a:gd name="connsiteY25" fmla="*/ 143496 h 542925"/>
                <a:gd name="connsiteX26" fmla="*/ 382120 w 495300"/>
                <a:gd name="connsiteY26" fmla="*/ 129209 h 542925"/>
                <a:gd name="connsiteX27" fmla="*/ 367833 w 495300"/>
                <a:gd name="connsiteY27" fmla="*/ 114921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95300" h="542925">
                  <a:moveTo>
                    <a:pt x="248770" y="621"/>
                  </a:moveTo>
                  <a:cubicBezTo>
                    <a:pt x="385549" y="621"/>
                    <a:pt x="496420" y="111492"/>
                    <a:pt x="496420" y="248271"/>
                  </a:cubicBezTo>
                  <a:cubicBezTo>
                    <a:pt x="496420" y="358856"/>
                    <a:pt x="423935" y="452582"/>
                    <a:pt x="323827" y="484396"/>
                  </a:cubicBezTo>
                  <a:lnTo>
                    <a:pt x="346973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567" y="524496"/>
                  </a:lnTo>
                  <a:lnTo>
                    <a:pt x="173713" y="484396"/>
                  </a:lnTo>
                  <a:cubicBezTo>
                    <a:pt x="73605" y="452582"/>
                    <a:pt x="1120" y="358856"/>
                    <a:pt x="1120" y="248271"/>
                  </a:cubicBezTo>
                  <a:cubicBezTo>
                    <a:pt x="1120" y="111492"/>
                    <a:pt x="111991" y="621"/>
                    <a:pt x="248770" y="621"/>
                  </a:cubicBezTo>
                  <a:close/>
                  <a:moveTo>
                    <a:pt x="192763" y="489539"/>
                  </a:moveTo>
                  <a:lnTo>
                    <a:pt x="172570" y="524496"/>
                  </a:lnTo>
                  <a:lnTo>
                    <a:pt x="324970" y="524496"/>
                  </a:lnTo>
                  <a:lnTo>
                    <a:pt x="304777" y="489539"/>
                  </a:lnTo>
                  <a:cubicBezTo>
                    <a:pt x="286775" y="493730"/>
                    <a:pt x="268010" y="495921"/>
                    <a:pt x="248770" y="495921"/>
                  </a:cubicBezTo>
                  <a:cubicBezTo>
                    <a:pt x="229530" y="495921"/>
                    <a:pt x="210765" y="493730"/>
                    <a:pt x="192763" y="489539"/>
                  </a:cubicBezTo>
                  <a:close/>
                  <a:moveTo>
                    <a:pt x="248770" y="143496"/>
                  </a:moveTo>
                  <a:cubicBezTo>
                    <a:pt x="190858" y="143496"/>
                    <a:pt x="143995" y="190359"/>
                    <a:pt x="143995" y="248271"/>
                  </a:cubicBezTo>
                  <a:cubicBezTo>
                    <a:pt x="143995" y="306183"/>
                    <a:pt x="190858" y="353046"/>
                    <a:pt x="248770" y="353046"/>
                  </a:cubicBezTo>
                  <a:cubicBezTo>
                    <a:pt x="306682" y="353046"/>
                    <a:pt x="353545" y="306183"/>
                    <a:pt x="353545" y="248271"/>
                  </a:cubicBezTo>
                  <a:cubicBezTo>
                    <a:pt x="353545" y="190359"/>
                    <a:pt x="306682" y="143496"/>
                    <a:pt x="248770" y="143496"/>
                  </a:cubicBezTo>
                  <a:close/>
                  <a:moveTo>
                    <a:pt x="367833" y="114921"/>
                  </a:moveTo>
                  <a:cubicBezTo>
                    <a:pt x="359927" y="114921"/>
                    <a:pt x="353545" y="121303"/>
                    <a:pt x="353545" y="129209"/>
                  </a:cubicBezTo>
                  <a:cubicBezTo>
                    <a:pt x="353545" y="137114"/>
                    <a:pt x="359927" y="143496"/>
                    <a:pt x="367833" y="143496"/>
                  </a:cubicBezTo>
                  <a:cubicBezTo>
                    <a:pt x="375738" y="143496"/>
                    <a:pt x="382120" y="137114"/>
                    <a:pt x="382120" y="129209"/>
                  </a:cubicBezTo>
                  <a:cubicBezTo>
                    <a:pt x="382120" y="121303"/>
                    <a:pt x="375738" y="114921"/>
                    <a:pt x="367833" y="114921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işľïḍé">
            <a:extLst>
              <a:ext uri="{FF2B5EF4-FFF2-40B4-BE49-F238E27FC236}">
                <a16:creationId xmlns:a16="http://schemas.microsoft.com/office/drawing/2014/main" id="{584E59D6-FC1A-C125-EC1D-6BF1CA292FE6}"/>
              </a:ext>
            </a:extLst>
          </p:cNvPr>
          <p:cNvGrpSpPr/>
          <p:nvPr/>
        </p:nvGrpSpPr>
        <p:grpSpPr>
          <a:xfrm>
            <a:off x="7383772" y="1438758"/>
            <a:ext cx="544522" cy="538676"/>
            <a:chOff x="8252780" y="2235779"/>
            <a:chExt cx="414650" cy="410198"/>
          </a:xfrm>
        </p:grpSpPr>
        <p:sp>
          <p:nvSpPr>
            <p:cNvPr id="21" name="îṩľíḓé">
              <a:extLst>
                <a:ext uri="{FF2B5EF4-FFF2-40B4-BE49-F238E27FC236}">
                  <a16:creationId xmlns:a16="http://schemas.microsoft.com/office/drawing/2014/main" id="{050A5FA1-42F3-A5D5-5DED-4C5F94819BDD}"/>
                </a:ext>
              </a:extLst>
            </p:cNvPr>
            <p:cNvSpPr/>
            <p:nvPr/>
          </p:nvSpPr>
          <p:spPr>
            <a:xfrm>
              <a:off x="8252780" y="2235779"/>
              <a:ext cx="414650" cy="410198"/>
            </a:xfrm>
            <a:prstGeom prst="ellipse">
              <a:avLst/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íşḷídè">
              <a:extLst>
                <a:ext uri="{FF2B5EF4-FFF2-40B4-BE49-F238E27FC236}">
                  <a16:creationId xmlns:a16="http://schemas.microsoft.com/office/drawing/2014/main" id="{CB663B6C-26B8-2228-721A-F5E8236CDA0F}"/>
                </a:ext>
              </a:extLst>
            </p:cNvPr>
            <p:cNvSpPr/>
            <p:nvPr/>
          </p:nvSpPr>
          <p:spPr>
            <a:xfrm>
              <a:off x="8368880" y="2356648"/>
              <a:ext cx="178001" cy="162108"/>
            </a:xfrm>
            <a:custGeom>
              <a:avLst/>
              <a:gdLst>
                <a:gd name="connsiteX0" fmla="*/ 125329 w 533400"/>
                <a:gd name="connsiteY0" fmla="*/ 229221 h 485775"/>
                <a:gd name="connsiteX1" fmla="*/ 125329 w 533400"/>
                <a:gd name="connsiteY1" fmla="*/ 276846 h 485775"/>
                <a:gd name="connsiteX2" fmla="*/ 144379 w 533400"/>
                <a:gd name="connsiteY2" fmla="*/ 276846 h 485775"/>
                <a:gd name="connsiteX3" fmla="*/ 144379 w 533400"/>
                <a:gd name="connsiteY3" fmla="*/ 229221 h 485775"/>
                <a:gd name="connsiteX4" fmla="*/ 392029 w 533400"/>
                <a:gd name="connsiteY4" fmla="*/ 229221 h 485775"/>
                <a:gd name="connsiteX5" fmla="*/ 392029 w 533400"/>
                <a:gd name="connsiteY5" fmla="*/ 276846 h 485775"/>
                <a:gd name="connsiteX6" fmla="*/ 411079 w 533400"/>
                <a:gd name="connsiteY6" fmla="*/ 276846 h 485775"/>
                <a:gd name="connsiteX7" fmla="*/ 411079 w 533400"/>
                <a:gd name="connsiteY7" fmla="*/ 229221 h 485775"/>
                <a:gd name="connsiteX8" fmla="*/ 534904 w 533400"/>
                <a:gd name="connsiteY8" fmla="*/ 229221 h 485775"/>
                <a:gd name="connsiteX9" fmla="*/ 534904 w 533400"/>
                <a:gd name="connsiteY9" fmla="*/ 457821 h 485775"/>
                <a:gd name="connsiteX10" fmla="*/ 506329 w 533400"/>
                <a:gd name="connsiteY10" fmla="*/ 486396 h 485775"/>
                <a:gd name="connsiteX11" fmla="*/ 30079 w 533400"/>
                <a:gd name="connsiteY11" fmla="*/ 486396 h 485775"/>
                <a:gd name="connsiteX12" fmla="*/ 1504 w 533400"/>
                <a:gd name="connsiteY12" fmla="*/ 457821 h 485775"/>
                <a:gd name="connsiteX13" fmla="*/ 1504 w 533400"/>
                <a:gd name="connsiteY13" fmla="*/ 229221 h 485775"/>
                <a:gd name="connsiteX14" fmla="*/ 125329 w 533400"/>
                <a:gd name="connsiteY14" fmla="*/ 229221 h 485775"/>
                <a:gd name="connsiteX15" fmla="*/ 372979 w 533400"/>
                <a:gd name="connsiteY15" fmla="*/ 621 h 485775"/>
                <a:gd name="connsiteX16" fmla="*/ 411079 w 533400"/>
                <a:gd name="connsiteY16" fmla="*/ 36816 h 485775"/>
                <a:gd name="connsiteX17" fmla="*/ 411079 w 533400"/>
                <a:gd name="connsiteY17" fmla="*/ 38721 h 485775"/>
                <a:gd name="connsiteX18" fmla="*/ 411079 w 533400"/>
                <a:gd name="connsiteY18" fmla="*/ 114921 h 485775"/>
                <a:gd name="connsiteX19" fmla="*/ 506329 w 533400"/>
                <a:gd name="connsiteY19" fmla="*/ 114921 h 485775"/>
                <a:gd name="connsiteX20" fmla="*/ 534904 w 533400"/>
                <a:gd name="connsiteY20" fmla="*/ 143496 h 485775"/>
                <a:gd name="connsiteX21" fmla="*/ 534904 w 533400"/>
                <a:gd name="connsiteY21" fmla="*/ 210171 h 485775"/>
                <a:gd name="connsiteX22" fmla="*/ 1504 w 533400"/>
                <a:gd name="connsiteY22" fmla="*/ 210171 h 485775"/>
                <a:gd name="connsiteX23" fmla="*/ 1504 w 533400"/>
                <a:gd name="connsiteY23" fmla="*/ 143496 h 485775"/>
                <a:gd name="connsiteX24" fmla="*/ 30079 w 533400"/>
                <a:gd name="connsiteY24" fmla="*/ 114921 h 485775"/>
                <a:gd name="connsiteX25" fmla="*/ 125329 w 533400"/>
                <a:gd name="connsiteY25" fmla="*/ 114921 h 485775"/>
                <a:gd name="connsiteX26" fmla="*/ 125329 w 533400"/>
                <a:gd name="connsiteY26" fmla="*/ 38721 h 485775"/>
                <a:gd name="connsiteX27" fmla="*/ 161524 w 533400"/>
                <a:gd name="connsiteY27" fmla="*/ 621 h 485775"/>
                <a:gd name="connsiteX28" fmla="*/ 163429 w 533400"/>
                <a:gd name="connsiteY28" fmla="*/ 621 h 485775"/>
                <a:gd name="connsiteX29" fmla="*/ 372979 w 533400"/>
                <a:gd name="connsiteY29" fmla="*/ 621 h 485775"/>
                <a:gd name="connsiteX30" fmla="*/ 372979 w 533400"/>
                <a:gd name="connsiteY30" fmla="*/ 19671 h 485775"/>
                <a:gd name="connsiteX31" fmla="*/ 163429 w 533400"/>
                <a:gd name="connsiteY31" fmla="*/ 19671 h 485775"/>
                <a:gd name="connsiteX32" fmla="*/ 144474 w 533400"/>
                <a:gd name="connsiteY32" fmla="*/ 37292 h 485775"/>
                <a:gd name="connsiteX33" fmla="*/ 144379 w 533400"/>
                <a:gd name="connsiteY33" fmla="*/ 38721 h 485775"/>
                <a:gd name="connsiteX34" fmla="*/ 144379 w 533400"/>
                <a:gd name="connsiteY34" fmla="*/ 114921 h 485775"/>
                <a:gd name="connsiteX35" fmla="*/ 392029 w 533400"/>
                <a:gd name="connsiteY35" fmla="*/ 114921 h 485775"/>
                <a:gd name="connsiteX36" fmla="*/ 392029 w 533400"/>
                <a:gd name="connsiteY36" fmla="*/ 38721 h 485775"/>
                <a:gd name="connsiteX37" fmla="*/ 375836 w 533400"/>
                <a:gd name="connsiteY37" fmla="*/ 19862 h 485775"/>
                <a:gd name="connsiteX38" fmla="*/ 374408 w 533400"/>
                <a:gd name="connsiteY38" fmla="*/ 19671 h 485775"/>
                <a:gd name="connsiteX39" fmla="*/ 372979 w 533400"/>
                <a:gd name="connsiteY39" fmla="*/ 19671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33400" h="485775">
                  <a:moveTo>
                    <a:pt x="125329" y="229221"/>
                  </a:moveTo>
                  <a:lnTo>
                    <a:pt x="125329" y="276846"/>
                  </a:lnTo>
                  <a:lnTo>
                    <a:pt x="144379" y="276846"/>
                  </a:lnTo>
                  <a:lnTo>
                    <a:pt x="144379" y="229221"/>
                  </a:lnTo>
                  <a:lnTo>
                    <a:pt x="392029" y="229221"/>
                  </a:lnTo>
                  <a:lnTo>
                    <a:pt x="392029" y="276846"/>
                  </a:lnTo>
                  <a:lnTo>
                    <a:pt x="411079" y="276846"/>
                  </a:lnTo>
                  <a:lnTo>
                    <a:pt x="411079" y="229221"/>
                  </a:lnTo>
                  <a:lnTo>
                    <a:pt x="534904" y="229221"/>
                  </a:lnTo>
                  <a:lnTo>
                    <a:pt x="534904" y="457821"/>
                  </a:lnTo>
                  <a:cubicBezTo>
                    <a:pt x="534904" y="473632"/>
                    <a:pt x="522141" y="486396"/>
                    <a:pt x="506329" y="486396"/>
                  </a:cubicBezTo>
                  <a:lnTo>
                    <a:pt x="30079" y="486396"/>
                  </a:lnTo>
                  <a:cubicBezTo>
                    <a:pt x="14267" y="486396"/>
                    <a:pt x="1504" y="473632"/>
                    <a:pt x="1504" y="457821"/>
                  </a:cubicBezTo>
                  <a:lnTo>
                    <a:pt x="1504" y="229221"/>
                  </a:lnTo>
                  <a:lnTo>
                    <a:pt x="125329" y="229221"/>
                  </a:lnTo>
                  <a:close/>
                  <a:moveTo>
                    <a:pt x="372979" y="621"/>
                  </a:moveTo>
                  <a:cubicBezTo>
                    <a:pt x="393363" y="621"/>
                    <a:pt x="410031" y="16623"/>
                    <a:pt x="411079" y="36816"/>
                  </a:cubicBezTo>
                  <a:lnTo>
                    <a:pt x="411079" y="38721"/>
                  </a:lnTo>
                  <a:lnTo>
                    <a:pt x="411079" y="114921"/>
                  </a:lnTo>
                  <a:lnTo>
                    <a:pt x="506329" y="114921"/>
                  </a:lnTo>
                  <a:cubicBezTo>
                    <a:pt x="522141" y="114921"/>
                    <a:pt x="534904" y="127685"/>
                    <a:pt x="534904" y="143496"/>
                  </a:cubicBezTo>
                  <a:lnTo>
                    <a:pt x="534904" y="210171"/>
                  </a:lnTo>
                  <a:lnTo>
                    <a:pt x="1504" y="210171"/>
                  </a:lnTo>
                  <a:lnTo>
                    <a:pt x="1504" y="143496"/>
                  </a:lnTo>
                  <a:cubicBezTo>
                    <a:pt x="1504" y="127685"/>
                    <a:pt x="14267" y="114921"/>
                    <a:pt x="30079" y="114921"/>
                  </a:cubicBezTo>
                  <a:lnTo>
                    <a:pt x="125329" y="114921"/>
                  </a:lnTo>
                  <a:lnTo>
                    <a:pt x="125329" y="38721"/>
                  </a:lnTo>
                  <a:cubicBezTo>
                    <a:pt x="125329" y="18337"/>
                    <a:pt x="141331" y="1669"/>
                    <a:pt x="161524" y="621"/>
                  </a:cubicBezTo>
                  <a:lnTo>
                    <a:pt x="163429" y="621"/>
                  </a:lnTo>
                  <a:lnTo>
                    <a:pt x="372979" y="621"/>
                  </a:lnTo>
                  <a:close/>
                  <a:moveTo>
                    <a:pt x="372979" y="19671"/>
                  </a:moveTo>
                  <a:lnTo>
                    <a:pt x="163429" y="19671"/>
                  </a:lnTo>
                  <a:cubicBezTo>
                    <a:pt x="153428" y="19671"/>
                    <a:pt x="145141" y="27482"/>
                    <a:pt x="144474" y="37292"/>
                  </a:cubicBezTo>
                  <a:lnTo>
                    <a:pt x="144379" y="38721"/>
                  </a:lnTo>
                  <a:lnTo>
                    <a:pt x="144379" y="114921"/>
                  </a:lnTo>
                  <a:lnTo>
                    <a:pt x="392029" y="114921"/>
                  </a:lnTo>
                  <a:lnTo>
                    <a:pt x="392029" y="38721"/>
                  </a:lnTo>
                  <a:cubicBezTo>
                    <a:pt x="392029" y="29196"/>
                    <a:pt x="384981" y="21290"/>
                    <a:pt x="375836" y="19862"/>
                  </a:cubicBezTo>
                  <a:lnTo>
                    <a:pt x="374408" y="19671"/>
                  </a:lnTo>
                  <a:lnTo>
                    <a:pt x="372979" y="19671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işliḋe">
            <a:extLst>
              <a:ext uri="{FF2B5EF4-FFF2-40B4-BE49-F238E27FC236}">
                <a16:creationId xmlns:a16="http://schemas.microsoft.com/office/drawing/2014/main" id="{512D0350-0BF1-74CE-F382-58AA26450BCD}"/>
              </a:ext>
            </a:extLst>
          </p:cNvPr>
          <p:cNvGrpSpPr/>
          <p:nvPr/>
        </p:nvGrpSpPr>
        <p:grpSpPr>
          <a:xfrm>
            <a:off x="9532726" y="4397855"/>
            <a:ext cx="538679" cy="538676"/>
            <a:chOff x="7307583" y="2235779"/>
            <a:chExt cx="410200" cy="410198"/>
          </a:xfrm>
        </p:grpSpPr>
        <p:sp>
          <p:nvSpPr>
            <p:cNvPr id="19" name="iṩḻïdé">
              <a:extLst>
                <a:ext uri="{FF2B5EF4-FFF2-40B4-BE49-F238E27FC236}">
                  <a16:creationId xmlns:a16="http://schemas.microsoft.com/office/drawing/2014/main" id="{54E594B9-9813-D8DC-45BD-07DFE8A8739D}"/>
                </a:ext>
              </a:extLst>
            </p:cNvPr>
            <p:cNvSpPr/>
            <p:nvPr/>
          </p:nvSpPr>
          <p:spPr>
            <a:xfrm>
              <a:off x="7307583" y="2235779"/>
              <a:ext cx="410200" cy="410198"/>
            </a:xfrm>
            <a:prstGeom prst="ellipse">
              <a:avLst/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íṡ1îde">
              <a:extLst>
                <a:ext uri="{FF2B5EF4-FFF2-40B4-BE49-F238E27FC236}">
                  <a16:creationId xmlns:a16="http://schemas.microsoft.com/office/drawing/2014/main" id="{2EFCD4DA-3C71-DBFA-206C-0E5DEAF7E30D}"/>
                </a:ext>
              </a:extLst>
            </p:cNvPr>
            <p:cNvSpPr/>
            <p:nvPr/>
          </p:nvSpPr>
          <p:spPr>
            <a:xfrm>
              <a:off x="7423682" y="2356641"/>
              <a:ext cx="178001" cy="174822"/>
            </a:xfrm>
            <a:custGeom>
              <a:avLst/>
              <a:gdLst>
                <a:gd name="connsiteX0" fmla="*/ 343764 w 533400"/>
                <a:gd name="connsiteY0" fmla="*/ 276846 h 523875"/>
                <a:gd name="connsiteX1" fmla="*/ 372339 w 533400"/>
                <a:gd name="connsiteY1" fmla="*/ 305421 h 523875"/>
                <a:gd name="connsiteX2" fmla="*/ 372339 w 533400"/>
                <a:gd name="connsiteY2" fmla="*/ 495921 h 523875"/>
                <a:gd name="connsiteX3" fmla="*/ 343764 w 533400"/>
                <a:gd name="connsiteY3" fmla="*/ 524496 h 523875"/>
                <a:gd name="connsiteX4" fmla="*/ 191364 w 533400"/>
                <a:gd name="connsiteY4" fmla="*/ 524496 h 523875"/>
                <a:gd name="connsiteX5" fmla="*/ 162789 w 533400"/>
                <a:gd name="connsiteY5" fmla="*/ 495921 h 523875"/>
                <a:gd name="connsiteX6" fmla="*/ 162789 w 533400"/>
                <a:gd name="connsiteY6" fmla="*/ 305421 h 523875"/>
                <a:gd name="connsiteX7" fmla="*/ 191364 w 533400"/>
                <a:gd name="connsiteY7" fmla="*/ 276846 h 523875"/>
                <a:gd name="connsiteX8" fmla="*/ 343764 w 533400"/>
                <a:gd name="connsiteY8" fmla="*/ 276846 h 523875"/>
                <a:gd name="connsiteX9" fmla="*/ 143739 w 533400"/>
                <a:gd name="connsiteY9" fmla="*/ 114921 h 523875"/>
                <a:gd name="connsiteX10" fmla="*/ 179934 w 533400"/>
                <a:gd name="connsiteY10" fmla="*/ 153021 h 523875"/>
                <a:gd name="connsiteX11" fmla="*/ 181839 w 533400"/>
                <a:gd name="connsiteY11" fmla="*/ 153021 h 523875"/>
                <a:gd name="connsiteX12" fmla="*/ 353289 w 533400"/>
                <a:gd name="connsiteY12" fmla="*/ 153021 h 523875"/>
                <a:gd name="connsiteX13" fmla="*/ 391389 w 533400"/>
                <a:gd name="connsiteY13" fmla="*/ 116826 h 523875"/>
                <a:gd name="connsiteX14" fmla="*/ 391389 w 533400"/>
                <a:gd name="connsiteY14" fmla="*/ 114921 h 523875"/>
                <a:gd name="connsiteX15" fmla="*/ 505689 w 533400"/>
                <a:gd name="connsiteY15" fmla="*/ 114921 h 523875"/>
                <a:gd name="connsiteX16" fmla="*/ 534264 w 533400"/>
                <a:gd name="connsiteY16" fmla="*/ 143496 h 523875"/>
                <a:gd name="connsiteX17" fmla="*/ 534264 w 533400"/>
                <a:gd name="connsiteY17" fmla="*/ 381621 h 523875"/>
                <a:gd name="connsiteX18" fmla="*/ 505689 w 533400"/>
                <a:gd name="connsiteY18" fmla="*/ 410196 h 523875"/>
                <a:gd name="connsiteX19" fmla="*/ 391389 w 533400"/>
                <a:gd name="connsiteY19" fmla="*/ 410196 h 523875"/>
                <a:gd name="connsiteX20" fmla="*/ 391389 w 533400"/>
                <a:gd name="connsiteY20" fmla="*/ 295896 h 523875"/>
                <a:gd name="connsiteX21" fmla="*/ 355194 w 533400"/>
                <a:gd name="connsiteY21" fmla="*/ 257796 h 523875"/>
                <a:gd name="connsiteX22" fmla="*/ 353289 w 533400"/>
                <a:gd name="connsiteY22" fmla="*/ 257796 h 523875"/>
                <a:gd name="connsiteX23" fmla="*/ 181839 w 533400"/>
                <a:gd name="connsiteY23" fmla="*/ 257796 h 523875"/>
                <a:gd name="connsiteX24" fmla="*/ 143739 w 533400"/>
                <a:gd name="connsiteY24" fmla="*/ 293991 h 523875"/>
                <a:gd name="connsiteX25" fmla="*/ 143739 w 533400"/>
                <a:gd name="connsiteY25" fmla="*/ 295896 h 523875"/>
                <a:gd name="connsiteX26" fmla="*/ 143739 w 533400"/>
                <a:gd name="connsiteY26" fmla="*/ 410196 h 523875"/>
                <a:gd name="connsiteX27" fmla="*/ 29439 w 533400"/>
                <a:gd name="connsiteY27" fmla="*/ 410196 h 523875"/>
                <a:gd name="connsiteX28" fmla="*/ 864 w 533400"/>
                <a:gd name="connsiteY28" fmla="*/ 381621 h 523875"/>
                <a:gd name="connsiteX29" fmla="*/ 864 w 533400"/>
                <a:gd name="connsiteY29" fmla="*/ 201408 h 523875"/>
                <a:gd name="connsiteX30" fmla="*/ 11151 w 533400"/>
                <a:gd name="connsiteY30" fmla="*/ 175405 h 523875"/>
                <a:gd name="connsiteX31" fmla="*/ 56300 w 533400"/>
                <a:gd name="connsiteY31" fmla="*/ 127018 h 523875"/>
                <a:gd name="connsiteX32" fmla="*/ 84112 w 533400"/>
                <a:gd name="connsiteY32" fmla="*/ 114921 h 523875"/>
                <a:gd name="connsiteX33" fmla="*/ 143739 w 533400"/>
                <a:gd name="connsiteY33" fmla="*/ 114921 h 523875"/>
                <a:gd name="connsiteX34" fmla="*/ 462827 w 533400"/>
                <a:gd name="connsiteY34" fmla="*/ 172071 h 523875"/>
                <a:gd name="connsiteX35" fmla="*/ 448539 w 533400"/>
                <a:gd name="connsiteY35" fmla="*/ 186359 h 523875"/>
                <a:gd name="connsiteX36" fmla="*/ 462827 w 533400"/>
                <a:gd name="connsiteY36" fmla="*/ 200646 h 523875"/>
                <a:gd name="connsiteX37" fmla="*/ 477114 w 533400"/>
                <a:gd name="connsiteY37" fmla="*/ 186359 h 523875"/>
                <a:gd name="connsiteX38" fmla="*/ 462827 w 533400"/>
                <a:gd name="connsiteY38" fmla="*/ 172071 h 523875"/>
                <a:gd name="connsiteX39" fmla="*/ 343764 w 533400"/>
                <a:gd name="connsiteY39" fmla="*/ 621 h 523875"/>
                <a:gd name="connsiteX40" fmla="*/ 372339 w 533400"/>
                <a:gd name="connsiteY40" fmla="*/ 29196 h 523875"/>
                <a:gd name="connsiteX41" fmla="*/ 372339 w 533400"/>
                <a:gd name="connsiteY41" fmla="*/ 105396 h 523875"/>
                <a:gd name="connsiteX42" fmla="*/ 343764 w 533400"/>
                <a:gd name="connsiteY42" fmla="*/ 133971 h 523875"/>
                <a:gd name="connsiteX43" fmla="*/ 191364 w 533400"/>
                <a:gd name="connsiteY43" fmla="*/ 133971 h 523875"/>
                <a:gd name="connsiteX44" fmla="*/ 162789 w 533400"/>
                <a:gd name="connsiteY44" fmla="*/ 105396 h 523875"/>
                <a:gd name="connsiteX45" fmla="*/ 162789 w 533400"/>
                <a:gd name="connsiteY45" fmla="*/ 29196 h 523875"/>
                <a:gd name="connsiteX46" fmla="*/ 191364 w 533400"/>
                <a:gd name="connsiteY46" fmla="*/ 621 h 523875"/>
                <a:gd name="connsiteX47" fmla="*/ 343764 w 533400"/>
                <a:gd name="connsiteY47" fmla="*/ 621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533400" h="523875">
                  <a:moveTo>
                    <a:pt x="343764" y="276846"/>
                  </a:moveTo>
                  <a:cubicBezTo>
                    <a:pt x="359576" y="276846"/>
                    <a:pt x="372339" y="289610"/>
                    <a:pt x="372339" y="305421"/>
                  </a:cubicBezTo>
                  <a:lnTo>
                    <a:pt x="372339" y="495921"/>
                  </a:lnTo>
                  <a:cubicBezTo>
                    <a:pt x="372339" y="511732"/>
                    <a:pt x="359576" y="524496"/>
                    <a:pt x="343764" y="524496"/>
                  </a:cubicBezTo>
                  <a:lnTo>
                    <a:pt x="191364" y="524496"/>
                  </a:lnTo>
                  <a:cubicBezTo>
                    <a:pt x="175552" y="524496"/>
                    <a:pt x="162789" y="511732"/>
                    <a:pt x="162789" y="495921"/>
                  </a:cubicBezTo>
                  <a:lnTo>
                    <a:pt x="162789" y="305421"/>
                  </a:lnTo>
                  <a:cubicBezTo>
                    <a:pt x="162789" y="289610"/>
                    <a:pt x="175552" y="276846"/>
                    <a:pt x="191364" y="276846"/>
                  </a:cubicBezTo>
                  <a:lnTo>
                    <a:pt x="343764" y="276846"/>
                  </a:lnTo>
                  <a:close/>
                  <a:moveTo>
                    <a:pt x="143739" y="114921"/>
                  </a:moveTo>
                  <a:cubicBezTo>
                    <a:pt x="143739" y="135305"/>
                    <a:pt x="159741" y="151973"/>
                    <a:pt x="179934" y="153021"/>
                  </a:cubicBezTo>
                  <a:lnTo>
                    <a:pt x="181839" y="153021"/>
                  </a:lnTo>
                  <a:lnTo>
                    <a:pt x="353289" y="153021"/>
                  </a:lnTo>
                  <a:cubicBezTo>
                    <a:pt x="373673" y="153021"/>
                    <a:pt x="390341" y="137019"/>
                    <a:pt x="391389" y="116826"/>
                  </a:cubicBezTo>
                  <a:lnTo>
                    <a:pt x="391389" y="114921"/>
                  </a:lnTo>
                  <a:lnTo>
                    <a:pt x="505689" y="114921"/>
                  </a:lnTo>
                  <a:cubicBezTo>
                    <a:pt x="521501" y="114921"/>
                    <a:pt x="534264" y="127685"/>
                    <a:pt x="534264" y="143496"/>
                  </a:cubicBezTo>
                  <a:lnTo>
                    <a:pt x="534264" y="381621"/>
                  </a:lnTo>
                  <a:cubicBezTo>
                    <a:pt x="534264" y="397432"/>
                    <a:pt x="521501" y="410196"/>
                    <a:pt x="505689" y="410196"/>
                  </a:cubicBezTo>
                  <a:lnTo>
                    <a:pt x="391389" y="410196"/>
                  </a:lnTo>
                  <a:lnTo>
                    <a:pt x="391389" y="295896"/>
                  </a:lnTo>
                  <a:cubicBezTo>
                    <a:pt x="391389" y="275512"/>
                    <a:pt x="375387" y="258844"/>
                    <a:pt x="355194" y="257796"/>
                  </a:cubicBezTo>
                  <a:lnTo>
                    <a:pt x="353289" y="257796"/>
                  </a:lnTo>
                  <a:lnTo>
                    <a:pt x="181839" y="257796"/>
                  </a:lnTo>
                  <a:cubicBezTo>
                    <a:pt x="161455" y="257796"/>
                    <a:pt x="144787" y="273798"/>
                    <a:pt x="143739" y="293991"/>
                  </a:cubicBezTo>
                  <a:lnTo>
                    <a:pt x="143739" y="295896"/>
                  </a:lnTo>
                  <a:lnTo>
                    <a:pt x="143739" y="410196"/>
                  </a:lnTo>
                  <a:lnTo>
                    <a:pt x="29439" y="410196"/>
                  </a:lnTo>
                  <a:cubicBezTo>
                    <a:pt x="13627" y="410196"/>
                    <a:pt x="864" y="397432"/>
                    <a:pt x="864" y="381621"/>
                  </a:cubicBezTo>
                  <a:lnTo>
                    <a:pt x="864" y="201408"/>
                  </a:lnTo>
                  <a:cubicBezTo>
                    <a:pt x="864" y="191788"/>
                    <a:pt x="4484" y="182454"/>
                    <a:pt x="11151" y="175405"/>
                  </a:cubicBezTo>
                  <a:lnTo>
                    <a:pt x="56300" y="127018"/>
                  </a:lnTo>
                  <a:cubicBezTo>
                    <a:pt x="63538" y="119303"/>
                    <a:pt x="73635" y="114921"/>
                    <a:pt x="84112" y="114921"/>
                  </a:cubicBezTo>
                  <a:lnTo>
                    <a:pt x="143739" y="114921"/>
                  </a:lnTo>
                  <a:close/>
                  <a:moveTo>
                    <a:pt x="462827" y="172071"/>
                  </a:moveTo>
                  <a:cubicBezTo>
                    <a:pt x="454921" y="172071"/>
                    <a:pt x="448539" y="178453"/>
                    <a:pt x="448539" y="186359"/>
                  </a:cubicBezTo>
                  <a:cubicBezTo>
                    <a:pt x="448539" y="194264"/>
                    <a:pt x="454921" y="200646"/>
                    <a:pt x="462827" y="200646"/>
                  </a:cubicBezTo>
                  <a:cubicBezTo>
                    <a:pt x="470732" y="200646"/>
                    <a:pt x="477114" y="194264"/>
                    <a:pt x="477114" y="186359"/>
                  </a:cubicBezTo>
                  <a:cubicBezTo>
                    <a:pt x="477114" y="178453"/>
                    <a:pt x="470732" y="172071"/>
                    <a:pt x="462827" y="172071"/>
                  </a:cubicBezTo>
                  <a:close/>
                  <a:moveTo>
                    <a:pt x="343764" y="621"/>
                  </a:moveTo>
                  <a:cubicBezTo>
                    <a:pt x="359576" y="621"/>
                    <a:pt x="372339" y="13385"/>
                    <a:pt x="372339" y="29196"/>
                  </a:cubicBezTo>
                  <a:lnTo>
                    <a:pt x="372339" y="105396"/>
                  </a:lnTo>
                  <a:cubicBezTo>
                    <a:pt x="372339" y="121207"/>
                    <a:pt x="359576" y="133971"/>
                    <a:pt x="343764" y="133971"/>
                  </a:cubicBezTo>
                  <a:lnTo>
                    <a:pt x="191364" y="133971"/>
                  </a:lnTo>
                  <a:cubicBezTo>
                    <a:pt x="175552" y="133971"/>
                    <a:pt x="162789" y="121207"/>
                    <a:pt x="162789" y="105396"/>
                  </a:cubicBezTo>
                  <a:lnTo>
                    <a:pt x="162789" y="29196"/>
                  </a:lnTo>
                  <a:cubicBezTo>
                    <a:pt x="162789" y="13385"/>
                    <a:pt x="175552" y="621"/>
                    <a:pt x="191364" y="621"/>
                  </a:cubicBezTo>
                  <a:lnTo>
                    <a:pt x="343764" y="621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0468DCA-C440-506B-5CFD-767F8737FD4A}"/>
              </a:ext>
            </a:extLst>
          </p:cNvPr>
          <p:cNvSpPr txBox="1"/>
          <p:nvPr/>
        </p:nvSpPr>
        <p:spPr>
          <a:xfrm>
            <a:off x="660400" y="251188"/>
            <a:ext cx="6123279" cy="5668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733"/>
              </a:lnSpc>
            </a:pPr>
            <a:r>
              <a:rPr lang="en-US" altLang="zh-CN" sz="3200" b="1" kern="0" spc="-1" dirty="0">
                <a:solidFill>
                  <a:srgbClr val="0A0A0A"/>
                </a:solidFill>
              </a:rPr>
              <a:t>Market Opportunity &amp; Strategy</a:t>
            </a:r>
            <a:endParaRPr lang="en-US" altLang="zh-CN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DDF98D-09C1-1FA3-34A4-72E54F4EB8C6}"/>
              </a:ext>
            </a:extLst>
          </p:cNvPr>
          <p:cNvSpPr txBox="1"/>
          <p:nvPr/>
        </p:nvSpPr>
        <p:spPr>
          <a:xfrm>
            <a:off x="7955680" y="1384931"/>
            <a:ext cx="2518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TAM: </a:t>
            </a:r>
            <a:r>
              <a:rPr lang="en-US" altLang="zh-CN" b="1" dirty="0">
                <a:solidFill>
                  <a:srgbClr val="0053F9"/>
                </a:solidFill>
              </a:rPr>
              <a:t>$2.0 quadrillion</a:t>
            </a:r>
          </a:p>
          <a:p>
            <a:pPr algn="ctr"/>
            <a:r>
              <a:rPr lang="en-US" altLang="zh-CN" dirty="0"/>
              <a:t>(Payments Industry)</a:t>
            </a:r>
            <a:endParaRPr kumimoji="1" lang="zh-CN" altLang="en-US" dirty="0"/>
          </a:p>
        </p:txBody>
      </p:sp>
      <p:grpSp>
        <p:nvGrpSpPr>
          <p:cNvPr id="4" name="îṧļîḑé">
            <a:extLst>
              <a:ext uri="{FF2B5EF4-FFF2-40B4-BE49-F238E27FC236}">
                <a16:creationId xmlns:a16="http://schemas.microsoft.com/office/drawing/2014/main" id="{FF2E1BAD-8761-B042-D49F-5EBCD7929F1D}"/>
              </a:ext>
            </a:extLst>
          </p:cNvPr>
          <p:cNvGrpSpPr/>
          <p:nvPr/>
        </p:nvGrpSpPr>
        <p:grpSpPr>
          <a:xfrm>
            <a:off x="7373272" y="2808699"/>
            <a:ext cx="538679" cy="538676"/>
            <a:chOff x="6200669" y="2235779"/>
            <a:chExt cx="410200" cy="410198"/>
          </a:xfrm>
        </p:grpSpPr>
        <p:sp>
          <p:nvSpPr>
            <p:cNvPr id="32" name="iṥļïḍe">
              <a:extLst>
                <a:ext uri="{FF2B5EF4-FFF2-40B4-BE49-F238E27FC236}">
                  <a16:creationId xmlns:a16="http://schemas.microsoft.com/office/drawing/2014/main" id="{E581F736-D4C4-ECC2-FBD4-5E8BB003DA6D}"/>
                </a:ext>
              </a:extLst>
            </p:cNvPr>
            <p:cNvSpPr/>
            <p:nvPr/>
          </p:nvSpPr>
          <p:spPr>
            <a:xfrm>
              <a:off x="6200669" y="2235779"/>
              <a:ext cx="410200" cy="410198"/>
            </a:xfrm>
            <a:prstGeom prst="ellipse">
              <a:avLst/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3" name="iṡ1iḑê">
              <a:extLst>
                <a:ext uri="{FF2B5EF4-FFF2-40B4-BE49-F238E27FC236}">
                  <a16:creationId xmlns:a16="http://schemas.microsoft.com/office/drawing/2014/main" id="{BC9ACEA9-77B6-4FBA-ACFE-97132C51402B}"/>
                </a:ext>
              </a:extLst>
            </p:cNvPr>
            <p:cNvSpPr/>
            <p:nvPr/>
          </p:nvSpPr>
          <p:spPr>
            <a:xfrm>
              <a:off x="6316768" y="2376357"/>
              <a:ext cx="178001" cy="141741"/>
            </a:xfrm>
            <a:custGeom>
              <a:avLst/>
              <a:gdLst>
                <a:gd name="connsiteX0" fmla="*/ 486767 w 514350"/>
                <a:gd name="connsiteY0" fmla="*/ 621 h 409575"/>
                <a:gd name="connsiteX1" fmla="*/ 515342 w 514350"/>
                <a:gd name="connsiteY1" fmla="*/ 29196 h 409575"/>
                <a:gd name="connsiteX2" fmla="*/ 515342 w 514350"/>
                <a:gd name="connsiteY2" fmla="*/ 324471 h 409575"/>
                <a:gd name="connsiteX3" fmla="*/ 486767 w 514350"/>
                <a:gd name="connsiteY3" fmla="*/ 353046 h 409575"/>
                <a:gd name="connsiteX4" fmla="*/ 192159 w 514350"/>
                <a:gd name="connsiteY4" fmla="*/ 353046 h 409575"/>
                <a:gd name="connsiteX5" fmla="*/ 115387 w 514350"/>
                <a:gd name="connsiteY5" fmla="*/ 410196 h 409575"/>
                <a:gd name="connsiteX6" fmla="*/ 115387 w 514350"/>
                <a:gd name="connsiteY6" fmla="*/ 353046 h 409575"/>
                <a:gd name="connsiteX7" fmla="*/ 29567 w 514350"/>
                <a:gd name="connsiteY7" fmla="*/ 353046 h 409575"/>
                <a:gd name="connsiteX8" fmla="*/ 992 w 514350"/>
                <a:gd name="connsiteY8" fmla="*/ 324471 h 409575"/>
                <a:gd name="connsiteX9" fmla="*/ 992 w 514350"/>
                <a:gd name="connsiteY9" fmla="*/ 29196 h 409575"/>
                <a:gd name="connsiteX10" fmla="*/ 29567 w 514350"/>
                <a:gd name="connsiteY10" fmla="*/ 621 h 409575"/>
                <a:gd name="connsiteX11" fmla="*/ 486767 w 514350"/>
                <a:gd name="connsiteY11" fmla="*/ 621 h 409575"/>
                <a:gd name="connsiteX12" fmla="*/ 124817 w 514350"/>
                <a:gd name="connsiteY12" fmla="*/ 143496 h 409575"/>
                <a:gd name="connsiteX13" fmla="*/ 91480 w 514350"/>
                <a:gd name="connsiteY13" fmla="*/ 176834 h 409575"/>
                <a:gd name="connsiteX14" fmla="*/ 124817 w 514350"/>
                <a:gd name="connsiteY14" fmla="*/ 210171 h 409575"/>
                <a:gd name="connsiteX15" fmla="*/ 158155 w 514350"/>
                <a:gd name="connsiteY15" fmla="*/ 176834 h 409575"/>
                <a:gd name="connsiteX16" fmla="*/ 124817 w 514350"/>
                <a:gd name="connsiteY16" fmla="*/ 143496 h 409575"/>
                <a:gd name="connsiteX17" fmla="*/ 258167 w 514350"/>
                <a:gd name="connsiteY17" fmla="*/ 143496 h 409575"/>
                <a:gd name="connsiteX18" fmla="*/ 224830 w 514350"/>
                <a:gd name="connsiteY18" fmla="*/ 176834 h 409575"/>
                <a:gd name="connsiteX19" fmla="*/ 258167 w 514350"/>
                <a:gd name="connsiteY19" fmla="*/ 210171 h 409575"/>
                <a:gd name="connsiteX20" fmla="*/ 291505 w 514350"/>
                <a:gd name="connsiteY20" fmla="*/ 176834 h 409575"/>
                <a:gd name="connsiteX21" fmla="*/ 258167 w 514350"/>
                <a:gd name="connsiteY21" fmla="*/ 143496 h 409575"/>
                <a:gd name="connsiteX22" fmla="*/ 391517 w 514350"/>
                <a:gd name="connsiteY22" fmla="*/ 143496 h 409575"/>
                <a:gd name="connsiteX23" fmla="*/ 358180 w 514350"/>
                <a:gd name="connsiteY23" fmla="*/ 176834 h 409575"/>
                <a:gd name="connsiteX24" fmla="*/ 391517 w 514350"/>
                <a:gd name="connsiteY24" fmla="*/ 210171 h 409575"/>
                <a:gd name="connsiteX25" fmla="*/ 424855 w 514350"/>
                <a:gd name="connsiteY25" fmla="*/ 176834 h 409575"/>
                <a:gd name="connsiteX26" fmla="*/ 391517 w 514350"/>
                <a:gd name="connsiteY26" fmla="*/ 143496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4350" h="409575">
                  <a:moveTo>
                    <a:pt x="486767" y="621"/>
                  </a:moveTo>
                  <a:cubicBezTo>
                    <a:pt x="502579" y="621"/>
                    <a:pt x="515342" y="13385"/>
                    <a:pt x="515342" y="29196"/>
                  </a:cubicBezTo>
                  <a:lnTo>
                    <a:pt x="515342" y="324471"/>
                  </a:lnTo>
                  <a:cubicBezTo>
                    <a:pt x="515342" y="340282"/>
                    <a:pt x="502579" y="353046"/>
                    <a:pt x="486767" y="353046"/>
                  </a:cubicBezTo>
                  <a:lnTo>
                    <a:pt x="192159" y="353046"/>
                  </a:lnTo>
                  <a:lnTo>
                    <a:pt x="115387" y="410196"/>
                  </a:lnTo>
                  <a:lnTo>
                    <a:pt x="115387" y="353046"/>
                  </a:lnTo>
                  <a:lnTo>
                    <a:pt x="29567" y="353046"/>
                  </a:lnTo>
                  <a:cubicBezTo>
                    <a:pt x="13755" y="353046"/>
                    <a:pt x="992" y="340282"/>
                    <a:pt x="992" y="324471"/>
                  </a:cubicBezTo>
                  <a:lnTo>
                    <a:pt x="992" y="29196"/>
                  </a:lnTo>
                  <a:cubicBezTo>
                    <a:pt x="992" y="13385"/>
                    <a:pt x="13755" y="621"/>
                    <a:pt x="29567" y="621"/>
                  </a:cubicBezTo>
                  <a:lnTo>
                    <a:pt x="486767" y="621"/>
                  </a:lnTo>
                  <a:close/>
                  <a:moveTo>
                    <a:pt x="124817" y="143496"/>
                  </a:moveTo>
                  <a:cubicBezTo>
                    <a:pt x="106434" y="143496"/>
                    <a:pt x="91480" y="158450"/>
                    <a:pt x="91480" y="176834"/>
                  </a:cubicBezTo>
                  <a:cubicBezTo>
                    <a:pt x="91480" y="195217"/>
                    <a:pt x="106434" y="210171"/>
                    <a:pt x="124817" y="210171"/>
                  </a:cubicBezTo>
                  <a:cubicBezTo>
                    <a:pt x="143200" y="210171"/>
                    <a:pt x="158155" y="195217"/>
                    <a:pt x="158155" y="176834"/>
                  </a:cubicBezTo>
                  <a:cubicBezTo>
                    <a:pt x="158155" y="158450"/>
                    <a:pt x="143200" y="143496"/>
                    <a:pt x="124817" y="143496"/>
                  </a:cubicBezTo>
                  <a:close/>
                  <a:moveTo>
                    <a:pt x="258167" y="143496"/>
                  </a:moveTo>
                  <a:cubicBezTo>
                    <a:pt x="239784" y="143496"/>
                    <a:pt x="224830" y="158450"/>
                    <a:pt x="224830" y="176834"/>
                  </a:cubicBezTo>
                  <a:cubicBezTo>
                    <a:pt x="224830" y="195217"/>
                    <a:pt x="239784" y="210171"/>
                    <a:pt x="258167" y="210171"/>
                  </a:cubicBezTo>
                  <a:cubicBezTo>
                    <a:pt x="276550" y="210171"/>
                    <a:pt x="291505" y="195217"/>
                    <a:pt x="291505" y="176834"/>
                  </a:cubicBezTo>
                  <a:cubicBezTo>
                    <a:pt x="291505" y="158450"/>
                    <a:pt x="276550" y="143496"/>
                    <a:pt x="258167" y="143496"/>
                  </a:cubicBezTo>
                  <a:close/>
                  <a:moveTo>
                    <a:pt x="391517" y="143496"/>
                  </a:moveTo>
                  <a:cubicBezTo>
                    <a:pt x="373134" y="143496"/>
                    <a:pt x="358180" y="158450"/>
                    <a:pt x="358180" y="176834"/>
                  </a:cubicBezTo>
                  <a:cubicBezTo>
                    <a:pt x="358180" y="195217"/>
                    <a:pt x="373134" y="210171"/>
                    <a:pt x="391517" y="210171"/>
                  </a:cubicBezTo>
                  <a:cubicBezTo>
                    <a:pt x="409900" y="210171"/>
                    <a:pt x="424855" y="195217"/>
                    <a:pt x="424855" y="176834"/>
                  </a:cubicBezTo>
                  <a:cubicBezTo>
                    <a:pt x="424855" y="158450"/>
                    <a:pt x="409900" y="143496"/>
                    <a:pt x="391517" y="143496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3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5A53DE57-3DD8-6FD4-6F93-F3DA3B874ACE}"/>
              </a:ext>
            </a:extLst>
          </p:cNvPr>
          <p:cNvSpPr txBox="1"/>
          <p:nvPr/>
        </p:nvSpPr>
        <p:spPr>
          <a:xfrm>
            <a:off x="5508664" y="3386657"/>
            <a:ext cx="24032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/>
              <a:t>SAM: </a:t>
            </a:r>
            <a:r>
              <a:rPr lang="en-US" altLang="zh-CN" b="1" dirty="0">
                <a:solidFill>
                  <a:srgbClr val="0053F9"/>
                </a:solidFill>
              </a:rPr>
              <a:t>$3-5 trillion</a:t>
            </a:r>
          </a:p>
          <a:p>
            <a:pPr algn="ctr"/>
            <a:r>
              <a:rPr lang="en-US" altLang="zh-CN" dirty="0"/>
              <a:t>(AI</a:t>
            </a:r>
            <a:r>
              <a:rPr lang="zh-CN" altLang="en-US" dirty="0"/>
              <a:t> </a:t>
            </a:r>
            <a:r>
              <a:rPr lang="en-US" altLang="zh-CN" dirty="0"/>
              <a:t>Agent</a:t>
            </a:r>
            <a:r>
              <a:rPr lang="zh-CN" altLang="en-US" dirty="0"/>
              <a:t> </a:t>
            </a:r>
            <a:r>
              <a:rPr lang="en-US" altLang="zh-CN" dirty="0"/>
              <a:t>Commerce)</a:t>
            </a:r>
            <a:endParaRPr kumimoji="1"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0A1D739-A4FA-81E8-E187-80092991C35D}"/>
              </a:ext>
            </a:extLst>
          </p:cNvPr>
          <p:cNvSpPr txBox="1"/>
          <p:nvPr/>
        </p:nvSpPr>
        <p:spPr>
          <a:xfrm>
            <a:off x="6086928" y="6069977"/>
            <a:ext cx="54319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>
                <a:solidFill>
                  <a:schemeClr val="bg1">
                    <a:lumMod val="50000"/>
                  </a:schemeClr>
                </a:solidFill>
              </a:rPr>
              <a:t>Source</a:t>
            </a:r>
            <a:r>
              <a:rPr kumimoji="1" lang="zh-CN" altLang="en-US" sz="1100" dirty="0">
                <a:solidFill>
                  <a:schemeClr val="bg1">
                    <a:lumMod val="50000"/>
                  </a:schemeClr>
                </a:solidFill>
              </a:rPr>
              <a:t>：</a:t>
            </a:r>
            <a:endParaRPr kumimoji="1" lang="en-US" altLang="zh-CN" sz="11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100" dirty="0" err="1">
                <a:solidFill>
                  <a:schemeClr val="bg1">
                    <a:lumMod val="50000"/>
                  </a:schemeClr>
                </a:solidFill>
              </a:rPr>
              <a:t>QuantumBlack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 AI by McKinsey: The agentic commerce opportunity: How AI agents are ushering in a new era for consumers and merchants, October 17, 2025</a:t>
            </a:r>
          </a:p>
          <a:p>
            <a:endParaRPr kumimoji="1"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ïṩľîḑè">
            <a:extLst>
              <a:ext uri="{FF2B5EF4-FFF2-40B4-BE49-F238E27FC236}">
                <a16:creationId xmlns:a16="http://schemas.microsoft.com/office/drawing/2014/main" id="{69DD55A5-043B-554A-6796-75F0AD78D290}"/>
              </a:ext>
            </a:extLst>
          </p:cNvPr>
          <p:cNvSpPr txBox="1"/>
          <p:nvPr/>
        </p:nvSpPr>
        <p:spPr>
          <a:xfrm>
            <a:off x="822345" y="4577889"/>
            <a:ext cx="45320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Enterprise pilots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Developer growth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Ecosystem</a:t>
            </a:r>
          </a:p>
        </p:txBody>
      </p:sp>
      <p:sp>
        <p:nvSpPr>
          <p:cNvPr id="37" name="iS1iḓé">
            <a:extLst>
              <a:ext uri="{FF2B5EF4-FFF2-40B4-BE49-F238E27FC236}">
                <a16:creationId xmlns:a16="http://schemas.microsoft.com/office/drawing/2014/main" id="{294DFDC7-3AB1-E1E7-DDED-8E02B46C0B36}"/>
              </a:ext>
            </a:extLst>
          </p:cNvPr>
          <p:cNvSpPr txBox="1"/>
          <p:nvPr/>
        </p:nvSpPr>
        <p:spPr>
          <a:xfrm>
            <a:off x="822345" y="4177779"/>
            <a:ext cx="19437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defTabSz="91376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 kumimoji="0" sz="2000" b="1" i="0" u="none" strike="noStrike" cap="none" spc="0" normalizeH="0" baseline="0">
                <a:ln>
                  <a:noFill/>
                </a:ln>
                <a:effectLst/>
                <a:uLnTx/>
                <a:uFillTx/>
              </a:defRPr>
            </a:lvl1pPr>
          </a:lstStyle>
          <a:p>
            <a:r>
              <a:rPr lang="en-US" altLang="zh-CN" dirty="0"/>
              <a:t>Entry Points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9759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ïšḷiď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$ḻïḋè">
            <a:extLst>
              <a:ext uri="{FF2B5EF4-FFF2-40B4-BE49-F238E27FC236}">
                <a16:creationId xmlns:a16="http://schemas.microsoft.com/office/drawing/2014/main" id="{DFD52094-98C0-4141-A04B-98B9DF4DFA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458695"/>
            <a:ext cx="10858500" cy="1643062"/>
          </a:xfrm>
        </p:spPr>
        <p:txBody>
          <a:bodyPr>
            <a:normAutofit/>
          </a:bodyPr>
          <a:lstStyle/>
          <a:p>
            <a:pPr algn="ctr"/>
            <a:r>
              <a:rPr lang="en-GB" altLang="zh-CN" sz="4800" dirty="0">
                <a:solidFill>
                  <a:srgbClr val="080808"/>
                </a:solidFill>
              </a:rPr>
              <a:t>Thank you </a:t>
            </a:r>
            <a:r>
              <a:rPr lang="en-GB" altLang="zh-CN" sz="4800" dirty="0">
                <a:solidFill>
                  <a:schemeClr val="accent1"/>
                </a:solidFill>
              </a:rPr>
              <a:t>for </a:t>
            </a:r>
          </a:p>
          <a:p>
            <a:pPr algn="ctr"/>
            <a:r>
              <a:rPr lang="en-GB" altLang="zh-CN" sz="4800" dirty="0">
                <a:solidFill>
                  <a:srgbClr val="080808"/>
                </a:solidFill>
              </a:rPr>
              <a:t>watching.</a:t>
            </a:r>
          </a:p>
        </p:txBody>
      </p:sp>
      <p:grpSp>
        <p:nvGrpSpPr>
          <p:cNvPr id="10" name="íṩlîde">
            <a:extLst>
              <a:ext uri="{FF2B5EF4-FFF2-40B4-BE49-F238E27FC236}">
                <a16:creationId xmlns:a16="http://schemas.microsoft.com/office/drawing/2014/main" id="{BADD5DB1-47DB-6BF4-CF75-1CA5146D6F1D}"/>
              </a:ext>
            </a:extLst>
          </p:cNvPr>
          <p:cNvGrpSpPr/>
          <p:nvPr/>
        </p:nvGrpSpPr>
        <p:grpSpPr>
          <a:xfrm>
            <a:off x="6019800" y="4274113"/>
            <a:ext cx="76200" cy="901700"/>
            <a:chOff x="6019800" y="4250531"/>
            <a:chExt cx="76200" cy="901700"/>
          </a:xfrm>
        </p:grpSpPr>
        <p:sp>
          <p:nvSpPr>
            <p:cNvPr id="2" name="ïS1ïḑè">
              <a:extLst>
                <a:ext uri="{FF2B5EF4-FFF2-40B4-BE49-F238E27FC236}">
                  <a16:creationId xmlns:a16="http://schemas.microsoft.com/office/drawing/2014/main" id="{807A0556-10C7-F848-F04D-DF78800FEA8F}"/>
                </a:ext>
              </a:extLst>
            </p:cNvPr>
            <p:cNvSpPr/>
            <p:nvPr/>
          </p:nvSpPr>
          <p:spPr>
            <a:xfrm>
              <a:off x="6019800" y="4250531"/>
              <a:ext cx="76200" cy="76200"/>
            </a:xfrm>
            <a:prstGeom prst="ellipse">
              <a:avLst/>
            </a:prstGeom>
            <a:solidFill>
              <a:srgbClr val="79A7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íṡļïḑé">
              <a:extLst>
                <a:ext uri="{FF2B5EF4-FFF2-40B4-BE49-F238E27FC236}">
                  <a16:creationId xmlns:a16="http://schemas.microsoft.com/office/drawing/2014/main" id="{A42C081F-33BE-2AA9-60B1-B7657F9670AD}"/>
                </a:ext>
              </a:extLst>
            </p:cNvPr>
            <p:cNvSpPr/>
            <p:nvPr/>
          </p:nvSpPr>
          <p:spPr>
            <a:xfrm>
              <a:off x="6019800" y="4525698"/>
              <a:ext cx="76200" cy="76200"/>
            </a:xfrm>
            <a:prstGeom prst="ellipse">
              <a:avLst/>
            </a:prstGeom>
            <a:solidFill>
              <a:srgbClr val="79A7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îṣļïḋé">
              <a:extLst>
                <a:ext uri="{FF2B5EF4-FFF2-40B4-BE49-F238E27FC236}">
                  <a16:creationId xmlns:a16="http://schemas.microsoft.com/office/drawing/2014/main" id="{ED702498-7539-9865-0877-8F88492963ED}"/>
                </a:ext>
              </a:extLst>
            </p:cNvPr>
            <p:cNvSpPr/>
            <p:nvPr/>
          </p:nvSpPr>
          <p:spPr>
            <a:xfrm>
              <a:off x="6019800" y="4800865"/>
              <a:ext cx="76200" cy="76200"/>
            </a:xfrm>
            <a:prstGeom prst="ellipse">
              <a:avLst/>
            </a:prstGeom>
            <a:solidFill>
              <a:srgbClr val="79A7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î$ľíḍè">
              <a:extLst>
                <a:ext uri="{FF2B5EF4-FFF2-40B4-BE49-F238E27FC236}">
                  <a16:creationId xmlns:a16="http://schemas.microsoft.com/office/drawing/2014/main" id="{E64352DE-C8FA-2E9A-8825-FBD25F640236}"/>
                </a:ext>
              </a:extLst>
            </p:cNvPr>
            <p:cNvSpPr/>
            <p:nvPr/>
          </p:nvSpPr>
          <p:spPr>
            <a:xfrm>
              <a:off x="6019800" y="5076031"/>
              <a:ext cx="76200" cy="76200"/>
            </a:xfrm>
            <a:prstGeom prst="ellipse">
              <a:avLst/>
            </a:prstGeom>
            <a:solidFill>
              <a:srgbClr val="79A7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24465438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#86134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  <p:tag name="ISLIDE.TEMPLATE" val="https://www.islide.cc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550164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550142;"/>
  <p:tag name="ISLIDE.TEMPLATE" val="https://www.islide.cc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SMARTDIAGRAM" val="#789244;"/>
  <p:tag name="ISLIDE.TEMPLATE" val="https://www.islide.cc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550147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621819;"/>
  <p:tag name="ISLIDE.TEMPLATE" val="https://www.islide.cc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  <p:tag name="ISLIDE.TEMPLATE" val="https://www.islide.cc;"/>
</p:tagLst>
</file>

<file path=ppt/theme/theme1.xml><?xml version="1.0" encoding="utf-8"?>
<a:theme xmlns:a="http://schemas.openxmlformats.org/drawingml/2006/main" name="Designed by iSlide">
  <a:themeElements>
    <a:clrScheme name="iSlide VI标准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53F9"/>
      </a:accent1>
      <a:accent2>
        <a:srgbClr val="7DADFF"/>
      </a:accent2>
      <a:accent3>
        <a:srgbClr val="646464"/>
      </a:accent3>
      <a:accent4>
        <a:srgbClr val="828282"/>
      </a:accent4>
      <a:accent5>
        <a:srgbClr val="A5A5A5"/>
      </a:accent5>
      <a:accent6>
        <a:srgbClr val="C9C9C9"/>
      </a:accent6>
      <a:hlink>
        <a:srgbClr val="4472C4"/>
      </a:hlink>
      <a:folHlink>
        <a:srgbClr val="BFBFBF"/>
      </a:folHlink>
    </a:clrScheme>
    <a:fontScheme name="标准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iSlide VI标准">
    <a:dk1>
      <a:srgbClr val="000000"/>
    </a:dk1>
    <a:lt1>
      <a:srgbClr val="FFFFFF"/>
    </a:lt1>
    <a:dk2>
      <a:srgbClr val="778495"/>
    </a:dk2>
    <a:lt2>
      <a:srgbClr val="F0F0F0"/>
    </a:lt2>
    <a:accent1>
      <a:srgbClr val="0053F9"/>
    </a:accent1>
    <a:accent2>
      <a:srgbClr val="7DADFF"/>
    </a:accent2>
    <a:accent3>
      <a:srgbClr val="646464"/>
    </a:accent3>
    <a:accent4>
      <a:srgbClr val="828282"/>
    </a:accent4>
    <a:accent5>
      <a:srgbClr val="A5A5A5"/>
    </a:accent5>
    <a:accent6>
      <a:srgbClr val="C9C9C9"/>
    </a:accent6>
    <a:hlink>
      <a:srgbClr val="4472C4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iSlide VI标准">
    <a:dk1>
      <a:srgbClr val="000000"/>
    </a:dk1>
    <a:lt1>
      <a:srgbClr val="FFFFFF"/>
    </a:lt1>
    <a:dk2>
      <a:srgbClr val="778495"/>
    </a:dk2>
    <a:lt2>
      <a:srgbClr val="F0F0F0"/>
    </a:lt2>
    <a:accent1>
      <a:srgbClr val="0053F9"/>
    </a:accent1>
    <a:accent2>
      <a:srgbClr val="7DADFF"/>
    </a:accent2>
    <a:accent3>
      <a:srgbClr val="646464"/>
    </a:accent3>
    <a:accent4>
      <a:srgbClr val="828282"/>
    </a:accent4>
    <a:accent5>
      <a:srgbClr val="A5A5A5"/>
    </a:accent5>
    <a:accent6>
      <a:srgbClr val="C9C9C9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Nicky</Template>
  <TotalTime>509</TotalTime>
  <Words>905</Words>
  <Application>Microsoft Macintosh PowerPoint</Application>
  <PresentationFormat>宽屏</PresentationFormat>
  <Paragraphs>201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Arial</vt:lpstr>
      <vt:lpstr>Bebas</vt:lpstr>
      <vt:lpstr>Menlo</vt:lpstr>
      <vt:lpstr>Designed by iSlide</vt:lpstr>
      <vt:lpstr>Agentic Pay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Nicky</dc:creator>
  <cp:lastModifiedBy>官中 王</cp:lastModifiedBy>
  <cp:revision>14</cp:revision>
  <cp:lastPrinted>2022-05-15T16:00:00Z</cp:lastPrinted>
  <dcterms:created xsi:type="dcterms:W3CDTF">2022-05-15T16:00:00Z</dcterms:created>
  <dcterms:modified xsi:type="dcterms:W3CDTF">2026-01-20T02:37:26Z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3601fe5d-2513-4ed9-a804-83d9565ca9cc</vt:lpwstr>
  </property>
</Properties>
</file>